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is LogiSync — a logistics decision-support system built for a retail supply network. We connect factories, warehouses, trucks, and stores into one unified, live management interface. Let me walk you through what we've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Modern retail supply chains suffer from three core problems: no real-time visibility into truck positions or inventory, purely reactive re-planning when things go wrong, and no fast way to handle urgent store demand. These inefficiencies translate directly into wasted fuel, late deliveries, and empty shelves.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LogiSync is a decision-support system that gives dispatchers a live, interactive view of their entire supply network. The key value propositions are: a unified connected graph of all nodes, automated route planning with live warehouse execution tracking, urgent demand response, and real-time truck movement simulation on the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has three layers: a single-page frontend that renders the live network and drives user actions; a FastAPI backend that handles all business logic — route solving, state transitions, demand processing; and a SQLite database storing the full network, stock levels, routes, and execution state. Stores and factories interact via the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FastAPI backend is the core of the system. It handles 10+ endpoint groups: network graph management, route generation with a dedicated solver, warehouse execution coordination, truck state tracking, urgent demand handling, inventory and demand views, syncing, file upload, and settings. Each endpoint maps directly to a real operational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database stores five main entity groups. The most important for the demo is the execution state — every truck goes through a four-step warehouse flow: start loading, complete loading, departure, stop completion. Each truck also stores its live state: status, active route, current node, optional GPS coordinates, and remaining capacity. This makes real-time visualization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is a single-page app. The centerpiece is the network graph where you can see every node and every truck. Routes appear as highlighted paths. Trucks animate along their routes as execution progresses. The warehouse panel lets operators trigger execution steps directly. Stock and demand views update automatically every few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Truck tracking is one of the most technically interesting parts. Each truck moves through five states: idle, loading, in transit, optionally rerouting, and done. As the warehouse operator steps through execution, the backend updates the truck's state and current node in the database. The frontend reads these updates every few seconds and smoothly animates the truck moving between nodes on the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full inventory of completed work. On the backend: full API coverage, SQLite persistence, route solver, execution state machine, truck tracking, and urgent request handling. On the frontend: network graph, animated trucks, warehouse panel, stock/demand views, auto-refresh. The system is demo-ready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roadmap has three phases. Phase 1 is GPS integration — replacing our simulated truck positions with real device coordinates and adding geofencing for automatic stop completion. Phase 2 is a dynamic rerouting engine that automatically responds to delays, urgent demand, and real-time traffic. Phase 3 is analytics: historical efficiency reports, demand forecasting, and stock optimization suggestions.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real-world impact is significant. Optimized routing cuts fuel costs by roughly 25%. Having a live system respond to urgent demand is 3x faster than manual radio-based dispatch. Real-time inventory visibility can cut stockout incidents by 40%. And having one unified dashboard replaces spreadsheets, phone calls, and disconnected systems. Target markets include retail chains, last-mile delivery, FMCG, and cold chain logistics.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LogiSync is a complete, working logistics decision-support system. It's not a wireframe or a demo-only app — it has a real backend, real database, real execution logic, and a live frontend. We've tackled the hardest parts: state management, truck tracking, and real-time visualization. With GPS integration and a smarter solver, this becomes a genuinely deployable logistics platform. Thank you — happy to demo live and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image" Target="../media/image-9-15.png"/><Relationship Id="rId16" Type="http://schemas.openxmlformats.org/officeDocument/2006/relationships/image" Target="../media/image-9-16.png"/><Relationship Id="rId17" Type="http://schemas.openxmlformats.org/officeDocument/2006/relationships/slideLayout" Target="../slideLayouts/slideLayout1.xml"/><Relationship Id="rId1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FA5"/>
          </a:solidFill>
          <a:ln w="12700">
            <a:solidFill>
              <a:srgbClr val="00BFA5"/>
            </a:solidFill>
            <a:prstDash val="solid"/>
          </a:ln>
        </p:spPr>
      </p:sp>
      <p:sp>
        <p:nvSpPr>
          <p:cNvPr id="3" name="Shape 1"/>
          <p:cNvSpPr/>
          <p:nvPr/>
        </p:nvSpPr>
        <p:spPr>
          <a:xfrm>
            <a:off x="6217920" y="73152"/>
            <a:ext cx="2926080" cy="5070348"/>
          </a:xfrm>
          <a:prstGeom prst="rect">
            <a:avLst/>
          </a:prstGeom>
          <a:solidFill>
            <a:srgbClr val="132233"/>
          </a:solidFill>
          <a:ln w="12700">
            <a:solidFill>
              <a:srgbClr val="132233"/>
            </a:solidFill>
            <a:prstDash val="solid"/>
          </a:ln>
        </p:spPr>
      </p:sp>
      <p:pic>
        <p:nvPicPr>
          <p:cNvPr id="4" name="Image 0" descr="preencoded.png">    </p:cNvPr>
          <p:cNvPicPr>
            <a:picLocks noChangeAspect="1"/>
          </p:cNvPicPr>
          <p:nvPr/>
        </p:nvPicPr>
        <p:blipFill>
          <a:blip r:embed="rId1">
            <a:alphaModFix amt="80000"/>
          </a:blip>
          <a:stretch>
            <a:fillRect/>
          </a:stretch>
        </p:blipFill>
        <p:spPr>
          <a:xfrm>
            <a:off x="6583680" y="1097280"/>
            <a:ext cx="2011680" cy="2011680"/>
          </a:xfrm>
          <a:prstGeom prst="rect">
            <a:avLst/>
          </a:prstGeom>
        </p:spPr>
      </p:pic>
      <p:sp>
        <p:nvSpPr>
          <p:cNvPr id="5" name="Text 2"/>
          <p:cNvSpPr/>
          <p:nvPr/>
        </p:nvSpPr>
        <p:spPr>
          <a:xfrm>
            <a:off x="457200" y="1005840"/>
            <a:ext cx="5486400" cy="1005840"/>
          </a:xfrm>
          <a:prstGeom prst="rect">
            <a:avLst/>
          </a:prstGeom>
          <a:noFill/>
          <a:ln/>
        </p:spPr>
        <p:txBody>
          <a:bodyPr wrap="square" lIns="0" tIns="0" rIns="0" bIns="0" rtlCol="0" anchor="ctr"/>
          <a:lstStyle/>
          <a:p>
            <a:pPr indent="0" marL="0">
              <a:buNone/>
            </a:pPr>
            <a:r>
              <a:rPr lang="en-US" sz="5200" b="1" dirty="0">
                <a:solidFill>
                  <a:srgbClr val="00BFA5"/>
                </a:solidFill>
                <a:latin typeface="Calibri" pitchFamily="34" charset="0"/>
                <a:ea typeface="Calibri" pitchFamily="34" charset="-122"/>
                <a:cs typeface="Calibri" pitchFamily="34" charset="-120"/>
              </a:rPr>
              <a:t>LogiSync</a:t>
            </a:r>
            <a:endParaRPr lang="en-US" sz="5200" dirty="0"/>
          </a:p>
        </p:txBody>
      </p:sp>
      <p:sp>
        <p:nvSpPr>
          <p:cNvPr id="6" name="Text 3"/>
          <p:cNvSpPr/>
          <p:nvPr/>
        </p:nvSpPr>
        <p:spPr>
          <a:xfrm>
            <a:off x="457200" y="2011680"/>
            <a:ext cx="5486400" cy="914400"/>
          </a:xfrm>
          <a:prstGeom prst="rect">
            <a:avLst/>
          </a:prstGeom>
          <a:noFill/>
          <a:ln/>
        </p:spPr>
        <p:txBody>
          <a:bodyPr wrap="square" lIns="0" tIns="0" rIns="0" bIns="0" rtlCol="0" anchor="ctr"/>
          <a:lstStyle/>
          <a:p>
            <a:pPr indent="0" marL="0">
              <a:buNone/>
            </a:pPr>
            <a:r>
              <a:rPr lang="en-US" sz="1800" dirty="0">
                <a:solidFill>
                  <a:srgbClr val="F0F4F8"/>
                </a:solidFill>
                <a:latin typeface="Calibri" pitchFamily="34" charset="0"/>
                <a:ea typeface="Calibri" pitchFamily="34" charset="-122"/>
                <a:cs typeface="Calibri" pitchFamily="34" charset="-120"/>
              </a:rPr>
              <a:t>Logistics Optimization &amp;</a:t>
            </a:r>
            <a:endParaRPr lang="en-US" sz="1800" dirty="0"/>
          </a:p>
          <a:p>
            <a:pPr indent="0" marL="0">
              <a:buNone/>
            </a:pPr>
            <a:r>
              <a:rPr lang="en-US" sz="1800" dirty="0">
                <a:solidFill>
                  <a:srgbClr val="F0F4F8"/>
                </a:solidFill>
                <a:latin typeface="Calibri" pitchFamily="34" charset="0"/>
                <a:ea typeface="Calibri" pitchFamily="34" charset="-122"/>
                <a:cs typeface="Calibri" pitchFamily="34" charset="-120"/>
              </a:rPr>
              <a:t>Decision-Support System</a:t>
            </a:r>
            <a:endParaRPr lang="en-US" sz="1800" dirty="0"/>
          </a:p>
        </p:txBody>
      </p:sp>
      <p:sp>
        <p:nvSpPr>
          <p:cNvPr id="7" name="Shape 4"/>
          <p:cNvSpPr/>
          <p:nvPr/>
        </p:nvSpPr>
        <p:spPr>
          <a:xfrm>
            <a:off x="457200" y="3108960"/>
            <a:ext cx="3657600" cy="347472"/>
          </a:xfrm>
          <a:prstGeom prst="rect">
            <a:avLst/>
          </a:prstGeom>
          <a:solidFill>
            <a:srgbClr val="00BFA5"/>
          </a:solidFill>
          <a:ln w="12700">
            <a:solidFill>
              <a:srgbClr val="00BFA5"/>
            </a:solidFill>
            <a:prstDash val="solid"/>
          </a:ln>
        </p:spPr>
      </p:sp>
      <p:sp>
        <p:nvSpPr>
          <p:cNvPr id="8" name="Text 5"/>
          <p:cNvSpPr/>
          <p:nvPr/>
        </p:nvSpPr>
        <p:spPr>
          <a:xfrm>
            <a:off x="457200" y="3099816"/>
            <a:ext cx="3657600" cy="347472"/>
          </a:xfrm>
          <a:prstGeom prst="rect">
            <a:avLst/>
          </a:prstGeom>
          <a:noFill/>
          <a:ln/>
        </p:spPr>
        <p:txBody>
          <a:bodyPr wrap="square" lIns="0" tIns="0" rIns="0" bIns="0" rtlCol="0" anchor="ctr"/>
          <a:lstStyle/>
          <a:p>
            <a:pPr algn="ctr" indent="0" marL="0">
              <a:buNone/>
            </a:pPr>
            <a:r>
              <a:rPr lang="en-US" sz="1100" b="1" dirty="0">
                <a:solidFill>
                  <a:srgbClr val="0D1B2A"/>
                </a:solidFill>
              </a:rPr>
              <a:t>Hackathon Demo  •  2025</a:t>
            </a:r>
            <a:endParaRPr lang="en-US" sz="1100" dirty="0"/>
          </a:p>
        </p:txBody>
      </p:sp>
      <p:sp>
        <p:nvSpPr>
          <p:cNvPr id="9" name="Shape 6"/>
          <p:cNvSpPr/>
          <p:nvPr/>
        </p:nvSpPr>
        <p:spPr>
          <a:xfrm>
            <a:off x="457200" y="3749040"/>
            <a:ext cx="1554480" cy="731520"/>
          </a:xfrm>
          <a:prstGeom prst="rect">
            <a:avLst/>
          </a:prstGeom>
          <a:solidFill>
            <a:srgbClr val="132233"/>
          </a:solidFill>
          <a:ln w="12700">
            <a:solidFill>
              <a:srgbClr val="132233"/>
            </a:solidFill>
            <a:prstDash val="solid"/>
          </a:ln>
        </p:spPr>
      </p:sp>
      <p:sp>
        <p:nvSpPr>
          <p:cNvPr id="10" name="Shape 7"/>
          <p:cNvSpPr/>
          <p:nvPr/>
        </p:nvSpPr>
        <p:spPr>
          <a:xfrm>
            <a:off x="457200" y="3749040"/>
            <a:ext cx="36576" cy="731520"/>
          </a:xfrm>
          <a:prstGeom prst="rect">
            <a:avLst/>
          </a:prstGeom>
          <a:solidFill>
            <a:srgbClr val="F9A826"/>
          </a:solidFill>
          <a:ln w="12700">
            <a:solidFill>
              <a:srgbClr val="F9A826"/>
            </a:solidFill>
            <a:prstDash val="solid"/>
          </a:ln>
        </p:spPr>
      </p:sp>
      <p:sp>
        <p:nvSpPr>
          <p:cNvPr id="11" name="Text 8"/>
          <p:cNvSpPr/>
          <p:nvPr/>
        </p:nvSpPr>
        <p:spPr>
          <a:xfrm>
            <a:off x="566928" y="3749040"/>
            <a:ext cx="1371600" cy="365760"/>
          </a:xfrm>
          <a:prstGeom prst="rect">
            <a:avLst/>
          </a:prstGeom>
          <a:noFill/>
          <a:ln/>
        </p:spPr>
        <p:txBody>
          <a:bodyPr wrap="square" lIns="0" tIns="0" rIns="0" bIns="0" rtlCol="0" anchor="ctr"/>
          <a:lstStyle/>
          <a:p>
            <a:pPr indent="0" marL="0">
              <a:buNone/>
            </a:pPr>
            <a:r>
              <a:rPr lang="en-US" sz="1800" b="1" dirty="0">
                <a:solidFill>
                  <a:srgbClr val="F9A826"/>
                </a:solidFill>
              </a:rPr>
              <a:t>4</a:t>
            </a:r>
            <a:endParaRPr lang="en-US" sz="1800" dirty="0"/>
          </a:p>
        </p:txBody>
      </p:sp>
      <p:sp>
        <p:nvSpPr>
          <p:cNvPr id="12" name="Text 9"/>
          <p:cNvSpPr/>
          <p:nvPr/>
        </p:nvSpPr>
        <p:spPr>
          <a:xfrm>
            <a:off x="566928" y="4069080"/>
            <a:ext cx="1371600" cy="320040"/>
          </a:xfrm>
          <a:prstGeom prst="rect">
            <a:avLst/>
          </a:prstGeom>
          <a:noFill/>
          <a:ln/>
        </p:spPr>
        <p:txBody>
          <a:bodyPr wrap="square" lIns="0" tIns="0" rIns="0" bIns="0" rtlCol="0" anchor="ctr"/>
          <a:lstStyle/>
          <a:p>
            <a:pPr indent="0" marL="0">
              <a:buNone/>
            </a:pPr>
            <a:r>
              <a:rPr lang="en-US" sz="850" dirty="0">
                <a:solidFill>
                  <a:srgbClr val="8A9BAB"/>
                </a:solidFill>
              </a:rPr>
              <a:t>Node Types</a:t>
            </a:r>
            <a:endParaRPr lang="en-US" sz="850" dirty="0"/>
          </a:p>
        </p:txBody>
      </p:sp>
      <p:sp>
        <p:nvSpPr>
          <p:cNvPr id="13" name="Shape 10"/>
          <p:cNvSpPr/>
          <p:nvPr/>
        </p:nvSpPr>
        <p:spPr>
          <a:xfrm>
            <a:off x="2194560" y="3749040"/>
            <a:ext cx="1554480" cy="731520"/>
          </a:xfrm>
          <a:prstGeom prst="rect">
            <a:avLst/>
          </a:prstGeom>
          <a:solidFill>
            <a:srgbClr val="132233"/>
          </a:solidFill>
          <a:ln w="12700">
            <a:solidFill>
              <a:srgbClr val="132233"/>
            </a:solidFill>
            <a:prstDash val="solid"/>
          </a:ln>
        </p:spPr>
      </p:sp>
      <p:sp>
        <p:nvSpPr>
          <p:cNvPr id="14" name="Shape 11"/>
          <p:cNvSpPr/>
          <p:nvPr/>
        </p:nvSpPr>
        <p:spPr>
          <a:xfrm>
            <a:off x="2194560" y="3749040"/>
            <a:ext cx="36576" cy="731520"/>
          </a:xfrm>
          <a:prstGeom prst="rect">
            <a:avLst/>
          </a:prstGeom>
          <a:solidFill>
            <a:srgbClr val="F9A826"/>
          </a:solidFill>
          <a:ln w="12700">
            <a:solidFill>
              <a:srgbClr val="F9A826"/>
            </a:solidFill>
            <a:prstDash val="solid"/>
          </a:ln>
        </p:spPr>
      </p:sp>
      <p:sp>
        <p:nvSpPr>
          <p:cNvPr id="15" name="Text 12"/>
          <p:cNvSpPr/>
          <p:nvPr/>
        </p:nvSpPr>
        <p:spPr>
          <a:xfrm>
            <a:off x="2304288" y="3749040"/>
            <a:ext cx="1371600" cy="365760"/>
          </a:xfrm>
          <a:prstGeom prst="rect">
            <a:avLst/>
          </a:prstGeom>
          <a:noFill/>
          <a:ln/>
        </p:spPr>
        <p:txBody>
          <a:bodyPr wrap="square" lIns="0" tIns="0" rIns="0" bIns="0" rtlCol="0" anchor="ctr"/>
          <a:lstStyle/>
          <a:p>
            <a:pPr indent="0" marL="0">
              <a:buNone/>
            </a:pPr>
            <a:r>
              <a:rPr lang="en-US" sz="1800" b="1" dirty="0">
                <a:solidFill>
                  <a:srgbClr val="F9A826"/>
                </a:solidFill>
              </a:rPr>
              <a:t>10+</a:t>
            </a:r>
            <a:endParaRPr lang="en-US" sz="1800" dirty="0"/>
          </a:p>
        </p:txBody>
      </p:sp>
      <p:sp>
        <p:nvSpPr>
          <p:cNvPr id="16" name="Text 13"/>
          <p:cNvSpPr/>
          <p:nvPr/>
        </p:nvSpPr>
        <p:spPr>
          <a:xfrm>
            <a:off x="2304288" y="4069080"/>
            <a:ext cx="1371600" cy="320040"/>
          </a:xfrm>
          <a:prstGeom prst="rect">
            <a:avLst/>
          </a:prstGeom>
          <a:noFill/>
          <a:ln/>
        </p:spPr>
        <p:txBody>
          <a:bodyPr wrap="square" lIns="0" tIns="0" rIns="0" bIns="0" rtlCol="0" anchor="ctr"/>
          <a:lstStyle/>
          <a:p>
            <a:pPr indent="0" marL="0">
              <a:buNone/>
            </a:pPr>
            <a:r>
              <a:rPr lang="en-US" sz="850" dirty="0">
                <a:solidFill>
                  <a:srgbClr val="8A9BAB"/>
                </a:solidFill>
              </a:rPr>
              <a:t>API Endpoints</a:t>
            </a:r>
            <a:endParaRPr lang="en-US" sz="850" dirty="0"/>
          </a:p>
        </p:txBody>
      </p:sp>
      <p:sp>
        <p:nvSpPr>
          <p:cNvPr id="17" name="Shape 14"/>
          <p:cNvSpPr/>
          <p:nvPr/>
        </p:nvSpPr>
        <p:spPr>
          <a:xfrm>
            <a:off x="3931920" y="3749040"/>
            <a:ext cx="1554480" cy="731520"/>
          </a:xfrm>
          <a:prstGeom prst="rect">
            <a:avLst/>
          </a:prstGeom>
          <a:solidFill>
            <a:srgbClr val="132233"/>
          </a:solidFill>
          <a:ln w="12700">
            <a:solidFill>
              <a:srgbClr val="132233"/>
            </a:solidFill>
            <a:prstDash val="solid"/>
          </a:ln>
        </p:spPr>
      </p:sp>
      <p:sp>
        <p:nvSpPr>
          <p:cNvPr id="18" name="Shape 15"/>
          <p:cNvSpPr/>
          <p:nvPr/>
        </p:nvSpPr>
        <p:spPr>
          <a:xfrm>
            <a:off x="3931920" y="3749040"/>
            <a:ext cx="36576" cy="731520"/>
          </a:xfrm>
          <a:prstGeom prst="rect">
            <a:avLst/>
          </a:prstGeom>
          <a:solidFill>
            <a:srgbClr val="F9A826"/>
          </a:solidFill>
          <a:ln w="12700">
            <a:solidFill>
              <a:srgbClr val="F9A826"/>
            </a:solidFill>
            <a:prstDash val="solid"/>
          </a:ln>
        </p:spPr>
      </p:sp>
      <p:sp>
        <p:nvSpPr>
          <p:cNvPr id="19" name="Text 16"/>
          <p:cNvSpPr/>
          <p:nvPr/>
        </p:nvSpPr>
        <p:spPr>
          <a:xfrm>
            <a:off x="4041648" y="3749040"/>
            <a:ext cx="1371600" cy="365760"/>
          </a:xfrm>
          <a:prstGeom prst="rect">
            <a:avLst/>
          </a:prstGeom>
          <a:noFill/>
          <a:ln/>
        </p:spPr>
        <p:txBody>
          <a:bodyPr wrap="square" lIns="0" tIns="0" rIns="0" bIns="0" rtlCol="0" anchor="ctr"/>
          <a:lstStyle/>
          <a:p>
            <a:pPr indent="0" marL="0">
              <a:buNone/>
            </a:pPr>
            <a:r>
              <a:rPr lang="en-US" sz="1800" b="1" dirty="0">
                <a:solidFill>
                  <a:srgbClr val="F9A826"/>
                </a:solidFill>
              </a:rPr>
              <a:t>Live</a:t>
            </a:r>
            <a:endParaRPr lang="en-US" sz="1800" dirty="0"/>
          </a:p>
        </p:txBody>
      </p:sp>
      <p:sp>
        <p:nvSpPr>
          <p:cNvPr id="20" name="Text 17"/>
          <p:cNvSpPr/>
          <p:nvPr/>
        </p:nvSpPr>
        <p:spPr>
          <a:xfrm>
            <a:off x="4041648" y="4069080"/>
            <a:ext cx="1371600" cy="320040"/>
          </a:xfrm>
          <a:prstGeom prst="rect">
            <a:avLst/>
          </a:prstGeom>
          <a:noFill/>
          <a:ln/>
        </p:spPr>
        <p:txBody>
          <a:bodyPr wrap="square" lIns="0" tIns="0" rIns="0" bIns="0" rtlCol="0" anchor="ctr"/>
          <a:lstStyle/>
          <a:p>
            <a:pPr indent="0" marL="0">
              <a:buNone/>
            </a:pPr>
            <a:r>
              <a:rPr lang="en-US" sz="850" dirty="0">
                <a:solidFill>
                  <a:srgbClr val="8A9BAB"/>
                </a:solidFill>
              </a:rPr>
              <a:t>Map Simulation</a:t>
            </a:r>
            <a:endParaRPr lang="en-US" sz="850" dirty="0"/>
          </a:p>
        </p:txBody>
      </p:sp>
      <p:sp>
        <p:nvSpPr>
          <p:cNvPr id="21" name="Shape 18"/>
          <p:cNvSpPr/>
          <p:nvPr/>
        </p:nvSpPr>
        <p:spPr>
          <a:xfrm>
            <a:off x="0" y="5070348"/>
            <a:ext cx="9144000" cy="73152"/>
          </a:xfrm>
          <a:prstGeom prst="rect">
            <a:avLst/>
          </a:prstGeom>
          <a:solidFill>
            <a:srgbClr val="00897B"/>
          </a:solidFill>
          <a:ln w="12700">
            <a:solidFill>
              <a:srgbClr val="00897B"/>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365760" y="201168"/>
            <a:ext cx="1554480" cy="256032"/>
          </a:xfrm>
          <a:prstGeom prst="rect">
            <a:avLst/>
          </a:prstGeom>
          <a:solidFill>
            <a:srgbClr val="00BFA5"/>
          </a:solidFill>
          <a:ln w="12700">
            <a:solidFill>
              <a:srgbClr val="00BFA5"/>
            </a:solidFill>
            <a:prstDash val="solid"/>
          </a:ln>
        </p:spPr>
      </p:sp>
      <p:sp>
        <p:nvSpPr>
          <p:cNvPr id="3" name="Text 1"/>
          <p:cNvSpPr/>
          <p:nvPr/>
        </p:nvSpPr>
        <p:spPr>
          <a:xfrm>
            <a:off x="365760" y="192024"/>
            <a:ext cx="1554480" cy="256032"/>
          </a:xfrm>
          <a:prstGeom prst="rect">
            <a:avLst/>
          </a:prstGeom>
          <a:noFill/>
          <a:ln/>
        </p:spPr>
        <p:txBody>
          <a:bodyPr wrap="square" lIns="0" tIns="0" rIns="0" bIns="0" rtlCol="0" anchor="ctr"/>
          <a:lstStyle/>
          <a:p>
            <a:pPr algn="ctr" indent="0" marL="0">
              <a:buNone/>
            </a:pPr>
            <a:r>
              <a:rPr lang="en-US" sz="700" b="1" spc="200" kern="0" dirty="0">
                <a:solidFill>
                  <a:srgbClr val="0D1B2A"/>
                </a:solidFill>
              </a:rPr>
              <a:t>THE PROBLEM</a:t>
            </a:r>
            <a:endParaRPr lang="en-US" sz="700" dirty="0"/>
          </a:p>
        </p:txBody>
      </p:sp>
      <p:sp>
        <p:nvSpPr>
          <p:cNvPr id="4" name="Text 2"/>
          <p:cNvSpPr/>
          <p:nvPr/>
        </p:nvSpPr>
        <p:spPr>
          <a:xfrm>
            <a:off x="365760" y="548640"/>
            <a:ext cx="8412480" cy="640080"/>
          </a:xfrm>
          <a:prstGeom prst="rect">
            <a:avLst/>
          </a:prstGeom>
          <a:noFill/>
          <a:ln/>
        </p:spPr>
        <p:txBody>
          <a:bodyPr wrap="square" lIns="0" tIns="0" rIns="0" bIns="0" rtlCol="0" anchor="ctr"/>
          <a:lstStyle/>
          <a:p>
            <a:pPr indent="0" marL="0">
              <a:buNone/>
            </a:pPr>
            <a:r>
              <a:rPr lang="en-US" sz="2600" b="1" dirty="0">
                <a:solidFill>
                  <a:srgbClr val="0D1B2A"/>
                </a:solidFill>
                <a:latin typeface="Calibri" pitchFamily="34" charset="0"/>
                <a:ea typeface="Calibri" pitchFamily="34" charset="-122"/>
                <a:cs typeface="Calibri" pitchFamily="34" charset="-120"/>
              </a:rPr>
              <a:t>Logistics Is Still Managed Manually</a:t>
            </a:r>
            <a:endParaRPr lang="en-US" sz="2600" dirty="0"/>
          </a:p>
        </p:txBody>
      </p:sp>
      <p:sp>
        <p:nvSpPr>
          <p:cNvPr id="5" name="Shape 3"/>
          <p:cNvSpPr/>
          <p:nvPr/>
        </p:nvSpPr>
        <p:spPr>
          <a:xfrm>
            <a:off x="365760" y="1417320"/>
            <a:ext cx="5029200" cy="969264"/>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6" name="Shape 4"/>
          <p:cNvSpPr/>
          <p:nvPr/>
        </p:nvSpPr>
        <p:spPr>
          <a:xfrm>
            <a:off x="365760" y="1417320"/>
            <a:ext cx="45720" cy="969264"/>
          </a:xfrm>
          <a:prstGeom prst="rect">
            <a:avLst/>
          </a:prstGeom>
          <a:solidFill>
            <a:srgbClr val="00BFA5"/>
          </a:solidFill>
          <a:ln w="12700">
            <a:solidFill>
              <a:srgbClr val="00BFA5"/>
            </a:solidFill>
            <a:prstDash val="solid"/>
          </a:ln>
        </p:spPr>
      </p:sp>
      <p:pic>
        <p:nvPicPr>
          <p:cNvPr id="7" name="Image 0" descr="preencoded.png">    </p:cNvPr>
          <p:cNvPicPr>
            <a:picLocks noChangeAspect="1"/>
          </p:cNvPicPr>
          <p:nvPr/>
        </p:nvPicPr>
        <p:blipFill>
          <a:blip r:embed="rId1"/>
          <a:stretch>
            <a:fillRect/>
          </a:stretch>
        </p:blipFill>
        <p:spPr>
          <a:xfrm>
            <a:off x="548640" y="1673352"/>
            <a:ext cx="347472" cy="347472"/>
          </a:xfrm>
          <a:prstGeom prst="rect">
            <a:avLst/>
          </a:prstGeom>
        </p:spPr>
      </p:pic>
      <p:sp>
        <p:nvSpPr>
          <p:cNvPr id="8" name="Text 5"/>
          <p:cNvSpPr/>
          <p:nvPr/>
        </p:nvSpPr>
        <p:spPr>
          <a:xfrm>
            <a:off x="1051560" y="1508760"/>
            <a:ext cx="4206240" cy="347472"/>
          </a:xfrm>
          <a:prstGeom prst="rect">
            <a:avLst/>
          </a:prstGeom>
          <a:noFill/>
          <a:ln/>
        </p:spPr>
        <p:txBody>
          <a:bodyPr wrap="square" lIns="0" tIns="0" rIns="0" bIns="0" rtlCol="0" anchor="ctr"/>
          <a:lstStyle/>
          <a:p>
            <a:pPr indent="0" marL="0">
              <a:buNone/>
            </a:pPr>
            <a:r>
              <a:rPr lang="en-US" sz="1300" b="1" dirty="0">
                <a:solidFill>
                  <a:srgbClr val="0D1B2A"/>
                </a:solidFill>
              </a:rPr>
              <a:t>No Real-Time Visibility</a:t>
            </a:r>
            <a:endParaRPr lang="en-US" sz="1300" dirty="0"/>
          </a:p>
        </p:txBody>
      </p:sp>
      <p:sp>
        <p:nvSpPr>
          <p:cNvPr id="9" name="Text 6"/>
          <p:cNvSpPr/>
          <p:nvPr/>
        </p:nvSpPr>
        <p:spPr>
          <a:xfrm>
            <a:off x="1051560" y="1837944"/>
            <a:ext cx="4206240" cy="475488"/>
          </a:xfrm>
          <a:prstGeom prst="rect">
            <a:avLst/>
          </a:prstGeom>
          <a:noFill/>
          <a:ln/>
        </p:spPr>
        <p:txBody>
          <a:bodyPr wrap="square" lIns="0" tIns="0" rIns="0" bIns="0" rtlCol="0" anchor="ctr"/>
          <a:lstStyle/>
          <a:p>
            <a:pPr indent="0" marL="0">
              <a:buNone/>
            </a:pPr>
            <a:r>
              <a:rPr lang="en-US" sz="1050" dirty="0">
                <a:solidFill>
                  <a:srgbClr val="445566"/>
                </a:solidFill>
              </a:rPr>
              <a:t>Dispatchers can't see where trucks are, what stock exists, or what stores need — in real time.</a:t>
            </a:r>
            <a:endParaRPr lang="en-US" sz="1050" dirty="0"/>
          </a:p>
        </p:txBody>
      </p:sp>
      <p:sp>
        <p:nvSpPr>
          <p:cNvPr id="10" name="Shape 7"/>
          <p:cNvSpPr/>
          <p:nvPr/>
        </p:nvSpPr>
        <p:spPr>
          <a:xfrm>
            <a:off x="365760" y="2532888"/>
            <a:ext cx="5029200" cy="969264"/>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1" name="Shape 8"/>
          <p:cNvSpPr/>
          <p:nvPr/>
        </p:nvSpPr>
        <p:spPr>
          <a:xfrm>
            <a:off x="365760" y="2532888"/>
            <a:ext cx="45720" cy="969264"/>
          </a:xfrm>
          <a:prstGeom prst="rect">
            <a:avLst/>
          </a:prstGeom>
          <a:solidFill>
            <a:srgbClr val="00BFA5"/>
          </a:solidFill>
          <a:ln w="12700">
            <a:solidFill>
              <a:srgbClr val="00BFA5"/>
            </a:solidFill>
            <a:prstDash val="solid"/>
          </a:ln>
        </p:spPr>
      </p:sp>
      <p:pic>
        <p:nvPicPr>
          <p:cNvPr id="12" name="Image 1" descr="preencoded.png">    </p:cNvPr>
          <p:cNvPicPr>
            <a:picLocks noChangeAspect="1"/>
          </p:cNvPicPr>
          <p:nvPr/>
        </p:nvPicPr>
        <p:blipFill>
          <a:blip r:embed="rId2"/>
          <a:stretch>
            <a:fillRect/>
          </a:stretch>
        </p:blipFill>
        <p:spPr>
          <a:xfrm>
            <a:off x="548640" y="2788920"/>
            <a:ext cx="347472" cy="347472"/>
          </a:xfrm>
          <a:prstGeom prst="rect">
            <a:avLst/>
          </a:prstGeom>
        </p:spPr>
      </p:pic>
      <p:sp>
        <p:nvSpPr>
          <p:cNvPr id="13" name="Text 9"/>
          <p:cNvSpPr/>
          <p:nvPr/>
        </p:nvSpPr>
        <p:spPr>
          <a:xfrm>
            <a:off x="1051560" y="2624328"/>
            <a:ext cx="4206240" cy="347472"/>
          </a:xfrm>
          <a:prstGeom prst="rect">
            <a:avLst/>
          </a:prstGeom>
          <a:noFill/>
          <a:ln/>
        </p:spPr>
        <p:txBody>
          <a:bodyPr wrap="square" lIns="0" tIns="0" rIns="0" bIns="0" rtlCol="0" anchor="ctr"/>
          <a:lstStyle/>
          <a:p>
            <a:pPr indent="0" marL="0">
              <a:buNone/>
            </a:pPr>
            <a:r>
              <a:rPr lang="en-US" sz="1300" b="1" dirty="0">
                <a:solidFill>
                  <a:srgbClr val="0D1B2A"/>
                </a:solidFill>
              </a:rPr>
              <a:t>Reactive, Not Proactive</a:t>
            </a:r>
            <a:endParaRPr lang="en-US" sz="1300" dirty="0"/>
          </a:p>
        </p:txBody>
      </p:sp>
      <p:sp>
        <p:nvSpPr>
          <p:cNvPr id="14" name="Text 10"/>
          <p:cNvSpPr/>
          <p:nvPr/>
        </p:nvSpPr>
        <p:spPr>
          <a:xfrm>
            <a:off x="1051560" y="2953512"/>
            <a:ext cx="4206240" cy="475488"/>
          </a:xfrm>
          <a:prstGeom prst="rect">
            <a:avLst/>
          </a:prstGeom>
          <a:noFill/>
          <a:ln/>
        </p:spPr>
        <p:txBody>
          <a:bodyPr wrap="square" lIns="0" tIns="0" rIns="0" bIns="0" rtlCol="0" anchor="ctr"/>
          <a:lstStyle/>
          <a:p>
            <a:pPr indent="0" marL="0">
              <a:buNone/>
            </a:pPr>
            <a:r>
              <a:rPr lang="en-US" sz="1050" dirty="0">
                <a:solidFill>
                  <a:srgbClr val="445566"/>
                </a:solidFill>
              </a:rPr>
              <a:t>Routes are planned ahead, but urgent demand, delays, or breakdowns require manual re-planning from scratch.</a:t>
            </a:r>
            <a:endParaRPr lang="en-US" sz="1050" dirty="0"/>
          </a:p>
        </p:txBody>
      </p:sp>
      <p:sp>
        <p:nvSpPr>
          <p:cNvPr id="15" name="Shape 11"/>
          <p:cNvSpPr/>
          <p:nvPr/>
        </p:nvSpPr>
        <p:spPr>
          <a:xfrm>
            <a:off x="365760" y="3648456"/>
            <a:ext cx="5029200" cy="969264"/>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6" name="Shape 12"/>
          <p:cNvSpPr/>
          <p:nvPr/>
        </p:nvSpPr>
        <p:spPr>
          <a:xfrm>
            <a:off x="365760" y="3648456"/>
            <a:ext cx="45720" cy="969264"/>
          </a:xfrm>
          <a:prstGeom prst="rect">
            <a:avLst/>
          </a:prstGeom>
          <a:solidFill>
            <a:srgbClr val="00BFA5"/>
          </a:solidFill>
          <a:ln w="12700">
            <a:solidFill>
              <a:srgbClr val="00BFA5"/>
            </a:solidFill>
            <a:prstDash val="solid"/>
          </a:ln>
        </p:spPr>
      </p:sp>
      <p:pic>
        <p:nvPicPr>
          <p:cNvPr id="17" name="Image 2" descr="preencoded.png">    </p:cNvPr>
          <p:cNvPicPr>
            <a:picLocks noChangeAspect="1"/>
          </p:cNvPicPr>
          <p:nvPr/>
        </p:nvPicPr>
        <p:blipFill>
          <a:blip r:embed="rId3"/>
          <a:stretch>
            <a:fillRect/>
          </a:stretch>
        </p:blipFill>
        <p:spPr>
          <a:xfrm>
            <a:off x="548640" y="3904488"/>
            <a:ext cx="347472" cy="347472"/>
          </a:xfrm>
          <a:prstGeom prst="rect">
            <a:avLst/>
          </a:prstGeom>
        </p:spPr>
      </p:pic>
      <p:sp>
        <p:nvSpPr>
          <p:cNvPr id="18" name="Text 13"/>
          <p:cNvSpPr/>
          <p:nvPr/>
        </p:nvSpPr>
        <p:spPr>
          <a:xfrm>
            <a:off x="1051560" y="3739896"/>
            <a:ext cx="4206240" cy="347472"/>
          </a:xfrm>
          <a:prstGeom prst="rect">
            <a:avLst/>
          </a:prstGeom>
          <a:noFill/>
          <a:ln/>
        </p:spPr>
        <p:txBody>
          <a:bodyPr wrap="square" lIns="0" tIns="0" rIns="0" bIns="0" rtlCol="0" anchor="ctr"/>
          <a:lstStyle/>
          <a:p>
            <a:pPr indent="0" marL="0">
              <a:buNone/>
            </a:pPr>
            <a:r>
              <a:rPr lang="en-US" sz="1300" b="1" dirty="0">
                <a:solidFill>
                  <a:srgbClr val="0D1B2A"/>
                </a:solidFill>
              </a:rPr>
              <a:t>Demand Goes Unanswered</a:t>
            </a:r>
            <a:endParaRPr lang="en-US" sz="1300" dirty="0"/>
          </a:p>
        </p:txBody>
      </p:sp>
      <p:sp>
        <p:nvSpPr>
          <p:cNvPr id="19" name="Text 14"/>
          <p:cNvSpPr/>
          <p:nvPr/>
        </p:nvSpPr>
        <p:spPr>
          <a:xfrm>
            <a:off x="1051560" y="4069080"/>
            <a:ext cx="4206240" cy="475488"/>
          </a:xfrm>
          <a:prstGeom prst="rect">
            <a:avLst/>
          </a:prstGeom>
          <a:noFill/>
          <a:ln/>
        </p:spPr>
        <p:txBody>
          <a:bodyPr wrap="square" lIns="0" tIns="0" rIns="0" bIns="0" rtlCol="0" anchor="ctr"/>
          <a:lstStyle/>
          <a:p>
            <a:pPr indent="0" marL="0">
              <a:buNone/>
            </a:pPr>
            <a:r>
              <a:rPr lang="en-US" sz="1050" dirty="0">
                <a:solidFill>
                  <a:srgbClr val="445566"/>
                </a:solidFill>
              </a:rPr>
              <a:t>Stores signal urgent need but there is no system to instantly identify the right truck and reroute it.</a:t>
            </a:r>
            <a:endParaRPr lang="en-US" sz="1050" dirty="0"/>
          </a:p>
        </p:txBody>
      </p:sp>
      <p:sp>
        <p:nvSpPr>
          <p:cNvPr id="20" name="Shape 15"/>
          <p:cNvSpPr/>
          <p:nvPr/>
        </p:nvSpPr>
        <p:spPr>
          <a:xfrm>
            <a:off x="5669280" y="1280160"/>
            <a:ext cx="3108960" cy="3291840"/>
          </a:xfrm>
          <a:prstGeom prst="rect">
            <a:avLst/>
          </a:prstGeom>
          <a:solidFill>
            <a:srgbClr val="0D1B2A"/>
          </a:solidFill>
          <a:ln w="12700">
            <a:solidFill>
              <a:srgbClr val="0D1B2A"/>
            </a:solidFill>
            <a:prstDash val="solid"/>
          </a:ln>
        </p:spPr>
      </p:sp>
      <p:sp>
        <p:nvSpPr>
          <p:cNvPr id="21" name="Shape 16"/>
          <p:cNvSpPr/>
          <p:nvPr/>
        </p:nvSpPr>
        <p:spPr>
          <a:xfrm>
            <a:off x="5669280" y="1280160"/>
            <a:ext cx="3108960" cy="45720"/>
          </a:xfrm>
          <a:prstGeom prst="rect">
            <a:avLst/>
          </a:prstGeom>
          <a:solidFill>
            <a:srgbClr val="00BFA5"/>
          </a:solidFill>
          <a:ln w="12700">
            <a:solidFill>
              <a:srgbClr val="00BFA5"/>
            </a:solidFill>
            <a:prstDash val="solid"/>
          </a:ln>
        </p:spPr>
      </p:sp>
      <p:sp>
        <p:nvSpPr>
          <p:cNvPr id="22" name="Text 17"/>
          <p:cNvSpPr/>
          <p:nvPr/>
        </p:nvSpPr>
        <p:spPr>
          <a:xfrm>
            <a:off x="5669280" y="1554480"/>
            <a:ext cx="3108960" cy="914400"/>
          </a:xfrm>
          <a:prstGeom prst="rect">
            <a:avLst/>
          </a:prstGeom>
          <a:noFill/>
          <a:ln/>
        </p:spPr>
        <p:txBody>
          <a:bodyPr wrap="square" lIns="0" tIns="0" rIns="0" bIns="0" rtlCol="0" anchor="ctr"/>
          <a:lstStyle/>
          <a:p>
            <a:pPr algn="ctr" indent="0" marL="0">
              <a:buNone/>
            </a:pPr>
            <a:r>
              <a:rPr lang="en-US" sz="6400" b="1" dirty="0">
                <a:solidFill>
                  <a:srgbClr val="00BFA5"/>
                </a:solidFill>
              </a:rPr>
              <a:t>30%</a:t>
            </a:r>
            <a:endParaRPr lang="en-US" sz="6400" dirty="0"/>
          </a:p>
        </p:txBody>
      </p:sp>
      <p:sp>
        <p:nvSpPr>
          <p:cNvPr id="23" name="Text 18"/>
          <p:cNvSpPr/>
          <p:nvPr/>
        </p:nvSpPr>
        <p:spPr>
          <a:xfrm>
            <a:off x="5760720" y="2468880"/>
            <a:ext cx="2926080" cy="914400"/>
          </a:xfrm>
          <a:prstGeom prst="rect">
            <a:avLst/>
          </a:prstGeom>
          <a:noFill/>
          <a:ln/>
        </p:spPr>
        <p:txBody>
          <a:bodyPr wrap="square" lIns="0" tIns="0" rIns="0" bIns="0" rtlCol="0" anchor="ctr"/>
          <a:lstStyle/>
          <a:p>
            <a:pPr algn="ctr" indent="0" marL="0">
              <a:buNone/>
            </a:pPr>
            <a:r>
              <a:rPr lang="en-US" sz="1150" dirty="0">
                <a:solidFill>
                  <a:srgbClr val="F0F4F8"/>
                </a:solidFill>
              </a:rPr>
              <a:t>of logistics costs stem from</a:t>
            </a:r>
            <a:endParaRPr lang="en-US" sz="1150" dirty="0"/>
          </a:p>
          <a:p>
            <a:pPr algn="ctr" indent="0" marL="0">
              <a:buNone/>
            </a:pPr>
            <a:r>
              <a:rPr lang="en-US" sz="1150" dirty="0">
                <a:solidFill>
                  <a:srgbClr val="F0F4F8"/>
                </a:solidFill>
              </a:rPr>
              <a:t>poor route planning &amp;</a:t>
            </a:r>
            <a:endParaRPr lang="en-US" sz="1150" dirty="0"/>
          </a:p>
          <a:p>
            <a:pPr algn="ctr" indent="0" marL="0">
              <a:buNone/>
            </a:pPr>
            <a:r>
              <a:rPr lang="en-US" sz="1150" dirty="0">
                <a:solidFill>
                  <a:srgbClr val="F0F4F8"/>
                </a:solidFill>
              </a:rPr>
              <a:t>lack of real-time visibility</a:t>
            </a:r>
            <a:endParaRPr lang="en-US" sz="1150" dirty="0"/>
          </a:p>
        </p:txBody>
      </p:sp>
      <p:sp>
        <p:nvSpPr>
          <p:cNvPr id="24" name="Shape 19"/>
          <p:cNvSpPr/>
          <p:nvPr/>
        </p:nvSpPr>
        <p:spPr>
          <a:xfrm>
            <a:off x="5943600" y="3429000"/>
            <a:ext cx="2560320" cy="27432"/>
          </a:xfrm>
          <a:prstGeom prst="rect">
            <a:avLst/>
          </a:prstGeom>
          <a:solidFill>
            <a:srgbClr val="00897B"/>
          </a:solidFill>
          <a:ln w="12700">
            <a:solidFill>
              <a:srgbClr val="00897B"/>
            </a:solidFill>
            <a:prstDash val="solid"/>
          </a:ln>
        </p:spPr>
      </p:sp>
      <p:sp>
        <p:nvSpPr>
          <p:cNvPr id="25" name="Text 20"/>
          <p:cNvSpPr/>
          <p:nvPr/>
        </p:nvSpPr>
        <p:spPr>
          <a:xfrm>
            <a:off x="5669280" y="3520440"/>
            <a:ext cx="3108960" cy="365760"/>
          </a:xfrm>
          <a:prstGeom prst="rect">
            <a:avLst/>
          </a:prstGeom>
          <a:noFill/>
          <a:ln/>
        </p:spPr>
        <p:txBody>
          <a:bodyPr wrap="square" lIns="0" tIns="0" rIns="0" bIns="0" rtlCol="0" anchor="ctr"/>
          <a:lstStyle/>
          <a:p>
            <a:pPr algn="ctr" indent="0" marL="0">
              <a:buNone/>
            </a:pPr>
            <a:r>
              <a:rPr lang="en-US" sz="800" i="1" dirty="0">
                <a:solidFill>
                  <a:srgbClr val="8A9BAB"/>
                </a:solidFill>
              </a:rPr>
              <a:t>Industry average — McKinsey Supply Chain Report</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01168"/>
            <a:ext cx="1554480" cy="256032"/>
          </a:xfrm>
          <a:prstGeom prst="rect">
            <a:avLst/>
          </a:prstGeom>
          <a:solidFill>
            <a:srgbClr val="00BFA5"/>
          </a:solidFill>
          <a:ln w="12700">
            <a:solidFill>
              <a:srgbClr val="00BFA5"/>
            </a:solidFill>
            <a:prstDash val="solid"/>
          </a:ln>
        </p:spPr>
      </p:sp>
      <p:sp>
        <p:nvSpPr>
          <p:cNvPr id="3" name="Text 1"/>
          <p:cNvSpPr/>
          <p:nvPr/>
        </p:nvSpPr>
        <p:spPr>
          <a:xfrm>
            <a:off x="365760" y="192024"/>
            <a:ext cx="1554480" cy="256032"/>
          </a:xfrm>
          <a:prstGeom prst="rect">
            <a:avLst/>
          </a:prstGeom>
          <a:noFill/>
          <a:ln/>
        </p:spPr>
        <p:txBody>
          <a:bodyPr wrap="square" lIns="0" tIns="0" rIns="0" bIns="0" rtlCol="0" anchor="ctr"/>
          <a:lstStyle/>
          <a:p>
            <a:pPr algn="ctr" indent="0" marL="0">
              <a:buNone/>
            </a:pPr>
            <a:r>
              <a:rPr lang="en-US" sz="700" b="1" spc="200" kern="0" dirty="0">
                <a:solidFill>
                  <a:srgbClr val="0D1B2A"/>
                </a:solidFill>
              </a:rPr>
              <a:t>OUR SOLUTION</a:t>
            </a:r>
            <a:endParaRPr lang="en-US" sz="700" dirty="0"/>
          </a:p>
        </p:txBody>
      </p:sp>
      <p:sp>
        <p:nvSpPr>
          <p:cNvPr id="4" name="Text 2"/>
          <p:cNvSpPr/>
          <p:nvPr/>
        </p:nvSpPr>
        <p:spPr>
          <a:xfrm>
            <a:off x="365760" y="548640"/>
            <a:ext cx="841248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LogiSync: Dynamic Logistics Management</a:t>
            </a:r>
            <a:endParaRPr lang="en-US" sz="2400" dirty="0"/>
          </a:p>
        </p:txBody>
      </p:sp>
      <p:sp>
        <p:nvSpPr>
          <p:cNvPr id="5" name="Text 3"/>
          <p:cNvSpPr/>
          <p:nvPr/>
        </p:nvSpPr>
        <p:spPr>
          <a:xfrm>
            <a:off x="365760" y="1170432"/>
            <a:ext cx="8412480" cy="347472"/>
          </a:xfrm>
          <a:prstGeom prst="rect">
            <a:avLst/>
          </a:prstGeom>
          <a:noFill/>
          <a:ln/>
        </p:spPr>
        <p:txBody>
          <a:bodyPr wrap="square" lIns="0" tIns="0" rIns="0" bIns="0" rtlCol="0" anchor="ctr"/>
          <a:lstStyle/>
          <a:p>
            <a:pPr indent="0" marL="0">
              <a:buNone/>
            </a:pPr>
            <a:r>
              <a:rPr lang="en-US" sz="1300" i="1" dirty="0">
                <a:solidFill>
                  <a:srgbClr val="00BFA5"/>
                </a:solidFill>
              </a:rPr>
              <a:t>One system. Real-time network. Smart decisions.</a:t>
            </a:r>
            <a:endParaRPr lang="en-US" sz="1300" dirty="0"/>
          </a:p>
        </p:txBody>
      </p:sp>
      <p:sp>
        <p:nvSpPr>
          <p:cNvPr id="6" name="Shape 4"/>
          <p:cNvSpPr/>
          <p:nvPr/>
        </p:nvSpPr>
        <p:spPr>
          <a:xfrm>
            <a:off x="365760" y="1737360"/>
            <a:ext cx="4206240" cy="1188720"/>
          </a:xfrm>
          <a:prstGeom prst="rect">
            <a:avLst/>
          </a:prstGeom>
          <a:solidFill>
            <a:srgbClr val="132233"/>
          </a:solidFill>
          <a:ln w="12700">
            <a:solidFill>
              <a:srgbClr val="132233"/>
            </a:solidFill>
            <a:prstDash val="solid"/>
          </a:ln>
        </p:spPr>
      </p:sp>
      <p:sp>
        <p:nvSpPr>
          <p:cNvPr id="7" name="Shape 5"/>
          <p:cNvSpPr/>
          <p:nvPr/>
        </p:nvSpPr>
        <p:spPr>
          <a:xfrm>
            <a:off x="365760" y="1737360"/>
            <a:ext cx="45720" cy="1188720"/>
          </a:xfrm>
          <a:prstGeom prst="rect">
            <a:avLst/>
          </a:prstGeom>
          <a:solidFill>
            <a:srgbClr val="00BFA5"/>
          </a:solidFill>
          <a:ln w="12700">
            <a:solidFill>
              <a:srgbClr val="00BFA5"/>
            </a:solidFill>
            <a:prstDash val="solid"/>
          </a:ln>
        </p:spPr>
      </p:sp>
      <p:pic>
        <p:nvPicPr>
          <p:cNvPr id="8" name="Image 0" descr="preencoded.png">    </p:cNvPr>
          <p:cNvPicPr>
            <a:picLocks noChangeAspect="1"/>
          </p:cNvPicPr>
          <p:nvPr/>
        </p:nvPicPr>
        <p:blipFill>
          <a:blip r:embed="rId1"/>
          <a:stretch>
            <a:fillRect/>
          </a:stretch>
        </p:blipFill>
        <p:spPr>
          <a:xfrm>
            <a:off x="502920" y="2057400"/>
            <a:ext cx="384048" cy="384048"/>
          </a:xfrm>
          <a:prstGeom prst="rect">
            <a:avLst/>
          </a:prstGeom>
        </p:spPr>
      </p:pic>
      <p:sp>
        <p:nvSpPr>
          <p:cNvPr id="9" name="Text 6"/>
          <p:cNvSpPr/>
          <p:nvPr/>
        </p:nvSpPr>
        <p:spPr>
          <a:xfrm>
            <a:off x="1024128" y="1847088"/>
            <a:ext cx="3429000" cy="384048"/>
          </a:xfrm>
          <a:prstGeom prst="rect">
            <a:avLst/>
          </a:prstGeom>
          <a:noFill/>
          <a:ln/>
        </p:spPr>
        <p:txBody>
          <a:bodyPr wrap="square" lIns="0" tIns="0" rIns="0" bIns="0" rtlCol="0" anchor="ctr"/>
          <a:lstStyle/>
          <a:p>
            <a:pPr indent="0" marL="0">
              <a:buNone/>
            </a:pPr>
            <a:r>
              <a:rPr lang="en-US" sz="1300" b="1" dirty="0">
                <a:solidFill>
                  <a:srgbClr val="FFFFFF"/>
                </a:solidFill>
              </a:rPr>
              <a:t>Connected Network</a:t>
            </a:r>
            <a:endParaRPr lang="en-US" sz="1300" dirty="0"/>
          </a:p>
        </p:txBody>
      </p:sp>
      <p:sp>
        <p:nvSpPr>
          <p:cNvPr id="10" name="Text 7"/>
          <p:cNvSpPr/>
          <p:nvPr/>
        </p:nvSpPr>
        <p:spPr>
          <a:xfrm>
            <a:off x="1024128" y="2249424"/>
            <a:ext cx="3429000" cy="502920"/>
          </a:xfrm>
          <a:prstGeom prst="rect">
            <a:avLst/>
          </a:prstGeom>
          <a:noFill/>
          <a:ln/>
        </p:spPr>
        <p:txBody>
          <a:bodyPr wrap="square" lIns="0" tIns="0" rIns="0" bIns="0" rtlCol="0" anchor="ctr"/>
          <a:lstStyle/>
          <a:p>
            <a:pPr indent="0" marL="0">
              <a:buNone/>
            </a:pPr>
            <a:r>
              <a:rPr lang="en-US" sz="1000" dirty="0">
                <a:solidFill>
                  <a:srgbClr val="8A9BAB"/>
                </a:solidFill>
              </a:rPr>
              <a:t>Factories, warehouses, stores &amp; trucks unified in a live graph.</a:t>
            </a:r>
            <a:endParaRPr lang="en-US" sz="1000" dirty="0"/>
          </a:p>
        </p:txBody>
      </p:sp>
      <p:sp>
        <p:nvSpPr>
          <p:cNvPr id="11" name="Shape 8"/>
          <p:cNvSpPr/>
          <p:nvPr/>
        </p:nvSpPr>
        <p:spPr>
          <a:xfrm>
            <a:off x="4800600" y="1737360"/>
            <a:ext cx="4206240" cy="1188720"/>
          </a:xfrm>
          <a:prstGeom prst="rect">
            <a:avLst/>
          </a:prstGeom>
          <a:solidFill>
            <a:srgbClr val="132233"/>
          </a:solidFill>
          <a:ln w="12700">
            <a:solidFill>
              <a:srgbClr val="132233"/>
            </a:solidFill>
            <a:prstDash val="solid"/>
          </a:ln>
        </p:spPr>
      </p:sp>
      <p:sp>
        <p:nvSpPr>
          <p:cNvPr id="12" name="Shape 9"/>
          <p:cNvSpPr/>
          <p:nvPr/>
        </p:nvSpPr>
        <p:spPr>
          <a:xfrm>
            <a:off x="4800600" y="1737360"/>
            <a:ext cx="45720" cy="1188720"/>
          </a:xfrm>
          <a:prstGeom prst="rect">
            <a:avLst/>
          </a:prstGeom>
          <a:solidFill>
            <a:srgbClr val="F9A826"/>
          </a:solidFill>
          <a:ln w="12700">
            <a:solidFill>
              <a:srgbClr val="F9A826"/>
            </a:solidFill>
            <a:prstDash val="solid"/>
          </a:ln>
        </p:spPr>
      </p:sp>
      <p:pic>
        <p:nvPicPr>
          <p:cNvPr id="13" name="Image 1" descr="preencoded.png">    </p:cNvPr>
          <p:cNvPicPr>
            <a:picLocks noChangeAspect="1"/>
          </p:cNvPicPr>
          <p:nvPr/>
        </p:nvPicPr>
        <p:blipFill>
          <a:blip r:embed="rId2"/>
          <a:stretch>
            <a:fillRect/>
          </a:stretch>
        </p:blipFill>
        <p:spPr>
          <a:xfrm>
            <a:off x="4937760" y="2057400"/>
            <a:ext cx="384048" cy="384048"/>
          </a:xfrm>
          <a:prstGeom prst="rect">
            <a:avLst/>
          </a:prstGeom>
        </p:spPr>
      </p:pic>
      <p:sp>
        <p:nvSpPr>
          <p:cNvPr id="14" name="Text 10"/>
          <p:cNvSpPr/>
          <p:nvPr/>
        </p:nvSpPr>
        <p:spPr>
          <a:xfrm>
            <a:off x="5458968" y="1847088"/>
            <a:ext cx="3429000" cy="384048"/>
          </a:xfrm>
          <a:prstGeom prst="rect">
            <a:avLst/>
          </a:prstGeom>
          <a:noFill/>
          <a:ln/>
        </p:spPr>
        <p:txBody>
          <a:bodyPr wrap="square" lIns="0" tIns="0" rIns="0" bIns="0" rtlCol="0" anchor="ctr"/>
          <a:lstStyle/>
          <a:p>
            <a:pPr indent="0" marL="0">
              <a:buNone/>
            </a:pPr>
            <a:r>
              <a:rPr lang="en-US" sz="1300" b="1" dirty="0">
                <a:solidFill>
                  <a:srgbClr val="FFFFFF"/>
                </a:solidFill>
              </a:rPr>
              <a:t>Route Planning &amp; Execution</a:t>
            </a:r>
            <a:endParaRPr lang="en-US" sz="1300" dirty="0"/>
          </a:p>
        </p:txBody>
      </p:sp>
      <p:sp>
        <p:nvSpPr>
          <p:cNvPr id="15" name="Text 11"/>
          <p:cNvSpPr/>
          <p:nvPr/>
        </p:nvSpPr>
        <p:spPr>
          <a:xfrm>
            <a:off x="5458968" y="2249424"/>
            <a:ext cx="3429000" cy="502920"/>
          </a:xfrm>
          <a:prstGeom prst="rect">
            <a:avLst/>
          </a:prstGeom>
          <a:noFill/>
          <a:ln/>
        </p:spPr>
        <p:txBody>
          <a:bodyPr wrap="square" lIns="0" tIns="0" rIns="0" bIns="0" rtlCol="0" anchor="ctr"/>
          <a:lstStyle/>
          <a:p>
            <a:pPr indent="0" marL="0">
              <a:buNone/>
            </a:pPr>
            <a:r>
              <a:rPr lang="en-US" sz="1000" dirty="0">
                <a:solidFill>
                  <a:srgbClr val="8A9BAB"/>
                </a:solidFill>
              </a:rPr>
              <a:t>Optimized route generation with real warehouse execution flow.</a:t>
            </a:r>
            <a:endParaRPr lang="en-US" sz="1000" dirty="0"/>
          </a:p>
        </p:txBody>
      </p:sp>
      <p:sp>
        <p:nvSpPr>
          <p:cNvPr id="16" name="Shape 12"/>
          <p:cNvSpPr/>
          <p:nvPr/>
        </p:nvSpPr>
        <p:spPr>
          <a:xfrm>
            <a:off x="365760" y="3154680"/>
            <a:ext cx="4206240" cy="1188720"/>
          </a:xfrm>
          <a:prstGeom prst="rect">
            <a:avLst/>
          </a:prstGeom>
          <a:solidFill>
            <a:srgbClr val="132233"/>
          </a:solidFill>
          <a:ln w="12700">
            <a:solidFill>
              <a:srgbClr val="132233"/>
            </a:solidFill>
            <a:prstDash val="solid"/>
          </a:ln>
        </p:spPr>
      </p:sp>
      <p:sp>
        <p:nvSpPr>
          <p:cNvPr id="17" name="Shape 13"/>
          <p:cNvSpPr/>
          <p:nvPr/>
        </p:nvSpPr>
        <p:spPr>
          <a:xfrm>
            <a:off x="365760" y="3154680"/>
            <a:ext cx="45720" cy="1188720"/>
          </a:xfrm>
          <a:prstGeom prst="rect">
            <a:avLst/>
          </a:prstGeom>
          <a:solidFill>
            <a:srgbClr val="EF5350"/>
          </a:solidFill>
          <a:ln w="12700">
            <a:solidFill>
              <a:srgbClr val="EF5350"/>
            </a:solidFill>
            <a:prstDash val="solid"/>
          </a:ln>
        </p:spPr>
      </p:sp>
      <p:pic>
        <p:nvPicPr>
          <p:cNvPr id="18" name="Image 2" descr="preencoded.png">    </p:cNvPr>
          <p:cNvPicPr>
            <a:picLocks noChangeAspect="1"/>
          </p:cNvPicPr>
          <p:nvPr/>
        </p:nvPicPr>
        <p:blipFill>
          <a:blip r:embed="rId3"/>
          <a:stretch>
            <a:fillRect/>
          </a:stretch>
        </p:blipFill>
        <p:spPr>
          <a:xfrm>
            <a:off x="502920" y="3474720"/>
            <a:ext cx="384048" cy="384048"/>
          </a:xfrm>
          <a:prstGeom prst="rect">
            <a:avLst/>
          </a:prstGeom>
        </p:spPr>
      </p:pic>
      <p:sp>
        <p:nvSpPr>
          <p:cNvPr id="19" name="Text 14"/>
          <p:cNvSpPr/>
          <p:nvPr/>
        </p:nvSpPr>
        <p:spPr>
          <a:xfrm>
            <a:off x="1024128" y="3264408"/>
            <a:ext cx="3429000" cy="384048"/>
          </a:xfrm>
          <a:prstGeom prst="rect">
            <a:avLst/>
          </a:prstGeom>
          <a:noFill/>
          <a:ln/>
        </p:spPr>
        <p:txBody>
          <a:bodyPr wrap="square" lIns="0" tIns="0" rIns="0" bIns="0" rtlCol="0" anchor="ctr"/>
          <a:lstStyle/>
          <a:p>
            <a:pPr indent="0" marL="0">
              <a:buNone/>
            </a:pPr>
            <a:r>
              <a:rPr lang="en-US" sz="1300" b="1" dirty="0">
                <a:solidFill>
                  <a:srgbClr val="FFFFFF"/>
                </a:solidFill>
              </a:rPr>
              <a:t>Urgent Demand Response</a:t>
            </a:r>
            <a:endParaRPr lang="en-US" sz="1300" dirty="0"/>
          </a:p>
        </p:txBody>
      </p:sp>
      <p:sp>
        <p:nvSpPr>
          <p:cNvPr id="20" name="Text 15"/>
          <p:cNvSpPr/>
          <p:nvPr/>
        </p:nvSpPr>
        <p:spPr>
          <a:xfrm>
            <a:off x="1024128" y="3666744"/>
            <a:ext cx="3429000" cy="502920"/>
          </a:xfrm>
          <a:prstGeom prst="rect">
            <a:avLst/>
          </a:prstGeom>
          <a:noFill/>
          <a:ln/>
        </p:spPr>
        <p:txBody>
          <a:bodyPr wrap="square" lIns="0" tIns="0" rIns="0" bIns="0" rtlCol="0" anchor="ctr"/>
          <a:lstStyle/>
          <a:p>
            <a:pPr indent="0" marL="0">
              <a:buNone/>
            </a:pPr>
            <a:r>
              <a:rPr lang="en-US" sz="1000" dirty="0">
                <a:solidFill>
                  <a:srgbClr val="8A9BAB"/>
                </a:solidFill>
              </a:rPr>
              <a:t>Stores trigger urgent requests; system finds nearest available truck.</a:t>
            </a:r>
            <a:endParaRPr lang="en-US" sz="1000" dirty="0"/>
          </a:p>
        </p:txBody>
      </p:sp>
      <p:sp>
        <p:nvSpPr>
          <p:cNvPr id="21" name="Shape 16"/>
          <p:cNvSpPr/>
          <p:nvPr/>
        </p:nvSpPr>
        <p:spPr>
          <a:xfrm>
            <a:off x="4800600" y="3154680"/>
            <a:ext cx="4206240" cy="1188720"/>
          </a:xfrm>
          <a:prstGeom prst="rect">
            <a:avLst/>
          </a:prstGeom>
          <a:solidFill>
            <a:srgbClr val="132233"/>
          </a:solidFill>
          <a:ln w="12700">
            <a:solidFill>
              <a:srgbClr val="132233"/>
            </a:solidFill>
            <a:prstDash val="solid"/>
          </a:ln>
        </p:spPr>
      </p:sp>
      <p:sp>
        <p:nvSpPr>
          <p:cNvPr id="22" name="Shape 17"/>
          <p:cNvSpPr/>
          <p:nvPr/>
        </p:nvSpPr>
        <p:spPr>
          <a:xfrm>
            <a:off x="4800600" y="3154680"/>
            <a:ext cx="45720" cy="1188720"/>
          </a:xfrm>
          <a:prstGeom prst="rect">
            <a:avLst/>
          </a:prstGeom>
          <a:solidFill>
            <a:srgbClr val="AB47BC"/>
          </a:solidFill>
          <a:ln w="12700">
            <a:solidFill>
              <a:srgbClr val="AB47BC"/>
            </a:solidFill>
            <a:prstDash val="solid"/>
          </a:ln>
        </p:spPr>
      </p:sp>
      <p:pic>
        <p:nvPicPr>
          <p:cNvPr id="23" name="Image 3" descr="preencoded.png">    </p:cNvPr>
          <p:cNvPicPr>
            <a:picLocks noChangeAspect="1"/>
          </p:cNvPicPr>
          <p:nvPr/>
        </p:nvPicPr>
        <p:blipFill>
          <a:blip r:embed="rId4"/>
          <a:stretch>
            <a:fillRect/>
          </a:stretch>
        </p:blipFill>
        <p:spPr>
          <a:xfrm>
            <a:off x="4937760" y="3474720"/>
            <a:ext cx="384048" cy="384048"/>
          </a:xfrm>
          <a:prstGeom prst="rect">
            <a:avLst/>
          </a:prstGeom>
        </p:spPr>
      </p:pic>
      <p:sp>
        <p:nvSpPr>
          <p:cNvPr id="24" name="Text 18"/>
          <p:cNvSpPr/>
          <p:nvPr/>
        </p:nvSpPr>
        <p:spPr>
          <a:xfrm>
            <a:off x="5458968" y="3264408"/>
            <a:ext cx="3429000" cy="384048"/>
          </a:xfrm>
          <a:prstGeom prst="rect">
            <a:avLst/>
          </a:prstGeom>
          <a:noFill/>
          <a:ln/>
        </p:spPr>
        <p:txBody>
          <a:bodyPr wrap="square" lIns="0" tIns="0" rIns="0" bIns="0" rtlCol="0" anchor="ctr"/>
          <a:lstStyle/>
          <a:p>
            <a:pPr indent="0" marL="0">
              <a:buNone/>
            </a:pPr>
            <a:r>
              <a:rPr lang="en-US" sz="1300" b="1" dirty="0">
                <a:solidFill>
                  <a:srgbClr val="FFFFFF"/>
                </a:solidFill>
              </a:rPr>
              <a:t>Live Simulation</a:t>
            </a:r>
            <a:endParaRPr lang="en-US" sz="1300" dirty="0"/>
          </a:p>
        </p:txBody>
      </p:sp>
      <p:sp>
        <p:nvSpPr>
          <p:cNvPr id="25" name="Text 19"/>
          <p:cNvSpPr/>
          <p:nvPr/>
        </p:nvSpPr>
        <p:spPr>
          <a:xfrm>
            <a:off x="5458968" y="3666744"/>
            <a:ext cx="3429000" cy="502920"/>
          </a:xfrm>
          <a:prstGeom prst="rect">
            <a:avLst/>
          </a:prstGeom>
          <a:noFill/>
          <a:ln/>
        </p:spPr>
        <p:txBody>
          <a:bodyPr wrap="square" lIns="0" tIns="0" rIns="0" bIns="0" rtlCol="0" anchor="ctr"/>
          <a:lstStyle/>
          <a:p>
            <a:pPr indent="0" marL="0">
              <a:buNone/>
            </a:pPr>
            <a:r>
              <a:rPr lang="en-US" sz="1000" dirty="0">
                <a:solidFill>
                  <a:srgbClr val="8A9BAB"/>
                </a:solidFill>
              </a:rPr>
              <a:t>Trucks move on the map in real time as routes are executed.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365760" y="201168"/>
            <a:ext cx="1554480" cy="256032"/>
          </a:xfrm>
          <a:prstGeom prst="rect">
            <a:avLst/>
          </a:prstGeom>
          <a:solidFill>
            <a:srgbClr val="00BFA5"/>
          </a:solidFill>
          <a:ln w="12700">
            <a:solidFill>
              <a:srgbClr val="00BFA5"/>
            </a:solidFill>
            <a:prstDash val="solid"/>
          </a:ln>
        </p:spPr>
      </p:sp>
      <p:sp>
        <p:nvSpPr>
          <p:cNvPr id="3" name="Text 1"/>
          <p:cNvSpPr/>
          <p:nvPr/>
        </p:nvSpPr>
        <p:spPr>
          <a:xfrm>
            <a:off x="365760" y="192024"/>
            <a:ext cx="1554480" cy="256032"/>
          </a:xfrm>
          <a:prstGeom prst="rect">
            <a:avLst/>
          </a:prstGeom>
          <a:noFill/>
          <a:ln/>
        </p:spPr>
        <p:txBody>
          <a:bodyPr wrap="square" lIns="0" tIns="0" rIns="0" bIns="0" rtlCol="0" anchor="ctr"/>
          <a:lstStyle/>
          <a:p>
            <a:pPr algn="ctr" indent="0" marL="0">
              <a:buNone/>
            </a:pPr>
            <a:r>
              <a:rPr lang="en-US" sz="700" b="1" spc="200" kern="0" dirty="0">
                <a:solidFill>
                  <a:srgbClr val="0D1B2A"/>
                </a:solidFill>
              </a:rPr>
              <a:t>ARCHITECTURE</a:t>
            </a:r>
            <a:endParaRPr lang="en-US" sz="700" dirty="0"/>
          </a:p>
        </p:txBody>
      </p:sp>
      <p:sp>
        <p:nvSpPr>
          <p:cNvPr id="4" name="Text 2"/>
          <p:cNvSpPr/>
          <p:nvPr/>
        </p:nvSpPr>
        <p:spPr>
          <a:xfrm>
            <a:off x="365760" y="548640"/>
            <a:ext cx="8412480" cy="640080"/>
          </a:xfrm>
          <a:prstGeom prst="rect">
            <a:avLst/>
          </a:prstGeom>
          <a:noFill/>
          <a:ln/>
        </p:spPr>
        <p:txBody>
          <a:bodyPr wrap="square" lIns="0" tIns="0" rIns="0" bIns="0" rtlCol="0" anchor="ctr"/>
          <a:lstStyle/>
          <a:p>
            <a:pPr indent="0" marL="0">
              <a:buNone/>
            </a:pPr>
            <a:r>
              <a:rPr lang="en-US" sz="2600" b="1" dirty="0">
                <a:solidFill>
                  <a:srgbClr val="0D1B2A"/>
                </a:solidFill>
                <a:latin typeface="Calibri" pitchFamily="34" charset="0"/>
                <a:ea typeface="Calibri" pitchFamily="34" charset="-122"/>
                <a:cs typeface="Calibri" pitchFamily="34" charset="-120"/>
              </a:rPr>
              <a:t>System Architecture Overview</a:t>
            </a:r>
            <a:endParaRPr lang="en-US" sz="2600" dirty="0"/>
          </a:p>
        </p:txBody>
      </p:sp>
      <p:sp>
        <p:nvSpPr>
          <p:cNvPr id="5" name="Shape 3"/>
          <p:cNvSpPr/>
          <p:nvPr/>
        </p:nvSpPr>
        <p:spPr>
          <a:xfrm>
            <a:off x="1097280" y="1325880"/>
            <a:ext cx="6949440" cy="749808"/>
          </a:xfrm>
          <a:prstGeom prst="rect">
            <a:avLst/>
          </a:prstGeom>
          <a:solidFill>
            <a:srgbClr val="00BFA5"/>
          </a:solidFill>
          <a:ln/>
        </p:spPr>
      </p:sp>
      <p:sp>
        <p:nvSpPr>
          <p:cNvPr id="6" name="Text 4"/>
          <p:cNvSpPr/>
          <p:nvPr/>
        </p:nvSpPr>
        <p:spPr>
          <a:xfrm>
            <a:off x="1234440" y="1362456"/>
            <a:ext cx="3200400" cy="347472"/>
          </a:xfrm>
          <a:prstGeom prst="rect">
            <a:avLst/>
          </a:prstGeom>
          <a:noFill/>
          <a:ln/>
        </p:spPr>
        <p:txBody>
          <a:bodyPr wrap="square" lIns="0" tIns="0" rIns="0" bIns="0" rtlCol="0" anchor="ctr"/>
          <a:lstStyle/>
          <a:p>
            <a:pPr indent="0" marL="0">
              <a:buNone/>
            </a:pPr>
            <a:r>
              <a:rPr lang="en-US" sz="1400" b="1" dirty="0">
                <a:solidFill>
                  <a:srgbClr val="FFFFFF"/>
                </a:solidFill>
              </a:rPr>
              <a:t>Frontend SPA</a:t>
            </a:r>
            <a:endParaRPr lang="en-US" sz="1400" dirty="0"/>
          </a:p>
        </p:txBody>
      </p:sp>
      <p:sp>
        <p:nvSpPr>
          <p:cNvPr id="7" name="Text 5"/>
          <p:cNvSpPr/>
          <p:nvPr/>
        </p:nvSpPr>
        <p:spPr>
          <a:xfrm>
            <a:off x="1234440" y="1728216"/>
            <a:ext cx="6583680" cy="274320"/>
          </a:xfrm>
          <a:prstGeom prst="rect">
            <a:avLst/>
          </a:prstGeom>
          <a:noFill/>
          <a:ln/>
        </p:spPr>
        <p:txBody>
          <a:bodyPr wrap="square" lIns="0" tIns="0" rIns="0" bIns="0" rtlCol="0" anchor="ctr"/>
          <a:lstStyle/>
          <a:p>
            <a:pPr indent="0" marL="0">
              <a:buNone/>
            </a:pPr>
            <a:r>
              <a:rPr lang="en-US" sz="1000" dirty="0">
                <a:solidFill>
                  <a:srgbClr val="0D1B2A"/>
                </a:solidFill>
              </a:rPr>
              <a:t>Network graph · Truck simulation · Actions</a:t>
            </a:r>
            <a:endParaRPr lang="en-US" sz="1000" dirty="0"/>
          </a:p>
        </p:txBody>
      </p:sp>
      <p:sp>
        <p:nvSpPr>
          <p:cNvPr id="8" name="Shape 6"/>
          <p:cNvSpPr/>
          <p:nvPr/>
        </p:nvSpPr>
        <p:spPr>
          <a:xfrm>
            <a:off x="4434840" y="2075688"/>
            <a:ext cx="274320" cy="576072"/>
          </a:xfrm>
          <a:prstGeom prst="rect">
            <a:avLst/>
          </a:prstGeom>
          <a:solidFill>
            <a:srgbClr val="BDBDBD"/>
          </a:solidFill>
          <a:ln w="12700">
            <a:solidFill>
              <a:srgbClr val="BDBDBD"/>
            </a:solidFill>
            <a:prstDash val="solid"/>
          </a:ln>
        </p:spPr>
      </p:sp>
      <p:sp>
        <p:nvSpPr>
          <p:cNvPr id="9" name="Text 7"/>
          <p:cNvSpPr/>
          <p:nvPr/>
        </p:nvSpPr>
        <p:spPr>
          <a:xfrm>
            <a:off x="4343400" y="2441448"/>
            <a:ext cx="457200" cy="201168"/>
          </a:xfrm>
          <a:prstGeom prst="rect">
            <a:avLst/>
          </a:prstGeom>
          <a:noFill/>
          <a:ln/>
        </p:spPr>
        <p:txBody>
          <a:bodyPr wrap="square" lIns="0" tIns="0" rIns="0" bIns="0" rtlCol="0" anchor="ctr"/>
          <a:lstStyle/>
          <a:p>
            <a:pPr algn="ctr" indent="0" marL="0">
              <a:buNone/>
            </a:pPr>
            <a:r>
              <a:rPr lang="en-US" sz="1100" dirty="0">
                <a:solidFill>
                  <a:srgbClr val="BDBDBD"/>
                </a:solidFill>
              </a:rPr>
              <a:t>▼</a:t>
            </a:r>
            <a:endParaRPr lang="en-US" sz="1100" dirty="0"/>
          </a:p>
        </p:txBody>
      </p:sp>
      <p:sp>
        <p:nvSpPr>
          <p:cNvPr id="10" name="Shape 8"/>
          <p:cNvSpPr/>
          <p:nvPr/>
        </p:nvSpPr>
        <p:spPr>
          <a:xfrm>
            <a:off x="1097280" y="2240280"/>
            <a:ext cx="6949440" cy="749808"/>
          </a:xfrm>
          <a:prstGeom prst="rect">
            <a:avLst/>
          </a:prstGeom>
          <a:solidFill>
            <a:srgbClr val="0D1B2A"/>
          </a:solidFill>
          <a:ln/>
        </p:spPr>
      </p:sp>
      <p:sp>
        <p:nvSpPr>
          <p:cNvPr id="11" name="Text 9"/>
          <p:cNvSpPr/>
          <p:nvPr/>
        </p:nvSpPr>
        <p:spPr>
          <a:xfrm>
            <a:off x="1234440" y="2276856"/>
            <a:ext cx="3200400" cy="347472"/>
          </a:xfrm>
          <a:prstGeom prst="rect">
            <a:avLst/>
          </a:prstGeom>
          <a:noFill/>
          <a:ln/>
        </p:spPr>
        <p:txBody>
          <a:bodyPr wrap="square" lIns="0" tIns="0" rIns="0" bIns="0" rtlCol="0" anchor="ctr"/>
          <a:lstStyle/>
          <a:p>
            <a:pPr indent="0" marL="0">
              <a:buNone/>
            </a:pPr>
            <a:r>
              <a:rPr lang="en-US" sz="1400" b="1" dirty="0">
                <a:solidFill>
                  <a:srgbClr val="FFFFFF"/>
                </a:solidFill>
              </a:rPr>
              <a:t>FastAPI Backend</a:t>
            </a:r>
            <a:endParaRPr lang="en-US" sz="1400" dirty="0"/>
          </a:p>
        </p:txBody>
      </p:sp>
      <p:sp>
        <p:nvSpPr>
          <p:cNvPr id="12" name="Text 10"/>
          <p:cNvSpPr/>
          <p:nvPr/>
        </p:nvSpPr>
        <p:spPr>
          <a:xfrm>
            <a:off x="1234440" y="2642616"/>
            <a:ext cx="6583680" cy="274320"/>
          </a:xfrm>
          <a:prstGeom prst="rect">
            <a:avLst/>
          </a:prstGeom>
          <a:noFill/>
          <a:ln/>
        </p:spPr>
        <p:txBody>
          <a:bodyPr wrap="square" lIns="0" tIns="0" rIns="0" bIns="0" rtlCol="0" anchor="ctr"/>
          <a:lstStyle/>
          <a:p>
            <a:pPr indent="0" marL="0">
              <a:buNone/>
            </a:pPr>
            <a:r>
              <a:rPr lang="en-US" sz="1000" dirty="0">
                <a:solidFill>
                  <a:srgbClr val="F0F4F8"/>
                </a:solidFill>
              </a:rPr>
              <a:t>Route solver · State management · REST API</a:t>
            </a:r>
            <a:endParaRPr lang="en-US" sz="1000" dirty="0"/>
          </a:p>
        </p:txBody>
      </p:sp>
      <p:sp>
        <p:nvSpPr>
          <p:cNvPr id="13" name="Shape 11"/>
          <p:cNvSpPr/>
          <p:nvPr/>
        </p:nvSpPr>
        <p:spPr>
          <a:xfrm>
            <a:off x="4434840" y="2990088"/>
            <a:ext cx="274320" cy="576072"/>
          </a:xfrm>
          <a:prstGeom prst="rect">
            <a:avLst/>
          </a:prstGeom>
          <a:solidFill>
            <a:srgbClr val="BDBDBD"/>
          </a:solidFill>
          <a:ln w="12700">
            <a:solidFill>
              <a:srgbClr val="BDBDBD"/>
            </a:solidFill>
            <a:prstDash val="solid"/>
          </a:ln>
        </p:spPr>
      </p:sp>
      <p:sp>
        <p:nvSpPr>
          <p:cNvPr id="14" name="Text 12"/>
          <p:cNvSpPr/>
          <p:nvPr/>
        </p:nvSpPr>
        <p:spPr>
          <a:xfrm>
            <a:off x="4343400" y="3355848"/>
            <a:ext cx="457200" cy="201168"/>
          </a:xfrm>
          <a:prstGeom prst="rect">
            <a:avLst/>
          </a:prstGeom>
          <a:noFill/>
          <a:ln/>
        </p:spPr>
        <p:txBody>
          <a:bodyPr wrap="square" lIns="0" tIns="0" rIns="0" bIns="0" rtlCol="0" anchor="ctr"/>
          <a:lstStyle/>
          <a:p>
            <a:pPr algn="ctr" indent="0" marL="0">
              <a:buNone/>
            </a:pPr>
            <a:r>
              <a:rPr lang="en-US" sz="1100" dirty="0">
                <a:solidFill>
                  <a:srgbClr val="BDBDBD"/>
                </a:solidFill>
              </a:rPr>
              <a:t>▼</a:t>
            </a:r>
            <a:endParaRPr lang="en-US" sz="1100" dirty="0"/>
          </a:p>
        </p:txBody>
      </p:sp>
      <p:sp>
        <p:nvSpPr>
          <p:cNvPr id="15" name="Shape 13"/>
          <p:cNvSpPr/>
          <p:nvPr/>
        </p:nvSpPr>
        <p:spPr>
          <a:xfrm>
            <a:off x="1097280" y="3154680"/>
            <a:ext cx="6949440" cy="749808"/>
          </a:xfrm>
          <a:prstGeom prst="rect">
            <a:avLst/>
          </a:prstGeom>
          <a:solidFill>
            <a:srgbClr val="F9A826"/>
          </a:solidFill>
          <a:ln/>
        </p:spPr>
      </p:sp>
      <p:sp>
        <p:nvSpPr>
          <p:cNvPr id="16" name="Text 14"/>
          <p:cNvSpPr/>
          <p:nvPr/>
        </p:nvSpPr>
        <p:spPr>
          <a:xfrm>
            <a:off x="1234440" y="3191256"/>
            <a:ext cx="3200400" cy="347472"/>
          </a:xfrm>
          <a:prstGeom prst="rect">
            <a:avLst/>
          </a:prstGeom>
          <a:noFill/>
          <a:ln/>
        </p:spPr>
        <p:txBody>
          <a:bodyPr wrap="square" lIns="0" tIns="0" rIns="0" bIns="0" rtlCol="0" anchor="ctr"/>
          <a:lstStyle/>
          <a:p>
            <a:pPr indent="0" marL="0">
              <a:buNone/>
            </a:pPr>
            <a:r>
              <a:rPr lang="en-US" sz="1400" b="1" dirty="0">
                <a:solidFill>
                  <a:srgbClr val="FFFFFF"/>
                </a:solidFill>
              </a:rPr>
              <a:t>SQLite Database</a:t>
            </a:r>
            <a:endParaRPr lang="en-US" sz="1400" dirty="0"/>
          </a:p>
        </p:txBody>
      </p:sp>
      <p:sp>
        <p:nvSpPr>
          <p:cNvPr id="17" name="Text 15"/>
          <p:cNvSpPr/>
          <p:nvPr/>
        </p:nvSpPr>
        <p:spPr>
          <a:xfrm>
            <a:off x="1234440" y="3557016"/>
            <a:ext cx="6583680" cy="274320"/>
          </a:xfrm>
          <a:prstGeom prst="rect">
            <a:avLst/>
          </a:prstGeom>
          <a:noFill/>
          <a:ln/>
        </p:spPr>
        <p:txBody>
          <a:bodyPr wrap="square" lIns="0" tIns="0" rIns="0" bIns="0" rtlCol="0" anchor="ctr"/>
          <a:lstStyle/>
          <a:p>
            <a:pPr indent="0" marL="0">
              <a:buNone/>
            </a:pPr>
            <a:r>
              <a:rPr lang="en-US" sz="1000" dirty="0">
                <a:solidFill>
                  <a:srgbClr val="0D1B2A"/>
                </a:solidFill>
              </a:rPr>
              <a:t>Network · Stock · Routes · Execution state</a:t>
            </a:r>
            <a:endParaRPr lang="en-US" sz="1000" dirty="0"/>
          </a:p>
        </p:txBody>
      </p:sp>
      <p:sp>
        <p:nvSpPr>
          <p:cNvPr id="18" name="Shape 16"/>
          <p:cNvSpPr/>
          <p:nvPr/>
        </p:nvSpPr>
        <p:spPr>
          <a:xfrm>
            <a:off x="91440" y="2286000"/>
            <a:ext cx="914400" cy="804672"/>
          </a:xfrm>
          <a:prstGeom prst="rect">
            <a:avLst/>
          </a:prstGeom>
          <a:solidFill>
            <a:srgbClr val="E8EDF2"/>
          </a:solidFill>
          <a:ln/>
        </p:spPr>
      </p:sp>
      <p:pic>
        <p:nvPicPr>
          <p:cNvPr id="19" name="Image 0" descr="preencoded.png">    </p:cNvPr>
          <p:cNvPicPr>
            <a:picLocks noChangeAspect="1"/>
          </p:cNvPicPr>
          <p:nvPr/>
        </p:nvPicPr>
        <p:blipFill>
          <a:blip r:embed="rId1"/>
          <a:stretch>
            <a:fillRect/>
          </a:stretch>
        </p:blipFill>
        <p:spPr>
          <a:xfrm>
            <a:off x="338328" y="2340864"/>
            <a:ext cx="411480" cy="411480"/>
          </a:xfrm>
          <a:prstGeom prst="rect">
            <a:avLst/>
          </a:prstGeom>
        </p:spPr>
      </p:pic>
      <p:sp>
        <p:nvSpPr>
          <p:cNvPr id="20" name="Text 17"/>
          <p:cNvSpPr/>
          <p:nvPr/>
        </p:nvSpPr>
        <p:spPr>
          <a:xfrm>
            <a:off x="91440" y="2798064"/>
            <a:ext cx="914400" cy="256032"/>
          </a:xfrm>
          <a:prstGeom prst="rect">
            <a:avLst/>
          </a:prstGeom>
          <a:noFill/>
          <a:ln/>
        </p:spPr>
        <p:txBody>
          <a:bodyPr wrap="square" lIns="0" tIns="0" rIns="0" bIns="0" rtlCol="0" anchor="ctr"/>
          <a:lstStyle/>
          <a:p>
            <a:pPr algn="ctr" indent="0" marL="0">
              <a:buNone/>
            </a:pPr>
            <a:r>
              <a:rPr lang="en-US" sz="900" dirty="0">
                <a:solidFill>
                  <a:srgbClr val="0D1B2A"/>
                </a:solidFill>
              </a:rPr>
              <a:t>Stores</a:t>
            </a:r>
            <a:endParaRPr lang="en-US" sz="900" dirty="0"/>
          </a:p>
        </p:txBody>
      </p:sp>
      <p:sp>
        <p:nvSpPr>
          <p:cNvPr id="21" name="Shape 18"/>
          <p:cNvSpPr/>
          <p:nvPr/>
        </p:nvSpPr>
        <p:spPr>
          <a:xfrm>
            <a:off x="1097280" y="2596896"/>
            <a:ext cx="0" cy="0"/>
          </a:xfrm>
          <a:prstGeom prst="line">
            <a:avLst/>
          </a:prstGeom>
          <a:noFill/>
          <a:ln w="19050">
            <a:solidFill>
              <a:srgbClr val="00897B"/>
            </a:solidFill>
            <a:prstDash val="dash"/>
          </a:ln>
        </p:spPr>
      </p:sp>
      <p:sp>
        <p:nvSpPr>
          <p:cNvPr id="22" name="Shape 19"/>
          <p:cNvSpPr/>
          <p:nvPr/>
        </p:nvSpPr>
        <p:spPr>
          <a:xfrm>
            <a:off x="7955280" y="2286000"/>
            <a:ext cx="914400" cy="804672"/>
          </a:xfrm>
          <a:prstGeom prst="rect">
            <a:avLst/>
          </a:prstGeom>
          <a:solidFill>
            <a:srgbClr val="E8EDF2"/>
          </a:solidFill>
          <a:ln/>
        </p:spPr>
      </p:sp>
      <p:pic>
        <p:nvPicPr>
          <p:cNvPr id="23" name="Image 1" descr="preencoded.png">    </p:cNvPr>
          <p:cNvPicPr>
            <a:picLocks noChangeAspect="1"/>
          </p:cNvPicPr>
          <p:nvPr/>
        </p:nvPicPr>
        <p:blipFill>
          <a:blip r:embed="rId2"/>
          <a:stretch>
            <a:fillRect/>
          </a:stretch>
        </p:blipFill>
        <p:spPr>
          <a:xfrm>
            <a:off x="8202168" y="2340864"/>
            <a:ext cx="411480" cy="411480"/>
          </a:xfrm>
          <a:prstGeom prst="rect">
            <a:avLst/>
          </a:prstGeom>
        </p:spPr>
      </p:pic>
      <p:sp>
        <p:nvSpPr>
          <p:cNvPr id="24" name="Text 20"/>
          <p:cNvSpPr/>
          <p:nvPr/>
        </p:nvSpPr>
        <p:spPr>
          <a:xfrm>
            <a:off x="7955280" y="2798064"/>
            <a:ext cx="914400" cy="256032"/>
          </a:xfrm>
          <a:prstGeom prst="rect">
            <a:avLst/>
          </a:prstGeom>
          <a:noFill/>
          <a:ln/>
        </p:spPr>
        <p:txBody>
          <a:bodyPr wrap="square" lIns="0" tIns="0" rIns="0" bIns="0" rtlCol="0" anchor="ctr"/>
          <a:lstStyle/>
          <a:p>
            <a:pPr algn="ctr" indent="0" marL="0">
              <a:buNone/>
            </a:pPr>
            <a:r>
              <a:rPr lang="en-US" sz="900" dirty="0">
                <a:solidFill>
                  <a:srgbClr val="0D1B2A"/>
                </a:solidFill>
              </a:rPr>
              <a:t>Factories</a:t>
            </a:r>
            <a:endParaRPr lang="en-US" sz="900" dirty="0"/>
          </a:p>
        </p:txBody>
      </p:sp>
      <p:sp>
        <p:nvSpPr>
          <p:cNvPr id="25" name="Shape 21"/>
          <p:cNvSpPr/>
          <p:nvPr/>
        </p:nvSpPr>
        <p:spPr>
          <a:xfrm>
            <a:off x="8046720" y="2596896"/>
            <a:ext cx="0" cy="0"/>
          </a:xfrm>
          <a:prstGeom prst="line">
            <a:avLst/>
          </a:prstGeom>
          <a:noFill/>
          <a:ln w="19050">
            <a:solidFill>
              <a:srgbClr val="00897B"/>
            </a:solidFill>
            <a:prstDash val="dash"/>
          </a:ln>
        </p:spPr>
      </p:sp>
      <p:sp>
        <p:nvSpPr>
          <p:cNvPr id="26" name="Shape 22"/>
          <p:cNvSpPr/>
          <p:nvPr/>
        </p:nvSpPr>
        <p:spPr>
          <a:xfrm>
            <a:off x="1005840" y="2596896"/>
            <a:ext cx="-868680" cy="0"/>
          </a:xfrm>
          <a:prstGeom prst="line">
            <a:avLst/>
          </a:prstGeom>
          <a:noFill/>
          <a:ln w="19050">
            <a:solidFill>
              <a:srgbClr val="00897B"/>
            </a:solidFill>
            <a:prstDash val="dash"/>
          </a:ln>
        </p:spPr>
      </p:sp>
      <p:sp>
        <p:nvSpPr>
          <p:cNvPr id="27" name="Shape 23"/>
          <p:cNvSpPr/>
          <p:nvPr/>
        </p:nvSpPr>
        <p:spPr>
          <a:xfrm>
            <a:off x="8046720" y="2596896"/>
            <a:ext cx="868680" cy="0"/>
          </a:xfrm>
          <a:prstGeom prst="line">
            <a:avLst/>
          </a:prstGeom>
          <a:noFill/>
          <a:ln w="19050">
            <a:solidFill>
              <a:srgbClr val="00897B"/>
            </a:solidFill>
            <a:prstDash val="dash"/>
          </a:ln>
        </p:spPr>
      </p:sp>
      <p:sp>
        <p:nvSpPr>
          <p:cNvPr id="28" name="Text 24"/>
          <p:cNvSpPr/>
          <p:nvPr/>
        </p:nvSpPr>
        <p:spPr>
          <a:xfrm>
            <a:off x="365760" y="4160520"/>
            <a:ext cx="8412480" cy="347472"/>
          </a:xfrm>
          <a:prstGeom prst="rect">
            <a:avLst/>
          </a:prstGeom>
          <a:noFill/>
          <a:ln/>
        </p:spPr>
        <p:txBody>
          <a:bodyPr wrap="square" lIns="0" tIns="0" rIns="0" bIns="0" rtlCol="0" anchor="ctr"/>
          <a:lstStyle/>
          <a:p>
            <a:pPr algn="ctr" indent="0" marL="0">
              <a:buNone/>
            </a:pPr>
            <a:r>
              <a:rPr lang="en-US" sz="1000" b="1" dirty="0">
                <a:solidFill>
                  <a:srgbClr val="00897B"/>
                </a:solidFill>
              </a:rPr>
              <a:t>  ✦  REST API connects all layers   </a:t>
            </a:r>
            <a:pPr algn="ctr" indent="0" marL="0">
              <a:buNone/>
            </a:pPr>
            <a:r>
              <a:rPr lang="en-US" sz="1000" b="1" dirty="0">
                <a:solidFill>
                  <a:srgbClr val="00897B"/>
                </a:solidFill>
              </a:rPr>
              <a:t>  ✦  Real-time auto-refresh on frontend   </a:t>
            </a:r>
            <a:pPr algn="ctr" indent="0" marL="0">
              <a:buNone/>
            </a:pPr>
            <a:r>
              <a:rPr lang="en-US" sz="1000" b="1" dirty="0">
                <a:solidFill>
                  <a:srgbClr val="00897B"/>
                </a:solidFill>
              </a:rPr>
              <a:t>  ✦  Stateful execution tracked in DB   </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365760" y="201168"/>
            <a:ext cx="1554480" cy="256032"/>
          </a:xfrm>
          <a:prstGeom prst="rect">
            <a:avLst/>
          </a:prstGeom>
          <a:solidFill>
            <a:srgbClr val="00BFA5"/>
          </a:solidFill>
          <a:ln w="12700">
            <a:solidFill>
              <a:srgbClr val="00BFA5"/>
            </a:solidFill>
            <a:prstDash val="solid"/>
          </a:ln>
        </p:spPr>
      </p:sp>
      <p:sp>
        <p:nvSpPr>
          <p:cNvPr id="3" name="Text 1"/>
          <p:cNvSpPr/>
          <p:nvPr/>
        </p:nvSpPr>
        <p:spPr>
          <a:xfrm>
            <a:off x="365760" y="192024"/>
            <a:ext cx="1554480" cy="256032"/>
          </a:xfrm>
          <a:prstGeom prst="rect">
            <a:avLst/>
          </a:prstGeom>
          <a:noFill/>
          <a:ln/>
        </p:spPr>
        <p:txBody>
          <a:bodyPr wrap="square" lIns="0" tIns="0" rIns="0" bIns="0" rtlCol="0" anchor="ctr"/>
          <a:lstStyle/>
          <a:p>
            <a:pPr algn="ctr" indent="0" marL="0">
              <a:buNone/>
            </a:pPr>
            <a:r>
              <a:rPr lang="en-US" sz="700" b="1" spc="200" kern="0" dirty="0">
                <a:solidFill>
                  <a:srgbClr val="0D1B2A"/>
                </a:solidFill>
              </a:rPr>
              <a:t>BACKEND</a:t>
            </a:r>
            <a:endParaRPr lang="en-US" sz="700" dirty="0"/>
          </a:p>
        </p:txBody>
      </p:sp>
      <p:sp>
        <p:nvSpPr>
          <p:cNvPr id="4" name="Text 2"/>
          <p:cNvSpPr/>
          <p:nvPr/>
        </p:nvSpPr>
        <p:spPr>
          <a:xfrm>
            <a:off x="365760" y="548640"/>
            <a:ext cx="8412480" cy="640080"/>
          </a:xfrm>
          <a:prstGeom prst="rect">
            <a:avLst/>
          </a:prstGeom>
          <a:noFill/>
          <a:ln/>
        </p:spPr>
        <p:txBody>
          <a:bodyPr wrap="square" lIns="0" tIns="0" rIns="0" bIns="0" rtlCol="0" anchor="ctr"/>
          <a:lstStyle/>
          <a:p>
            <a:pPr indent="0" marL="0">
              <a:buNone/>
            </a:pPr>
            <a:r>
              <a:rPr lang="en-US" sz="2600" b="1" dirty="0">
                <a:solidFill>
                  <a:srgbClr val="0D1B2A"/>
                </a:solidFill>
                <a:latin typeface="Calibri" pitchFamily="34" charset="0"/>
                <a:ea typeface="Calibri" pitchFamily="34" charset="-122"/>
                <a:cs typeface="Calibri" pitchFamily="34" charset="-120"/>
              </a:rPr>
              <a:t>FastAPI Backend &amp; API Capabilities</a:t>
            </a:r>
            <a:endParaRPr lang="en-US" sz="2600" dirty="0"/>
          </a:p>
        </p:txBody>
      </p:sp>
      <p:sp>
        <p:nvSpPr>
          <p:cNvPr id="5" name="Shape 3"/>
          <p:cNvSpPr/>
          <p:nvPr/>
        </p:nvSpPr>
        <p:spPr>
          <a:xfrm>
            <a:off x="365760" y="1325880"/>
            <a:ext cx="4114800" cy="338328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6" name="Shape 4"/>
          <p:cNvSpPr/>
          <p:nvPr/>
        </p:nvSpPr>
        <p:spPr>
          <a:xfrm>
            <a:off x="365760" y="1325880"/>
            <a:ext cx="45720" cy="3383280"/>
          </a:xfrm>
          <a:prstGeom prst="rect">
            <a:avLst/>
          </a:prstGeom>
          <a:solidFill>
            <a:srgbClr val="0D1B2A"/>
          </a:solidFill>
          <a:ln w="12700">
            <a:solidFill>
              <a:srgbClr val="0D1B2A"/>
            </a:solidFill>
            <a:prstDash val="solid"/>
          </a:ln>
        </p:spPr>
      </p:sp>
      <p:sp>
        <p:nvSpPr>
          <p:cNvPr id="7" name="Text 5"/>
          <p:cNvSpPr/>
          <p:nvPr/>
        </p:nvSpPr>
        <p:spPr>
          <a:xfrm>
            <a:off x="548640" y="1417320"/>
            <a:ext cx="3840480" cy="347472"/>
          </a:xfrm>
          <a:prstGeom prst="rect">
            <a:avLst/>
          </a:prstGeom>
          <a:noFill/>
          <a:ln/>
        </p:spPr>
        <p:txBody>
          <a:bodyPr wrap="square" lIns="0" tIns="0" rIns="0" bIns="0" rtlCol="0" anchor="ctr"/>
          <a:lstStyle/>
          <a:p>
            <a:pPr indent="0" marL="0">
              <a:buNone/>
            </a:pPr>
            <a:r>
              <a:rPr lang="en-US" sz="1300" b="1" dirty="0">
                <a:solidFill>
                  <a:srgbClr val="0D1B2A"/>
                </a:solidFill>
              </a:rPr>
              <a:t>Backend Responsibilities</a:t>
            </a:r>
            <a:endParaRPr lang="en-US" sz="1300" dirty="0"/>
          </a:p>
        </p:txBody>
      </p:sp>
      <p:sp>
        <p:nvSpPr>
          <p:cNvPr id="8" name="Text 6"/>
          <p:cNvSpPr/>
          <p:nvPr/>
        </p:nvSpPr>
        <p:spPr>
          <a:xfrm>
            <a:off x="594360" y="1828800"/>
            <a:ext cx="3794760" cy="265176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334455"/>
                </a:solidFill>
              </a:rPr>
              <a:t>Route generation with solver integration</a:t>
            </a:r>
            <a:endParaRPr lang="en-US" sz="1050" dirty="0"/>
          </a:p>
          <a:p>
            <a:pPr marL="342900" indent="-342900">
              <a:spcAft>
                <a:spcPts val="400"/>
              </a:spcAft>
              <a:buSzPct val="100000"/>
              <a:buChar char="•"/>
            </a:pPr>
            <a:r>
              <a:rPr lang="en-US" sz="1050" dirty="0">
                <a:solidFill>
                  <a:srgbClr val="334455"/>
                </a:solidFill>
              </a:rPr>
              <a:t>Warehouse execution flow coordination</a:t>
            </a:r>
            <a:endParaRPr lang="en-US" sz="1050" dirty="0"/>
          </a:p>
          <a:p>
            <a:pPr marL="342900" indent="-342900">
              <a:spcAft>
                <a:spcPts val="400"/>
              </a:spcAft>
              <a:buSzPct val="100000"/>
              <a:buChar char="•"/>
            </a:pPr>
            <a:r>
              <a:rPr lang="en-US" sz="1050" dirty="0">
                <a:solidFill>
                  <a:srgbClr val="334455"/>
                </a:solidFill>
              </a:rPr>
              <a:t>Truck state management &amp; tracking</a:t>
            </a:r>
            <a:endParaRPr lang="en-US" sz="1050" dirty="0"/>
          </a:p>
          <a:p>
            <a:pPr marL="342900" indent="-342900">
              <a:spcAft>
                <a:spcPts val="400"/>
              </a:spcAft>
              <a:buSzPct val="100000"/>
              <a:buChar char="•"/>
            </a:pPr>
            <a:r>
              <a:rPr lang="en-US" sz="1050" dirty="0">
                <a:solidFill>
                  <a:srgbClr val="334455"/>
                </a:solidFill>
              </a:rPr>
              <a:t>Urgent demand routing logic</a:t>
            </a:r>
            <a:endParaRPr lang="en-US" sz="1050" dirty="0"/>
          </a:p>
          <a:p>
            <a:pPr marL="342900" indent="-342900">
              <a:spcAft>
                <a:spcPts val="400"/>
              </a:spcAft>
              <a:buSzPct val="100000"/>
              <a:buChar char="•"/>
            </a:pPr>
            <a:r>
              <a:rPr lang="en-US" sz="1050" dirty="0">
                <a:solidFill>
                  <a:srgbClr val="334455"/>
                </a:solidFill>
              </a:rPr>
              <a:t>Network graph management</a:t>
            </a:r>
            <a:endParaRPr lang="en-US" sz="1050" dirty="0"/>
          </a:p>
          <a:p>
            <a:pPr marL="342900" indent="-342900">
              <a:spcAft>
                <a:spcPts val="400"/>
              </a:spcAft>
              <a:buSzPct val="100000"/>
              <a:buChar char="•"/>
            </a:pPr>
            <a:r>
              <a:rPr lang="en-US" sz="1050" dirty="0">
                <a:solidFill>
                  <a:srgbClr val="334455"/>
                </a:solidFill>
              </a:rPr>
              <a:t>File upload &amp; configuration endpoints</a:t>
            </a:r>
            <a:endParaRPr lang="en-US" sz="1050" dirty="0"/>
          </a:p>
          <a:p>
            <a:pPr marL="342900" indent="-342900">
              <a:spcAft>
                <a:spcPts val="400"/>
              </a:spcAft>
              <a:buSzPct val="100000"/>
              <a:buChar char="•"/>
            </a:pPr>
            <a:r>
              <a:rPr lang="en-US" sz="1050" dirty="0">
                <a:solidFill>
                  <a:srgbClr val="334455"/>
                </a:solidFill>
              </a:rPr>
              <a:t>Data synchronization between layers</a:t>
            </a:r>
            <a:endParaRPr lang="en-US" sz="1050" dirty="0"/>
          </a:p>
        </p:txBody>
      </p:sp>
      <p:sp>
        <p:nvSpPr>
          <p:cNvPr id="9" name="Text 7"/>
          <p:cNvSpPr/>
          <p:nvPr/>
        </p:nvSpPr>
        <p:spPr>
          <a:xfrm>
            <a:off x="4663440" y="1417320"/>
            <a:ext cx="4114800" cy="347472"/>
          </a:xfrm>
          <a:prstGeom prst="rect">
            <a:avLst/>
          </a:prstGeom>
          <a:noFill/>
          <a:ln/>
        </p:spPr>
        <p:txBody>
          <a:bodyPr wrap="square" lIns="0" tIns="0" rIns="0" bIns="0" rtlCol="0" anchor="ctr"/>
          <a:lstStyle/>
          <a:p>
            <a:pPr indent="0" marL="0">
              <a:buNone/>
            </a:pPr>
            <a:r>
              <a:rPr lang="en-US" sz="1300" b="1" dirty="0">
                <a:solidFill>
                  <a:srgbClr val="0D1B2A"/>
                </a:solidFill>
              </a:rPr>
              <a:t>API Endpoints</a:t>
            </a:r>
            <a:endParaRPr lang="en-US" sz="1300" dirty="0"/>
          </a:p>
        </p:txBody>
      </p:sp>
      <p:sp>
        <p:nvSpPr>
          <p:cNvPr id="10" name="Shape 8"/>
          <p:cNvSpPr/>
          <p:nvPr/>
        </p:nvSpPr>
        <p:spPr>
          <a:xfrm>
            <a:off x="4663440" y="1828800"/>
            <a:ext cx="1965960" cy="530352"/>
          </a:xfrm>
          <a:prstGeom prst="rect">
            <a:avLst/>
          </a:prstGeom>
          <a:solidFill>
            <a:srgbClr val="EEF2F7"/>
          </a:solidFill>
          <a:ln/>
        </p:spPr>
      </p:sp>
      <p:sp>
        <p:nvSpPr>
          <p:cNvPr id="11" name="Shape 9"/>
          <p:cNvSpPr/>
          <p:nvPr/>
        </p:nvSpPr>
        <p:spPr>
          <a:xfrm>
            <a:off x="4663440" y="1828800"/>
            <a:ext cx="36576" cy="530352"/>
          </a:xfrm>
          <a:prstGeom prst="rect">
            <a:avLst/>
          </a:prstGeom>
          <a:solidFill>
            <a:srgbClr val="1565C0"/>
          </a:solidFill>
          <a:ln w="12700">
            <a:solidFill>
              <a:srgbClr val="1565C0"/>
            </a:solidFill>
            <a:prstDash val="solid"/>
          </a:ln>
        </p:spPr>
      </p:sp>
      <p:sp>
        <p:nvSpPr>
          <p:cNvPr id="12" name="Text 10"/>
          <p:cNvSpPr/>
          <p:nvPr/>
        </p:nvSpPr>
        <p:spPr>
          <a:xfrm>
            <a:off x="4754880" y="1856232"/>
            <a:ext cx="1828800" cy="201168"/>
          </a:xfrm>
          <a:prstGeom prst="rect">
            <a:avLst/>
          </a:prstGeom>
          <a:noFill/>
          <a:ln/>
        </p:spPr>
        <p:txBody>
          <a:bodyPr wrap="square" lIns="0" tIns="0" rIns="0" bIns="0" rtlCol="0" anchor="ctr"/>
          <a:lstStyle/>
          <a:p>
            <a:pPr indent="0" marL="0">
              <a:buNone/>
            </a:pPr>
            <a:r>
              <a:rPr lang="en-US" sz="750" b="1" dirty="0">
                <a:solidFill>
                  <a:srgbClr val="1565C0"/>
                </a:solidFill>
              </a:rPr>
              <a:t>GET/POST</a:t>
            </a:r>
            <a:endParaRPr lang="en-US" sz="750" dirty="0"/>
          </a:p>
        </p:txBody>
      </p:sp>
      <p:sp>
        <p:nvSpPr>
          <p:cNvPr id="13" name="Text 11"/>
          <p:cNvSpPr/>
          <p:nvPr/>
        </p:nvSpPr>
        <p:spPr>
          <a:xfrm>
            <a:off x="4754880" y="2057400"/>
            <a:ext cx="1828800" cy="182880"/>
          </a:xfrm>
          <a:prstGeom prst="rect">
            <a:avLst/>
          </a:prstGeom>
          <a:noFill/>
          <a:ln/>
        </p:spPr>
        <p:txBody>
          <a:bodyPr wrap="square" lIns="0" tIns="0" rIns="0" bIns="0" rtlCol="0" anchor="ctr"/>
          <a:lstStyle/>
          <a:p>
            <a:pPr indent="0" marL="0">
              <a:buNone/>
            </a:pPr>
            <a:r>
              <a:rPr lang="en-US" sz="900" b="1" dirty="0">
                <a:solidFill>
                  <a:srgbClr val="0D1B2A"/>
                </a:solidFill>
                <a:latin typeface="Consolas" pitchFamily="34" charset="0"/>
                <a:ea typeface="Consolas" pitchFamily="34" charset="-122"/>
                <a:cs typeface="Consolas" pitchFamily="34" charset="-120"/>
              </a:rPr>
              <a:t>/network</a:t>
            </a:r>
            <a:endParaRPr lang="en-US" sz="900" dirty="0"/>
          </a:p>
        </p:txBody>
      </p:sp>
      <p:sp>
        <p:nvSpPr>
          <p:cNvPr id="14" name="Text 12"/>
          <p:cNvSpPr/>
          <p:nvPr/>
        </p:nvSpPr>
        <p:spPr>
          <a:xfrm>
            <a:off x="4754880" y="2231136"/>
            <a:ext cx="1828800" cy="128016"/>
          </a:xfrm>
          <a:prstGeom prst="rect">
            <a:avLst/>
          </a:prstGeom>
          <a:noFill/>
          <a:ln/>
        </p:spPr>
        <p:txBody>
          <a:bodyPr wrap="square" lIns="0" tIns="0" rIns="0" bIns="0" rtlCol="0" anchor="ctr"/>
          <a:lstStyle/>
          <a:p>
            <a:pPr indent="0" marL="0">
              <a:buNone/>
            </a:pPr>
            <a:r>
              <a:rPr lang="en-US" sz="750" dirty="0">
                <a:solidFill>
                  <a:srgbClr val="8A9BAB"/>
                </a:solidFill>
              </a:rPr>
              <a:t>Graph nodes &amp; edges</a:t>
            </a:r>
            <a:endParaRPr lang="en-US" sz="750" dirty="0"/>
          </a:p>
        </p:txBody>
      </p:sp>
      <p:sp>
        <p:nvSpPr>
          <p:cNvPr id="15" name="Shape 13"/>
          <p:cNvSpPr/>
          <p:nvPr/>
        </p:nvSpPr>
        <p:spPr>
          <a:xfrm>
            <a:off x="6766560" y="1828800"/>
            <a:ext cx="1965960" cy="530352"/>
          </a:xfrm>
          <a:prstGeom prst="rect">
            <a:avLst/>
          </a:prstGeom>
          <a:solidFill>
            <a:srgbClr val="EEF2F7"/>
          </a:solidFill>
          <a:ln/>
        </p:spPr>
      </p:sp>
      <p:sp>
        <p:nvSpPr>
          <p:cNvPr id="16" name="Shape 14"/>
          <p:cNvSpPr/>
          <p:nvPr/>
        </p:nvSpPr>
        <p:spPr>
          <a:xfrm>
            <a:off x="6766560" y="1828800"/>
            <a:ext cx="36576" cy="530352"/>
          </a:xfrm>
          <a:prstGeom prst="rect">
            <a:avLst/>
          </a:prstGeom>
          <a:solidFill>
            <a:srgbClr val="00BFA5"/>
          </a:solidFill>
          <a:ln w="12700">
            <a:solidFill>
              <a:srgbClr val="00BFA5"/>
            </a:solidFill>
            <a:prstDash val="solid"/>
          </a:ln>
        </p:spPr>
      </p:sp>
      <p:sp>
        <p:nvSpPr>
          <p:cNvPr id="17" name="Text 15"/>
          <p:cNvSpPr/>
          <p:nvPr/>
        </p:nvSpPr>
        <p:spPr>
          <a:xfrm>
            <a:off x="6858000" y="1856232"/>
            <a:ext cx="1828800" cy="201168"/>
          </a:xfrm>
          <a:prstGeom prst="rect">
            <a:avLst/>
          </a:prstGeom>
          <a:noFill/>
          <a:ln/>
        </p:spPr>
        <p:txBody>
          <a:bodyPr wrap="square" lIns="0" tIns="0" rIns="0" bIns="0" rtlCol="0" anchor="ctr"/>
          <a:lstStyle/>
          <a:p>
            <a:pPr indent="0" marL="0">
              <a:buNone/>
            </a:pPr>
            <a:r>
              <a:rPr lang="en-US" sz="750" b="1" dirty="0">
                <a:solidFill>
                  <a:srgbClr val="00BFA5"/>
                </a:solidFill>
              </a:rPr>
              <a:t>POST</a:t>
            </a:r>
            <a:endParaRPr lang="en-US" sz="750" dirty="0"/>
          </a:p>
        </p:txBody>
      </p:sp>
      <p:sp>
        <p:nvSpPr>
          <p:cNvPr id="18" name="Text 16"/>
          <p:cNvSpPr/>
          <p:nvPr/>
        </p:nvSpPr>
        <p:spPr>
          <a:xfrm>
            <a:off x="6858000" y="2057400"/>
            <a:ext cx="1828800" cy="182880"/>
          </a:xfrm>
          <a:prstGeom prst="rect">
            <a:avLst/>
          </a:prstGeom>
          <a:noFill/>
          <a:ln/>
        </p:spPr>
        <p:txBody>
          <a:bodyPr wrap="square" lIns="0" tIns="0" rIns="0" bIns="0" rtlCol="0" anchor="ctr"/>
          <a:lstStyle/>
          <a:p>
            <a:pPr indent="0" marL="0">
              <a:buNone/>
            </a:pPr>
            <a:r>
              <a:rPr lang="en-US" sz="900" b="1" dirty="0">
                <a:solidFill>
                  <a:srgbClr val="0D1B2A"/>
                </a:solidFill>
                <a:latin typeface="Consolas" pitchFamily="34" charset="0"/>
                <a:ea typeface="Consolas" pitchFamily="34" charset="-122"/>
                <a:cs typeface="Consolas" pitchFamily="34" charset="-120"/>
              </a:rPr>
              <a:t>/routes</a:t>
            </a:r>
            <a:endParaRPr lang="en-US" sz="900" dirty="0"/>
          </a:p>
        </p:txBody>
      </p:sp>
      <p:sp>
        <p:nvSpPr>
          <p:cNvPr id="19" name="Text 17"/>
          <p:cNvSpPr/>
          <p:nvPr/>
        </p:nvSpPr>
        <p:spPr>
          <a:xfrm>
            <a:off x="6858000" y="2231136"/>
            <a:ext cx="1828800" cy="128016"/>
          </a:xfrm>
          <a:prstGeom prst="rect">
            <a:avLst/>
          </a:prstGeom>
          <a:noFill/>
          <a:ln/>
        </p:spPr>
        <p:txBody>
          <a:bodyPr wrap="square" lIns="0" tIns="0" rIns="0" bIns="0" rtlCol="0" anchor="ctr"/>
          <a:lstStyle/>
          <a:p>
            <a:pPr indent="0" marL="0">
              <a:buNone/>
            </a:pPr>
            <a:r>
              <a:rPr lang="en-US" sz="750" dirty="0">
                <a:solidFill>
                  <a:srgbClr val="8A9BAB"/>
                </a:solidFill>
              </a:rPr>
              <a:t>Route generation</a:t>
            </a:r>
            <a:endParaRPr lang="en-US" sz="750" dirty="0"/>
          </a:p>
        </p:txBody>
      </p:sp>
      <p:sp>
        <p:nvSpPr>
          <p:cNvPr id="20" name="Shape 18"/>
          <p:cNvSpPr/>
          <p:nvPr/>
        </p:nvSpPr>
        <p:spPr>
          <a:xfrm>
            <a:off x="4663440" y="2450592"/>
            <a:ext cx="1965960" cy="530352"/>
          </a:xfrm>
          <a:prstGeom prst="rect">
            <a:avLst/>
          </a:prstGeom>
          <a:solidFill>
            <a:srgbClr val="EEF2F7"/>
          </a:solidFill>
          <a:ln/>
        </p:spPr>
      </p:sp>
      <p:sp>
        <p:nvSpPr>
          <p:cNvPr id="21" name="Shape 19"/>
          <p:cNvSpPr/>
          <p:nvPr/>
        </p:nvSpPr>
        <p:spPr>
          <a:xfrm>
            <a:off x="4663440" y="2450592"/>
            <a:ext cx="36576" cy="530352"/>
          </a:xfrm>
          <a:prstGeom prst="rect">
            <a:avLst/>
          </a:prstGeom>
          <a:solidFill>
            <a:srgbClr val="00BFA5"/>
          </a:solidFill>
          <a:ln w="12700">
            <a:solidFill>
              <a:srgbClr val="00BFA5"/>
            </a:solidFill>
            <a:prstDash val="solid"/>
          </a:ln>
        </p:spPr>
      </p:sp>
      <p:sp>
        <p:nvSpPr>
          <p:cNvPr id="22" name="Text 20"/>
          <p:cNvSpPr/>
          <p:nvPr/>
        </p:nvSpPr>
        <p:spPr>
          <a:xfrm>
            <a:off x="4754880" y="2478024"/>
            <a:ext cx="1828800" cy="201168"/>
          </a:xfrm>
          <a:prstGeom prst="rect">
            <a:avLst/>
          </a:prstGeom>
          <a:noFill/>
          <a:ln/>
        </p:spPr>
        <p:txBody>
          <a:bodyPr wrap="square" lIns="0" tIns="0" rIns="0" bIns="0" rtlCol="0" anchor="ctr"/>
          <a:lstStyle/>
          <a:p>
            <a:pPr indent="0" marL="0">
              <a:buNone/>
            </a:pPr>
            <a:r>
              <a:rPr lang="en-US" sz="750" b="1" dirty="0">
                <a:solidFill>
                  <a:srgbClr val="00BFA5"/>
                </a:solidFill>
              </a:rPr>
              <a:t>POST</a:t>
            </a:r>
            <a:endParaRPr lang="en-US" sz="750" dirty="0"/>
          </a:p>
        </p:txBody>
      </p:sp>
      <p:sp>
        <p:nvSpPr>
          <p:cNvPr id="23" name="Text 21"/>
          <p:cNvSpPr/>
          <p:nvPr/>
        </p:nvSpPr>
        <p:spPr>
          <a:xfrm>
            <a:off x="4754880" y="2679192"/>
            <a:ext cx="1828800" cy="182880"/>
          </a:xfrm>
          <a:prstGeom prst="rect">
            <a:avLst/>
          </a:prstGeom>
          <a:noFill/>
          <a:ln/>
        </p:spPr>
        <p:txBody>
          <a:bodyPr wrap="square" lIns="0" tIns="0" rIns="0" bIns="0" rtlCol="0" anchor="ctr"/>
          <a:lstStyle/>
          <a:p>
            <a:pPr indent="0" marL="0">
              <a:buNone/>
            </a:pPr>
            <a:r>
              <a:rPr lang="en-US" sz="900" b="1" dirty="0">
                <a:solidFill>
                  <a:srgbClr val="0D1B2A"/>
                </a:solidFill>
                <a:latin typeface="Consolas" pitchFamily="34" charset="0"/>
                <a:ea typeface="Consolas" pitchFamily="34" charset="-122"/>
                <a:cs typeface="Consolas" pitchFamily="34" charset="-120"/>
              </a:rPr>
              <a:t>/execution</a:t>
            </a:r>
            <a:endParaRPr lang="en-US" sz="900" dirty="0"/>
          </a:p>
        </p:txBody>
      </p:sp>
      <p:sp>
        <p:nvSpPr>
          <p:cNvPr id="24" name="Text 22"/>
          <p:cNvSpPr/>
          <p:nvPr/>
        </p:nvSpPr>
        <p:spPr>
          <a:xfrm>
            <a:off x="4754880" y="2852928"/>
            <a:ext cx="1828800" cy="128016"/>
          </a:xfrm>
          <a:prstGeom prst="rect">
            <a:avLst/>
          </a:prstGeom>
          <a:noFill/>
          <a:ln/>
        </p:spPr>
        <p:txBody>
          <a:bodyPr wrap="square" lIns="0" tIns="0" rIns="0" bIns="0" rtlCol="0" anchor="ctr"/>
          <a:lstStyle/>
          <a:p>
            <a:pPr indent="0" marL="0">
              <a:buNone/>
            </a:pPr>
            <a:r>
              <a:rPr lang="en-US" sz="750" dirty="0">
                <a:solidFill>
                  <a:srgbClr val="8A9BAB"/>
                </a:solidFill>
              </a:rPr>
              <a:t>Warehouse actions</a:t>
            </a:r>
            <a:endParaRPr lang="en-US" sz="750" dirty="0"/>
          </a:p>
        </p:txBody>
      </p:sp>
      <p:sp>
        <p:nvSpPr>
          <p:cNvPr id="25" name="Shape 23"/>
          <p:cNvSpPr/>
          <p:nvPr/>
        </p:nvSpPr>
        <p:spPr>
          <a:xfrm>
            <a:off x="6766560" y="2450592"/>
            <a:ext cx="1965960" cy="530352"/>
          </a:xfrm>
          <a:prstGeom prst="rect">
            <a:avLst/>
          </a:prstGeom>
          <a:solidFill>
            <a:srgbClr val="EEF2F7"/>
          </a:solidFill>
          <a:ln/>
        </p:spPr>
      </p:sp>
      <p:sp>
        <p:nvSpPr>
          <p:cNvPr id="26" name="Shape 24"/>
          <p:cNvSpPr/>
          <p:nvPr/>
        </p:nvSpPr>
        <p:spPr>
          <a:xfrm>
            <a:off x="6766560" y="2450592"/>
            <a:ext cx="36576" cy="530352"/>
          </a:xfrm>
          <a:prstGeom prst="rect">
            <a:avLst/>
          </a:prstGeom>
          <a:solidFill>
            <a:srgbClr val="00BFA5"/>
          </a:solidFill>
          <a:ln w="12700">
            <a:solidFill>
              <a:srgbClr val="00BFA5"/>
            </a:solidFill>
            <a:prstDash val="solid"/>
          </a:ln>
        </p:spPr>
      </p:sp>
      <p:sp>
        <p:nvSpPr>
          <p:cNvPr id="27" name="Text 25"/>
          <p:cNvSpPr/>
          <p:nvPr/>
        </p:nvSpPr>
        <p:spPr>
          <a:xfrm>
            <a:off x="6858000" y="2478024"/>
            <a:ext cx="1828800" cy="201168"/>
          </a:xfrm>
          <a:prstGeom prst="rect">
            <a:avLst/>
          </a:prstGeom>
          <a:noFill/>
          <a:ln/>
        </p:spPr>
        <p:txBody>
          <a:bodyPr wrap="square" lIns="0" tIns="0" rIns="0" bIns="0" rtlCol="0" anchor="ctr"/>
          <a:lstStyle/>
          <a:p>
            <a:pPr indent="0" marL="0">
              <a:buNone/>
            </a:pPr>
            <a:r>
              <a:rPr lang="en-US" sz="750" b="1" dirty="0">
                <a:solidFill>
                  <a:srgbClr val="00BFA5"/>
                </a:solidFill>
              </a:rPr>
              <a:t>POST</a:t>
            </a:r>
            <a:endParaRPr lang="en-US" sz="750" dirty="0"/>
          </a:p>
        </p:txBody>
      </p:sp>
      <p:sp>
        <p:nvSpPr>
          <p:cNvPr id="28" name="Text 26"/>
          <p:cNvSpPr/>
          <p:nvPr/>
        </p:nvSpPr>
        <p:spPr>
          <a:xfrm>
            <a:off x="6858000" y="2679192"/>
            <a:ext cx="1828800" cy="182880"/>
          </a:xfrm>
          <a:prstGeom prst="rect">
            <a:avLst/>
          </a:prstGeom>
          <a:noFill/>
          <a:ln/>
        </p:spPr>
        <p:txBody>
          <a:bodyPr wrap="square" lIns="0" tIns="0" rIns="0" bIns="0" rtlCol="0" anchor="ctr"/>
          <a:lstStyle/>
          <a:p>
            <a:pPr indent="0" marL="0">
              <a:buNone/>
            </a:pPr>
            <a:r>
              <a:rPr lang="en-US" sz="900" b="1" dirty="0">
                <a:solidFill>
                  <a:srgbClr val="0D1B2A"/>
                </a:solidFill>
                <a:latin typeface="Consolas" pitchFamily="34" charset="0"/>
                <a:ea typeface="Consolas" pitchFamily="34" charset="-122"/>
                <a:cs typeface="Consolas" pitchFamily="34" charset="-120"/>
              </a:rPr>
              <a:t>/rerouting</a:t>
            </a:r>
            <a:endParaRPr lang="en-US" sz="900" dirty="0"/>
          </a:p>
        </p:txBody>
      </p:sp>
      <p:sp>
        <p:nvSpPr>
          <p:cNvPr id="29" name="Text 27"/>
          <p:cNvSpPr/>
          <p:nvPr/>
        </p:nvSpPr>
        <p:spPr>
          <a:xfrm>
            <a:off x="6858000" y="2852928"/>
            <a:ext cx="1828800" cy="128016"/>
          </a:xfrm>
          <a:prstGeom prst="rect">
            <a:avLst/>
          </a:prstGeom>
          <a:noFill/>
          <a:ln/>
        </p:spPr>
        <p:txBody>
          <a:bodyPr wrap="square" lIns="0" tIns="0" rIns="0" bIns="0" rtlCol="0" anchor="ctr"/>
          <a:lstStyle/>
          <a:p>
            <a:pPr indent="0" marL="0">
              <a:buNone/>
            </a:pPr>
            <a:r>
              <a:rPr lang="en-US" sz="750" dirty="0">
                <a:solidFill>
                  <a:srgbClr val="8A9BAB"/>
                </a:solidFill>
              </a:rPr>
              <a:t>Dynamic rerouting</a:t>
            </a:r>
            <a:endParaRPr lang="en-US" sz="750" dirty="0"/>
          </a:p>
        </p:txBody>
      </p:sp>
      <p:sp>
        <p:nvSpPr>
          <p:cNvPr id="30" name="Shape 28"/>
          <p:cNvSpPr/>
          <p:nvPr/>
        </p:nvSpPr>
        <p:spPr>
          <a:xfrm>
            <a:off x="4663440" y="3072384"/>
            <a:ext cx="1965960" cy="530352"/>
          </a:xfrm>
          <a:prstGeom prst="rect">
            <a:avLst/>
          </a:prstGeom>
          <a:solidFill>
            <a:srgbClr val="EEF2F7"/>
          </a:solidFill>
          <a:ln/>
        </p:spPr>
      </p:sp>
      <p:sp>
        <p:nvSpPr>
          <p:cNvPr id="31" name="Shape 29"/>
          <p:cNvSpPr/>
          <p:nvPr/>
        </p:nvSpPr>
        <p:spPr>
          <a:xfrm>
            <a:off x="4663440" y="3072384"/>
            <a:ext cx="36576" cy="530352"/>
          </a:xfrm>
          <a:prstGeom prst="rect">
            <a:avLst/>
          </a:prstGeom>
          <a:solidFill>
            <a:srgbClr val="00BFA5"/>
          </a:solidFill>
          <a:ln w="12700">
            <a:solidFill>
              <a:srgbClr val="00BFA5"/>
            </a:solidFill>
            <a:prstDash val="solid"/>
          </a:ln>
        </p:spPr>
      </p:sp>
      <p:sp>
        <p:nvSpPr>
          <p:cNvPr id="32" name="Text 30"/>
          <p:cNvSpPr/>
          <p:nvPr/>
        </p:nvSpPr>
        <p:spPr>
          <a:xfrm>
            <a:off x="4754880" y="3099816"/>
            <a:ext cx="1828800" cy="201168"/>
          </a:xfrm>
          <a:prstGeom prst="rect">
            <a:avLst/>
          </a:prstGeom>
          <a:noFill/>
          <a:ln/>
        </p:spPr>
        <p:txBody>
          <a:bodyPr wrap="square" lIns="0" tIns="0" rIns="0" bIns="0" rtlCol="0" anchor="ctr"/>
          <a:lstStyle/>
          <a:p>
            <a:pPr indent="0" marL="0">
              <a:buNone/>
            </a:pPr>
            <a:r>
              <a:rPr lang="en-US" sz="750" b="1" dirty="0">
                <a:solidFill>
                  <a:srgbClr val="00BFA5"/>
                </a:solidFill>
              </a:rPr>
              <a:t>POST</a:t>
            </a:r>
            <a:endParaRPr lang="en-US" sz="750" dirty="0"/>
          </a:p>
        </p:txBody>
      </p:sp>
      <p:sp>
        <p:nvSpPr>
          <p:cNvPr id="33" name="Text 31"/>
          <p:cNvSpPr/>
          <p:nvPr/>
        </p:nvSpPr>
        <p:spPr>
          <a:xfrm>
            <a:off x="4754880" y="3300984"/>
            <a:ext cx="1828800" cy="182880"/>
          </a:xfrm>
          <a:prstGeom prst="rect">
            <a:avLst/>
          </a:prstGeom>
          <a:noFill/>
          <a:ln/>
        </p:spPr>
        <p:txBody>
          <a:bodyPr wrap="square" lIns="0" tIns="0" rIns="0" bIns="0" rtlCol="0" anchor="ctr"/>
          <a:lstStyle/>
          <a:p>
            <a:pPr indent="0" marL="0">
              <a:buNone/>
            </a:pPr>
            <a:r>
              <a:rPr lang="en-US" sz="900" b="1" dirty="0">
                <a:solidFill>
                  <a:srgbClr val="0D1B2A"/>
                </a:solidFill>
                <a:latin typeface="Consolas" pitchFamily="34" charset="0"/>
                <a:ea typeface="Consolas" pitchFamily="34" charset="-122"/>
                <a:cs typeface="Consolas" pitchFamily="34" charset="-120"/>
              </a:rPr>
              <a:t>/urgent</a:t>
            </a:r>
            <a:endParaRPr lang="en-US" sz="900" dirty="0"/>
          </a:p>
        </p:txBody>
      </p:sp>
      <p:sp>
        <p:nvSpPr>
          <p:cNvPr id="34" name="Text 32"/>
          <p:cNvSpPr/>
          <p:nvPr/>
        </p:nvSpPr>
        <p:spPr>
          <a:xfrm>
            <a:off x="4754880" y="3474720"/>
            <a:ext cx="1828800" cy="128016"/>
          </a:xfrm>
          <a:prstGeom prst="rect">
            <a:avLst/>
          </a:prstGeom>
          <a:noFill/>
          <a:ln/>
        </p:spPr>
        <p:txBody>
          <a:bodyPr wrap="square" lIns="0" tIns="0" rIns="0" bIns="0" rtlCol="0" anchor="ctr"/>
          <a:lstStyle/>
          <a:p>
            <a:pPr indent="0" marL="0">
              <a:buNone/>
            </a:pPr>
            <a:r>
              <a:rPr lang="en-US" sz="750" dirty="0">
                <a:solidFill>
                  <a:srgbClr val="8A9BAB"/>
                </a:solidFill>
              </a:rPr>
              <a:t>Urgent demand</a:t>
            </a:r>
            <a:endParaRPr lang="en-US" sz="750" dirty="0"/>
          </a:p>
        </p:txBody>
      </p:sp>
      <p:sp>
        <p:nvSpPr>
          <p:cNvPr id="35" name="Shape 33"/>
          <p:cNvSpPr/>
          <p:nvPr/>
        </p:nvSpPr>
        <p:spPr>
          <a:xfrm>
            <a:off x="6766560" y="3072384"/>
            <a:ext cx="1965960" cy="530352"/>
          </a:xfrm>
          <a:prstGeom prst="rect">
            <a:avLst/>
          </a:prstGeom>
          <a:solidFill>
            <a:srgbClr val="EEF2F7"/>
          </a:solidFill>
          <a:ln/>
        </p:spPr>
      </p:sp>
      <p:sp>
        <p:nvSpPr>
          <p:cNvPr id="36" name="Shape 34"/>
          <p:cNvSpPr/>
          <p:nvPr/>
        </p:nvSpPr>
        <p:spPr>
          <a:xfrm>
            <a:off x="6766560" y="3072384"/>
            <a:ext cx="36576" cy="530352"/>
          </a:xfrm>
          <a:prstGeom prst="rect">
            <a:avLst/>
          </a:prstGeom>
          <a:solidFill>
            <a:srgbClr val="1565C0"/>
          </a:solidFill>
          <a:ln w="12700">
            <a:solidFill>
              <a:srgbClr val="1565C0"/>
            </a:solidFill>
            <a:prstDash val="solid"/>
          </a:ln>
        </p:spPr>
      </p:sp>
      <p:sp>
        <p:nvSpPr>
          <p:cNvPr id="37" name="Text 35"/>
          <p:cNvSpPr/>
          <p:nvPr/>
        </p:nvSpPr>
        <p:spPr>
          <a:xfrm>
            <a:off x="6858000" y="3099816"/>
            <a:ext cx="1828800" cy="201168"/>
          </a:xfrm>
          <a:prstGeom prst="rect">
            <a:avLst/>
          </a:prstGeom>
          <a:noFill/>
          <a:ln/>
        </p:spPr>
        <p:txBody>
          <a:bodyPr wrap="square" lIns="0" tIns="0" rIns="0" bIns="0" rtlCol="0" anchor="ctr"/>
          <a:lstStyle/>
          <a:p>
            <a:pPr indent="0" marL="0">
              <a:buNone/>
            </a:pPr>
            <a:r>
              <a:rPr lang="en-US" sz="750" b="1" dirty="0">
                <a:solidFill>
                  <a:srgbClr val="1565C0"/>
                </a:solidFill>
              </a:rPr>
              <a:t>GET</a:t>
            </a:r>
            <a:endParaRPr lang="en-US" sz="750" dirty="0"/>
          </a:p>
        </p:txBody>
      </p:sp>
      <p:sp>
        <p:nvSpPr>
          <p:cNvPr id="38" name="Text 36"/>
          <p:cNvSpPr/>
          <p:nvPr/>
        </p:nvSpPr>
        <p:spPr>
          <a:xfrm>
            <a:off x="6858000" y="3300984"/>
            <a:ext cx="1828800" cy="182880"/>
          </a:xfrm>
          <a:prstGeom prst="rect">
            <a:avLst/>
          </a:prstGeom>
          <a:noFill/>
          <a:ln/>
        </p:spPr>
        <p:txBody>
          <a:bodyPr wrap="square" lIns="0" tIns="0" rIns="0" bIns="0" rtlCol="0" anchor="ctr"/>
          <a:lstStyle/>
          <a:p>
            <a:pPr indent="0" marL="0">
              <a:buNone/>
            </a:pPr>
            <a:r>
              <a:rPr lang="en-US" sz="900" b="1" dirty="0">
                <a:solidFill>
                  <a:srgbClr val="0D1B2A"/>
                </a:solidFill>
                <a:latin typeface="Consolas" pitchFamily="34" charset="0"/>
                <a:ea typeface="Consolas" pitchFamily="34" charset="-122"/>
                <a:cs typeface="Consolas" pitchFamily="34" charset="-120"/>
              </a:rPr>
              <a:t>/stock</a:t>
            </a:r>
            <a:endParaRPr lang="en-US" sz="900" dirty="0"/>
          </a:p>
        </p:txBody>
      </p:sp>
      <p:sp>
        <p:nvSpPr>
          <p:cNvPr id="39" name="Text 37"/>
          <p:cNvSpPr/>
          <p:nvPr/>
        </p:nvSpPr>
        <p:spPr>
          <a:xfrm>
            <a:off x="6858000" y="3474720"/>
            <a:ext cx="1828800" cy="128016"/>
          </a:xfrm>
          <a:prstGeom prst="rect">
            <a:avLst/>
          </a:prstGeom>
          <a:noFill/>
          <a:ln/>
        </p:spPr>
        <p:txBody>
          <a:bodyPr wrap="square" lIns="0" tIns="0" rIns="0" bIns="0" rtlCol="0" anchor="ctr"/>
          <a:lstStyle/>
          <a:p>
            <a:pPr indent="0" marL="0">
              <a:buNone/>
            </a:pPr>
            <a:r>
              <a:rPr lang="en-US" sz="750" dirty="0">
                <a:solidFill>
                  <a:srgbClr val="8A9BAB"/>
                </a:solidFill>
              </a:rPr>
              <a:t>Inventory levels</a:t>
            </a:r>
            <a:endParaRPr lang="en-US" sz="750" dirty="0"/>
          </a:p>
        </p:txBody>
      </p:sp>
      <p:sp>
        <p:nvSpPr>
          <p:cNvPr id="40" name="Shape 38"/>
          <p:cNvSpPr/>
          <p:nvPr/>
        </p:nvSpPr>
        <p:spPr>
          <a:xfrm>
            <a:off x="4663440" y="3694176"/>
            <a:ext cx="1965960" cy="530352"/>
          </a:xfrm>
          <a:prstGeom prst="rect">
            <a:avLst/>
          </a:prstGeom>
          <a:solidFill>
            <a:srgbClr val="EEF2F7"/>
          </a:solidFill>
          <a:ln/>
        </p:spPr>
      </p:sp>
      <p:sp>
        <p:nvSpPr>
          <p:cNvPr id="41" name="Shape 39"/>
          <p:cNvSpPr/>
          <p:nvPr/>
        </p:nvSpPr>
        <p:spPr>
          <a:xfrm>
            <a:off x="4663440" y="3694176"/>
            <a:ext cx="36576" cy="530352"/>
          </a:xfrm>
          <a:prstGeom prst="rect">
            <a:avLst/>
          </a:prstGeom>
          <a:solidFill>
            <a:srgbClr val="1565C0"/>
          </a:solidFill>
          <a:ln w="12700">
            <a:solidFill>
              <a:srgbClr val="1565C0"/>
            </a:solidFill>
            <a:prstDash val="solid"/>
          </a:ln>
        </p:spPr>
      </p:sp>
      <p:sp>
        <p:nvSpPr>
          <p:cNvPr id="42" name="Text 40"/>
          <p:cNvSpPr/>
          <p:nvPr/>
        </p:nvSpPr>
        <p:spPr>
          <a:xfrm>
            <a:off x="4754880" y="3721608"/>
            <a:ext cx="1828800" cy="201168"/>
          </a:xfrm>
          <a:prstGeom prst="rect">
            <a:avLst/>
          </a:prstGeom>
          <a:noFill/>
          <a:ln/>
        </p:spPr>
        <p:txBody>
          <a:bodyPr wrap="square" lIns="0" tIns="0" rIns="0" bIns="0" rtlCol="0" anchor="ctr"/>
          <a:lstStyle/>
          <a:p>
            <a:pPr indent="0" marL="0">
              <a:buNone/>
            </a:pPr>
            <a:r>
              <a:rPr lang="en-US" sz="750" b="1" dirty="0">
                <a:solidFill>
                  <a:srgbClr val="1565C0"/>
                </a:solidFill>
              </a:rPr>
              <a:t>GET</a:t>
            </a:r>
            <a:endParaRPr lang="en-US" sz="750" dirty="0"/>
          </a:p>
        </p:txBody>
      </p:sp>
      <p:sp>
        <p:nvSpPr>
          <p:cNvPr id="43" name="Text 41"/>
          <p:cNvSpPr/>
          <p:nvPr/>
        </p:nvSpPr>
        <p:spPr>
          <a:xfrm>
            <a:off x="4754880" y="3922776"/>
            <a:ext cx="1828800" cy="182880"/>
          </a:xfrm>
          <a:prstGeom prst="rect">
            <a:avLst/>
          </a:prstGeom>
          <a:noFill/>
          <a:ln/>
        </p:spPr>
        <p:txBody>
          <a:bodyPr wrap="square" lIns="0" tIns="0" rIns="0" bIns="0" rtlCol="0" anchor="ctr"/>
          <a:lstStyle/>
          <a:p>
            <a:pPr indent="0" marL="0">
              <a:buNone/>
            </a:pPr>
            <a:r>
              <a:rPr lang="en-US" sz="900" b="1" dirty="0">
                <a:solidFill>
                  <a:srgbClr val="0D1B2A"/>
                </a:solidFill>
                <a:latin typeface="Consolas" pitchFamily="34" charset="0"/>
                <a:ea typeface="Consolas" pitchFamily="34" charset="-122"/>
                <a:cs typeface="Consolas" pitchFamily="34" charset="-120"/>
              </a:rPr>
              <a:t>/demand</a:t>
            </a:r>
            <a:endParaRPr lang="en-US" sz="900" dirty="0"/>
          </a:p>
        </p:txBody>
      </p:sp>
      <p:sp>
        <p:nvSpPr>
          <p:cNvPr id="44" name="Text 42"/>
          <p:cNvSpPr/>
          <p:nvPr/>
        </p:nvSpPr>
        <p:spPr>
          <a:xfrm>
            <a:off x="4754880" y="4096512"/>
            <a:ext cx="1828800" cy="128016"/>
          </a:xfrm>
          <a:prstGeom prst="rect">
            <a:avLst/>
          </a:prstGeom>
          <a:noFill/>
          <a:ln/>
        </p:spPr>
        <p:txBody>
          <a:bodyPr wrap="square" lIns="0" tIns="0" rIns="0" bIns="0" rtlCol="0" anchor="ctr"/>
          <a:lstStyle/>
          <a:p>
            <a:pPr indent="0" marL="0">
              <a:buNone/>
            </a:pPr>
            <a:r>
              <a:rPr lang="en-US" sz="750" dirty="0">
                <a:solidFill>
                  <a:srgbClr val="8A9BAB"/>
                </a:solidFill>
              </a:rPr>
              <a:t>Store demand</a:t>
            </a:r>
            <a:endParaRPr lang="en-US" sz="750" dirty="0"/>
          </a:p>
        </p:txBody>
      </p:sp>
      <p:sp>
        <p:nvSpPr>
          <p:cNvPr id="45" name="Shape 43"/>
          <p:cNvSpPr/>
          <p:nvPr/>
        </p:nvSpPr>
        <p:spPr>
          <a:xfrm>
            <a:off x="6766560" y="3694176"/>
            <a:ext cx="1965960" cy="530352"/>
          </a:xfrm>
          <a:prstGeom prst="rect">
            <a:avLst/>
          </a:prstGeom>
          <a:solidFill>
            <a:srgbClr val="EEF2F7"/>
          </a:solidFill>
          <a:ln/>
        </p:spPr>
      </p:sp>
      <p:sp>
        <p:nvSpPr>
          <p:cNvPr id="46" name="Shape 44"/>
          <p:cNvSpPr/>
          <p:nvPr/>
        </p:nvSpPr>
        <p:spPr>
          <a:xfrm>
            <a:off x="6766560" y="3694176"/>
            <a:ext cx="36576" cy="530352"/>
          </a:xfrm>
          <a:prstGeom prst="rect">
            <a:avLst/>
          </a:prstGeom>
          <a:solidFill>
            <a:srgbClr val="00BFA5"/>
          </a:solidFill>
          <a:ln w="12700">
            <a:solidFill>
              <a:srgbClr val="00BFA5"/>
            </a:solidFill>
            <a:prstDash val="solid"/>
          </a:ln>
        </p:spPr>
      </p:sp>
      <p:sp>
        <p:nvSpPr>
          <p:cNvPr id="47" name="Text 45"/>
          <p:cNvSpPr/>
          <p:nvPr/>
        </p:nvSpPr>
        <p:spPr>
          <a:xfrm>
            <a:off x="6858000" y="3721608"/>
            <a:ext cx="1828800" cy="201168"/>
          </a:xfrm>
          <a:prstGeom prst="rect">
            <a:avLst/>
          </a:prstGeom>
          <a:noFill/>
          <a:ln/>
        </p:spPr>
        <p:txBody>
          <a:bodyPr wrap="square" lIns="0" tIns="0" rIns="0" bIns="0" rtlCol="0" anchor="ctr"/>
          <a:lstStyle/>
          <a:p>
            <a:pPr indent="0" marL="0">
              <a:buNone/>
            </a:pPr>
            <a:r>
              <a:rPr lang="en-US" sz="750" b="1" dirty="0">
                <a:solidFill>
                  <a:srgbClr val="00BFA5"/>
                </a:solidFill>
              </a:rPr>
              <a:t>POST</a:t>
            </a:r>
            <a:endParaRPr lang="en-US" sz="750" dirty="0"/>
          </a:p>
        </p:txBody>
      </p:sp>
      <p:sp>
        <p:nvSpPr>
          <p:cNvPr id="48" name="Text 46"/>
          <p:cNvSpPr/>
          <p:nvPr/>
        </p:nvSpPr>
        <p:spPr>
          <a:xfrm>
            <a:off x="6858000" y="3922776"/>
            <a:ext cx="1828800" cy="182880"/>
          </a:xfrm>
          <a:prstGeom prst="rect">
            <a:avLst/>
          </a:prstGeom>
          <a:noFill/>
          <a:ln/>
        </p:spPr>
        <p:txBody>
          <a:bodyPr wrap="square" lIns="0" tIns="0" rIns="0" bIns="0" rtlCol="0" anchor="ctr"/>
          <a:lstStyle/>
          <a:p>
            <a:pPr indent="0" marL="0">
              <a:buNone/>
            </a:pPr>
            <a:r>
              <a:rPr lang="en-US" sz="900" b="1" dirty="0">
                <a:solidFill>
                  <a:srgbClr val="0D1B2A"/>
                </a:solidFill>
                <a:latin typeface="Consolas" pitchFamily="34" charset="0"/>
                <a:ea typeface="Consolas" pitchFamily="34" charset="-122"/>
                <a:cs typeface="Consolas" pitchFamily="34" charset="-120"/>
              </a:rPr>
              <a:t>/sync</a:t>
            </a:r>
            <a:endParaRPr lang="en-US" sz="900" dirty="0"/>
          </a:p>
        </p:txBody>
      </p:sp>
      <p:sp>
        <p:nvSpPr>
          <p:cNvPr id="49" name="Text 47"/>
          <p:cNvSpPr/>
          <p:nvPr/>
        </p:nvSpPr>
        <p:spPr>
          <a:xfrm>
            <a:off x="6858000" y="4096512"/>
            <a:ext cx="1828800" cy="128016"/>
          </a:xfrm>
          <a:prstGeom prst="rect">
            <a:avLst/>
          </a:prstGeom>
          <a:noFill/>
          <a:ln/>
        </p:spPr>
        <p:txBody>
          <a:bodyPr wrap="square" lIns="0" tIns="0" rIns="0" bIns="0" rtlCol="0" anchor="ctr"/>
          <a:lstStyle/>
          <a:p>
            <a:pPr indent="0" marL="0">
              <a:buNone/>
            </a:pPr>
            <a:r>
              <a:rPr lang="en-US" sz="750" dirty="0">
                <a:solidFill>
                  <a:srgbClr val="8A9BAB"/>
                </a:solidFill>
              </a:rPr>
              <a:t>Data sync</a:t>
            </a:r>
            <a:endParaRPr lang="en-US" sz="750" dirty="0"/>
          </a:p>
        </p:txBody>
      </p:sp>
      <p:sp>
        <p:nvSpPr>
          <p:cNvPr id="50" name="Shape 48"/>
          <p:cNvSpPr/>
          <p:nvPr/>
        </p:nvSpPr>
        <p:spPr>
          <a:xfrm>
            <a:off x="4663440" y="4315968"/>
            <a:ext cx="1965960" cy="530352"/>
          </a:xfrm>
          <a:prstGeom prst="rect">
            <a:avLst/>
          </a:prstGeom>
          <a:solidFill>
            <a:srgbClr val="EEF2F7"/>
          </a:solidFill>
          <a:ln/>
        </p:spPr>
      </p:sp>
      <p:sp>
        <p:nvSpPr>
          <p:cNvPr id="51" name="Shape 49"/>
          <p:cNvSpPr/>
          <p:nvPr/>
        </p:nvSpPr>
        <p:spPr>
          <a:xfrm>
            <a:off x="4663440" y="4315968"/>
            <a:ext cx="36576" cy="530352"/>
          </a:xfrm>
          <a:prstGeom prst="rect">
            <a:avLst/>
          </a:prstGeom>
          <a:solidFill>
            <a:srgbClr val="00BFA5"/>
          </a:solidFill>
          <a:ln w="12700">
            <a:solidFill>
              <a:srgbClr val="00BFA5"/>
            </a:solidFill>
            <a:prstDash val="solid"/>
          </a:ln>
        </p:spPr>
      </p:sp>
      <p:sp>
        <p:nvSpPr>
          <p:cNvPr id="52" name="Text 50"/>
          <p:cNvSpPr/>
          <p:nvPr/>
        </p:nvSpPr>
        <p:spPr>
          <a:xfrm>
            <a:off x="4754880" y="4343400"/>
            <a:ext cx="1828800" cy="201168"/>
          </a:xfrm>
          <a:prstGeom prst="rect">
            <a:avLst/>
          </a:prstGeom>
          <a:noFill/>
          <a:ln/>
        </p:spPr>
        <p:txBody>
          <a:bodyPr wrap="square" lIns="0" tIns="0" rIns="0" bIns="0" rtlCol="0" anchor="ctr"/>
          <a:lstStyle/>
          <a:p>
            <a:pPr indent="0" marL="0">
              <a:buNone/>
            </a:pPr>
            <a:r>
              <a:rPr lang="en-US" sz="750" b="1" dirty="0">
                <a:solidFill>
                  <a:srgbClr val="00BFA5"/>
                </a:solidFill>
              </a:rPr>
              <a:t>POST</a:t>
            </a:r>
            <a:endParaRPr lang="en-US" sz="750" dirty="0"/>
          </a:p>
        </p:txBody>
      </p:sp>
      <p:sp>
        <p:nvSpPr>
          <p:cNvPr id="53" name="Text 51"/>
          <p:cNvSpPr/>
          <p:nvPr/>
        </p:nvSpPr>
        <p:spPr>
          <a:xfrm>
            <a:off x="4754880" y="4544568"/>
            <a:ext cx="1828800" cy="182880"/>
          </a:xfrm>
          <a:prstGeom prst="rect">
            <a:avLst/>
          </a:prstGeom>
          <a:noFill/>
          <a:ln/>
        </p:spPr>
        <p:txBody>
          <a:bodyPr wrap="square" lIns="0" tIns="0" rIns="0" bIns="0" rtlCol="0" anchor="ctr"/>
          <a:lstStyle/>
          <a:p>
            <a:pPr indent="0" marL="0">
              <a:buNone/>
            </a:pPr>
            <a:r>
              <a:rPr lang="en-US" sz="900" b="1" dirty="0">
                <a:solidFill>
                  <a:srgbClr val="0D1B2A"/>
                </a:solidFill>
                <a:latin typeface="Consolas" pitchFamily="34" charset="0"/>
                <a:ea typeface="Consolas" pitchFamily="34" charset="-122"/>
                <a:cs typeface="Consolas" pitchFamily="34" charset="-120"/>
              </a:rPr>
              <a:t>/upload</a:t>
            </a:r>
            <a:endParaRPr lang="en-US" sz="900" dirty="0"/>
          </a:p>
        </p:txBody>
      </p:sp>
      <p:sp>
        <p:nvSpPr>
          <p:cNvPr id="54" name="Text 52"/>
          <p:cNvSpPr/>
          <p:nvPr/>
        </p:nvSpPr>
        <p:spPr>
          <a:xfrm>
            <a:off x="4754880" y="4718304"/>
            <a:ext cx="1828800" cy="128016"/>
          </a:xfrm>
          <a:prstGeom prst="rect">
            <a:avLst/>
          </a:prstGeom>
          <a:noFill/>
          <a:ln/>
        </p:spPr>
        <p:txBody>
          <a:bodyPr wrap="square" lIns="0" tIns="0" rIns="0" bIns="0" rtlCol="0" anchor="ctr"/>
          <a:lstStyle/>
          <a:p>
            <a:pPr indent="0" marL="0">
              <a:buNone/>
            </a:pPr>
            <a:r>
              <a:rPr lang="en-US" sz="750" dirty="0">
                <a:solidFill>
                  <a:srgbClr val="8A9BAB"/>
                </a:solidFill>
              </a:rPr>
              <a:t>CSV/JSON upload</a:t>
            </a:r>
            <a:endParaRPr lang="en-US" sz="750" dirty="0"/>
          </a:p>
        </p:txBody>
      </p:sp>
      <p:sp>
        <p:nvSpPr>
          <p:cNvPr id="55" name="Shape 53"/>
          <p:cNvSpPr/>
          <p:nvPr/>
        </p:nvSpPr>
        <p:spPr>
          <a:xfrm>
            <a:off x="6766560" y="4315968"/>
            <a:ext cx="1965960" cy="530352"/>
          </a:xfrm>
          <a:prstGeom prst="rect">
            <a:avLst/>
          </a:prstGeom>
          <a:solidFill>
            <a:srgbClr val="EEF2F7"/>
          </a:solidFill>
          <a:ln/>
        </p:spPr>
      </p:sp>
      <p:sp>
        <p:nvSpPr>
          <p:cNvPr id="56" name="Shape 54"/>
          <p:cNvSpPr/>
          <p:nvPr/>
        </p:nvSpPr>
        <p:spPr>
          <a:xfrm>
            <a:off x="6766560" y="4315968"/>
            <a:ext cx="36576" cy="530352"/>
          </a:xfrm>
          <a:prstGeom prst="rect">
            <a:avLst/>
          </a:prstGeom>
          <a:solidFill>
            <a:srgbClr val="F9A826"/>
          </a:solidFill>
          <a:ln w="12700">
            <a:solidFill>
              <a:srgbClr val="F9A826"/>
            </a:solidFill>
            <a:prstDash val="solid"/>
          </a:ln>
        </p:spPr>
      </p:sp>
      <p:sp>
        <p:nvSpPr>
          <p:cNvPr id="57" name="Text 55"/>
          <p:cNvSpPr/>
          <p:nvPr/>
        </p:nvSpPr>
        <p:spPr>
          <a:xfrm>
            <a:off x="6858000" y="4343400"/>
            <a:ext cx="1828800" cy="201168"/>
          </a:xfrm>
          <a:prstGeom prst="rect">
            <a:avLst/>
          </a:prstGeom>
          <a:noFill/>
          <a:ln/>
        </p:spPr>
        <p:txBody>
          <a:bodyPr wrap="square" lIns="0" tIns="0" rIns="0" bIns="0" rtlCol="0" anchor="ctr"/>
          <a:lstStyle/>
          <a:p>
            <a:pPr indent="0" marL="0">
              <a:buNone/>
            </a:pPr>
            <a:r>
              <a:rPr lang="en-US" sz="750" b="1" dirty="0">
                <a:solidFill>
                  <a:srgbClr val="F9A826"/>
                </a:solidFill>
              </a:rPr>
              <a:t>GET/PUT</a:t>
            </a:r>
            <a:endParaRPr lang="en-US" sz="750" dirty="0"/>
          </a:p>
        </p:txBody>
      </p:sp>
      <p:sp>
        <p:nvSpPr>
          <p:cNvPr id="58" name="Text 56"/>
          <p:cNvSpPr/>
          <p:nvPr/>
        </p:nvSpPr>
        <p:spPr>
          <a:xfrm>
            <a:off x="6858000" y="4544568"/>
            <a:ext cx="1828800" cy="182880"/>
          </a:xfrm>
          <a:prstGeom prst="rect">
            <a:avLst/>
          </a:prstGeom>
          <a:noFill/>
          <a:ln/>
        </p:spPr>
        <p:txBody>
          <a:bodyPr wrap="square" lIns="0" tIns="0" rIns="0" bIns="0" rtlCol="0" anchor="ctr"/>
          <a:lstStyle/>
          <a:p>
            <a:pPr indent="0" marL="0">
              <a:buNone/>
            </a:pPr>
            <a:r>
              <a:rPr lang="en-US" sz="900" b="1" dirty="0">
                <a:solidFill>
                  <a:srgbClr val="0D1B2A"/>
                </a:solidFill>
                <a:latin typeface="Consolas" pitchFamily="34" charset="0"/>
                <a:ea typeface="Consolas" pitchFamily="34" charset="-122"/>
                <a:cs typeface="Consolas" pitchFamily="34" charset="-120"/>
              </a:rPr>
              <a:t>/settings</a:t>
            </a:r>
            <a:endParaRPr lang="en-US" sz="900" dirty="0"/>
          </a:p>
        </p:txBody>
      </p:sp>
      <p:sp>
        <p:nvSpPr>
          <p:cNvPr id="59" name="Text 57"/>
          <p:cNvSpPr/>
          <p:nvPr/>
        </p:nvSpPr>
        <p:spPr>
          <a:xfrm>
            <a:off x="6858000" y="4718304"/>
            <a:ext cx="1828800" cy="128016"/>
          </a:xfrm>
          <a:prstGeom prst="rect">
            <a:avLst/>
          </a:prstGeom>
          <a:noFill/>
          <a:ln/>
        </p:spPr>
        <p:txBody>
          <a:bodyPr wrap="square" lIns="0" tIns="0" rIns="0" bIns="0" rtlCol="0" anchor="ctr"/>
          <a:lstStyle/>
          <a:p>
            <a:pPr indent="0" marL="0">
              <a:buNone/>
            </a:pPr>
            <a:r>
              <a:rPr lang="en-US" sz="750" dirty="0">
                <a:solidFill>
                  <a:srgbClr val="8A9BAB"/>
                </a:solidFill>
              </a:rPr>
              <a:t>Config management</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01168"/>
            <a:ext cx="1554480" cy="256032"/>
          </a:xfrm>
          <a:prstGeom prst="rect">
            <a:avLst/>
          </a:prstGeom>
          <a:solidFill>
            <a:srgbClr val="00BFA5"/>
          </a:solidFill>
          <a:ln w="12700">
            <a:solidFill>
              <a:srgbClr val="00BFA5"/>
            </a:solidFill>
            <a:prstDash val="solid"/>
          </a:ln>
        </p:spPr>
      </p:sp>
      <p:sp>
        <p:nvSpPr>
          <p:cNvPr id="3" name="Text 1"/>
          <p:cNvSpPr/>
          <p:nvPr/>
        </p:nvSpPr>
        <p:spPr>
          <a:xfrm>
            <a:off x="365760" y="192024"/>
            <a:ext cx="1554480" cy="256032"/>
          </a:xfrm>
          <a:prstGeom prst="rect">
            <a:avLst/>
          </a:prstGeom>
          <a:noFill/>
          <a:ln/>
        </p:spPr>
        <p:txBody>
          <a:bodyPr wrap="square" lIns="0" tIns="0" rIns="0" bIns="0" rtlCol="0" anchor="ctr"/>
          <a:lstStyle/>
          <a:p>
            <a:pPr algn="ctr" indent="0" marL="0">
              <a:buNone/>
            </a:pPr>
            <a:r>
              <a:rPr lang="en-US" sz="700" b="1" spc="200" kern="0" dirty="0">
                <a:solidFill>
                  <a:srgbClr val="0D1B2A"/>
                </a:solidFill>
              </a:rPr>
              <a:t>DATA MODEL</a:t>
            </a:r>
            <a:endParaRPr lang="en-US" sz="700" dirty="0"/>
          </a:p>
        </p:txBody>
      </p:sp>
      <p:sp>
        <p:nvSpPr>
          <p:cNvPr id="4" name="Text 2"/>
          <p:cNvSpPr/>
          <p:nvPr/>
        </p:nvSpPr>
        <p:spPr>
          <a:xfrm>
            <a:off x="365760" y="548640"/>
            <a:ext cx="841248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Database &amp; Execution State Model</a:t>
            </a:r>
            <a:endParaRPr lang="en-US" sz="2400" dirty="0"/>
          </a:p>
        </p:txBody>
      </p:sp>
      <p:sp>
        <p:nvSpPr>
          <p:cNvPr id="5" name="Text 3"/>
          <p:cNvSpPr/>
          <p:nvPr/>
        </p:nvSpPr>
        <p:spPr>
          <a:xfrm>
            <a:off x="365760" y="1298448"/>
            <a:ext cx="8412480" cy="256032"/>
          </a:xfrm>
          <a:prstGeom prst="rect">
            <a:avLst/>
          </a:prstGeom>
          <a:noFill/>
          <a:ln/>
        </p:spPr>
        <p:txBody>
          <a:bodyPr wrap="square" lIns="0" tIns="0" rIns="0" bIns="0" rtlCol="0" anchor="ctr"/>
          <a:lstStyle/>
          <a:p>
            <a:pPr indent="0" marL="0">
              <a:buNone/>
            </a:pPr>
            <a:r>
              <a:rPr lang="en-US" sz="850" b="1" spc="200" kern="0" dirty="0">
                <a:solidFill>
                  <a:srgbClr val="00BFA5"/>
                </a:solidFill>
              </a:rPr>
              <a:t>WAREHOUSE EXECUTION FLOW</a:t>
            </a:r>
            <a:endParaRPr lang="en-US" sz="850" dirty="0"/>
          </a:p>
        </p:txBody>
      </p:sp>
      <p:sp>
        <p:nvSpPr>
          <p:cNvPr id="6" name="Shape 4"/>
          <p:cNvSpPr/>
          <p:nvPr/>
        </p:nvSpPr>
        <p:spPr>
          <a:xfrm>
            <a:off x="320040" y="1627632"/>
            <a:ext cx="1645920" cy="566928"/>
          </a:xfrm>
          <a:prstGeom prst="rect">
            <a:avLst/>
          </a:prstGeom>
          <a:solidFill>
            <a:srgbClr val="00BFA5"/>
          </a:solidFill>
          <a:ln/>
        </p:spPr>
      </p:sp>
      <p:sp>
        <p:nvSpPr>
          <p:cNvPr id="7" name="Text 5"/>
          <p:cNvSpPr/>
          <p:nvPr/>
        </p:nvSpPr>
        <p:spPr>
          <a:xfrm>
            <a:off x="393192" y="1664208"/>
            <a:ext cx="292608" cy="274320"/>
          </a:xfrm>
          <a:prstGeom prst="rect">
            <a:avLst/>
          </a:prstGeom>
          <a:noFill/>
          <a:ln/>
        </p:spPr>
        <p:txBody>
          <a:bodyPr wrap="square" lIns="0" tIns="0" rIns="0" bIns="0" rtlCol="0" anchor="ctr"/>
          <a:lstStyle/>
          <a:p>
            <a:pPr indent="0" marL="0">
              <a:buNone/>
            </a:pPr>
            <a:r>
              <a:rPr lang="en-US" sz="1000" b="1" dirty="0">
                <a:solidFill>
                  <a:srgbClr val="0D1B2A"/>
                </a:solidFill>
              </a:rPr>
              <a:t>1</a:t>
            </a:r>
            <a:endParaRPr lang="en-US" sz="1000" dirty="0"/>
          </a:p>
        </p:txBody>
      </p:sp>
      <p:sp>
        <p:nvSpPr>
          <p:cNvPr id="8" name="Text 6"/>
          <p:cNvSpPr/>
          <p:nvPr/>
        </p:nvSpPr>
        <p:spPr>
          <a:xfrm>
            <a:off x="393192" y="1901952"/>
            <a:ext cx="1554480" cy="256032"/>
          </a:xfrm>
          <a:prstGeom prst="rect">
            <a:avLst/>
          </a:prstGeom>
          <a:noFill/>
          <a:ln/>
        </p:spPr>
        <p:txBody>
          <a:bodyPr wrap="square" lIns="0" tIns="0" rIns="0" bIns="0" rtlCol="0" anchor="ctr"/>
          <a:lstStyle/>
          <a:p>
            <a:pPr indent="0" marL="0">
              <a:buNone/>
            </a:pPr>
            <a:r>
              <a:rPr lang="en-US" sz="900" b="1" dirty="0">
                <a:solidFill>
                  <a:srgbClr val="0D1B2A"/>
                </a:solidFill>
              </a:rPr>
              <a:t>Start Loading</a:t>
            </a:r>
            <a:endParaRPr lang="en-US" sz="900" dirty="0"/>
          </a:p>
        </p:txBody>
      </p:sp>
      <p:sp>
        <p:nvSpPr>
          <p:cNvPr id="9" name="Text 7"/>
          <p:cNvSpPr/>
          <p:nvPr/>
        </p:nvSpPr>
        <p:spPr>
          <a:xfrm>
            <a:off x="2039112" y="1755648"/>
            <a:ext cx="274320" cy="292608"/>
          </a:xfrm>
          <a:prstGeom prst="rect">
            <a:avLst/>
          </a:prstGeom>
          <a:noFill/>
          <a:ln/>
        </p:spPr>
        <p:txBody>
          <a:bodyPr wrap="square" lIns="0" tIns="0" rIns="0" bIns="0" rtlCol="0" anchor="ctr"/>
          <a:lstStyle/>
          <a:p>
            <a:pPr indent="0" marL="0">
              <a:buNone/>
            </a:pPr>
            <a:r>
              <a:rPr lang="en-US" sz="1800" dirty="0">
                <a:solidFill>
                  <a:srgbClr val="00897B"/>
                </a:solidFill>
              </a:rPr>
              <a:t>→</a:t>
            </a:r>
            <a:endParaRPr lang="en-US" sz="1800" dirty="0"/>
          </a:p>
        </p:txBody>
      </p:sp>
      <p:sp>
        <p:nvSpPr>
          <p:cNvPr id="10" name="Shape 8"/>
          <p:cNvSpPr/>
          <p:nvPr/>
        </p:nvSpPr>
        <p:spPr>
          <a:xfrm>
            <a:off x="2386584" y="1627632"/>
            <a:ext cx="1645920" cy="566928"/>
          </a:xfrm>
          <a:prstGeom prst="rect">
            <a:avLst/>
          </a:prstGeom>
          <a:solidFill>
            <a:srgbClr val="00BFA5"/>
          </a:solidFill>
          <a:ln/>
        </p:spPr>
      </p:sp>
      <p:sp>
        <p:nvSpPr>
          <p:cNvPr id="11" name="Text 9"/>
          <p:cNvSpPr/>
          <p:nvPr/>
        </p:nvSpPr>
        <p:spPr>
          <a:xfrm>
            <a:off x="2459736" y="1664208"/>
            <a:ext cx="292608" cy="274320"/>
          </a:xfrm>
          <a:prstGeom prst="rect">
            <a:avLst/>
          </a:prstGeom>
          <a:noFill/>
          <a:ln/>
        </p:spPr>
        <p:txBody>
          <a:bodyPr wrap="square" lIns="0" tIns="0" rIns="0" bIns="0" rtlCol="0" anchor="ctr"/>
          <a:lstStyle/>
          <a:p>
            <a:pPr indent="0" marL="0">
              <a:buNone/>
            </a:pPr>
            <a:r>
              <a:rPr lang="en-US" sz="1000" b="1" dirty="0">
                <a:solidFill>
                  <a:srgbClr val="0D1B2A"/>
                </a:solidFill>
              </a:rPr>
              <a:t>2</a:t>
            </a:r>
            <a:endParaRPr lang="en-US" sz="1000" dirty="0"/>
          </a:p>
        </p:txBody>
      </p:sp>
      <p:sp>
        <p:nvSpPr>
          <p:cNvPr id="12" name="Text 10"/>
          <p:cNvSpPr/>
          <p:nvPr/>
        </p:nvSpPr>
        <p:spPr>
          <a:xfrm>
            <a:off x="2459736" y="1901952"/>
            <a:ext cx="1554480" cy="256032"/>
          </a:xfrm>
          <a:prstGeom prst="rect">
            <a:avLst/>
          </a:prstGeom>
          <a:noFill/>
          <a:ln/>
        </p:spPr>
        <p:txBody>
          <a:bodyPr wrap="square" lIns="0" tIns="0" rIns="0" bIns="0" rtlCol="0" anchor="ctr"/>
          <a:lstStyle/>
          <a:p>
            <a:pPr indent="0" marL="0">
              <a:buNone/>
            </a:pPr>
            <a:r>
              <a:rPr lang="en-US" sz="900" b="1" dirty="0">
                <a:solidFill>
                  <a:srgbClr val="0D1B2A"/>
                </a:solidFill>
              </a:rPr>
              <a:t>Complete Loading</a:t>
            </a:r>
            <a:endParaRPr lang="en-US" sz="900" dirty="0"/>
          </a:p>
        </p:txBody>
      </p:sp>
      <p:sp>
        <p:nvSpPr>
          <p:cNvPr id="13" name="Text 11"/>
          <p:cNvSpPr/>
          <p:nvPr/>
        </p:nvSpPr>
        <p:spPr>
          <a:xfrm>
            <a:off x="4105656" y="1755648"/>
            <a:ext cx="274320" cy="292608"/>
          </a:xfrm>
          <a:prstGeom prst="rect">
            <a:avLst/>
          </a:prstGeom>
          <a:noFill/>
          <a:ln/>
        </p:spPr>
        <p:txBody>
          <a:bodyPr wrap="square" lIns="0" tIns="0" rIns="0" bIns="0" rtlCol="0" anchor="ctr"/>
          <a:lstStyle/>
          <a:p>
            <a:pPr indent="0" marL="0">
              <a:buNone/>
            </a:pPr>
            <a:r>
              <a:rPr lang="en-US" sz="1800" dirty="0">
                <a:solidFill>
                  <a:srgbClr val="00897B"/>
                </a:solidFill>
              </a:rPr>
              <a:t>→</a:t>
            </a:r>
            <a:endParaRPr lang="en-US" sz="1800" dirty="0"/>
          </a:p>
        </p:txBody>
      </p:sp>
      <p:sp>
        <p:nvSpPr>
          <p:cNvPr id="14" name="Shape 12"/>
          <p:cNvSpPr/>
          <p:nvPr/>
        </p:nvSpPr>
        <p:spPr>
          <a:xfrm>
            <a:off x="4453128" y="1627632"/>
            <a:ext cx="1645920" cy="566928"/>
          </a:xfrm>
          <a:prstGeom prst="rect">
            <a:avLst/>
          </a:prstGeom>
          <a:solidFill>
            <a:srgbClr val="00BFA5"/>
          </a:solidFill>
          <a:ln/>
        </p:spPr>
      </p:sp>
      <p:sp>
        <p:nvSpPr>
          <p:cNvPr id="15" name="Text 13"/>
          <p:cNvSpPr/>
          <p:nvPr/>
        </p:nvSpPr>
        <p:spPr>
          <a:xfrm>
            <a:off x="4526280" y="1664208"/>
            <a:ext cx="292608" cy="274320"/>
          </a:xfrm>
          <a:prstGeom prst="rect">
            <a:avLst/>
          </a:prstGeom>
          <a:noFill/>
          <a:ln/>
        </p:spPr>
        <p:txBody>
          <a:bodyPr wrap="square" lIns="0" tIns="0" rIns="0" bIns="0" rtlCol="0" anchor="ctr"/>
          <a:lstStyle/>
          <a:p>
            <a:pPr indent="0" marL="0">
              <a:buNone/>
            </a:pPr>
            <a:r>
              <a:rPr lang="en-US" sz="1000" b="1" dirty="0">
                <a:solidFill>
                  <a:srgbClr val="0D1B2A"/>
                </a:solidFill>
              </a:rPr>
              <a:t>3</a:t>
            </a:r>
            <a:endParaRPr lang="en-US" sz="1000" dirty="0"/>
          </a:p>
        </p:txBody>
      </p:sp>
      <p:sp>
        <p:nvSpPr>
          <p:cNvPr id="16" name="Text 14"/>
          <p:cNvSpPr/>
          <p:nvPr/>
        </p:nvSpPr>
        <p:spPr>
          <a:xfrm>
            <a:off x="4526280" y="1901952"/>
            <a:ext cx="1554480" cy="256032"/>
          </a:xfrm>
          <a:prstGeom prst="rect">
            <a:avLst/>
          </a:prstGeom>
          <a:noFill/>
          <a:ln/>
        </p:spPr>
        <p:txBody>
          <a:bodyPr wrap="square" lIns="0" tIns="0" rIns="0" bIns="0" rtlCol="0" anchor="ctr"/>
          <a:lstStyle/>
          <a:p>
            <a:pPr indent="0" marL="0">
              <a:buNone/>
            </a:pPr>
            <a:r>
              <a:rPr lang="en-US" sz="900" b="1" dirty="0">
                <a:solidFill>
                  <a:srgbClr val="0D1B2A"/>
                </a:solidFill>
              </a:rPr>
              <a:t>Truck Departure</a:t>
            </a:r>
            <a:endParaRPr lang="en-US" sz="900" dirty="0"/>
          </a:p>
        </p:txBody>
      </p:sp>
      <p:sp>
        <p:nvSpPr>
          <p:cNvPr id="17" name="Text 15"/>
          <p:cNvSpPr/>
          <p:nvPr/>
        </p:nvSpPr>
        <p:spPr>
          <a:xfrm>
            <a:off x="6172200" y="1755648"/>
            <a:ext cx="274320" cy="292608"/>
          </a:xfrm>
          <a:prstGeom prst="rect">
            <a:avLst/>
          </a:prstGeom>
          <a:noFill/>
          <a:ln/>
        </p:spPr>
        <p:txBody>
          <a:bodyPr wrap="square" lIns="0" tIns="0" rIns="0" bIns="0" rtlCol="0" anchor="ctr"/>
          <a:lstStyle/>
          <a:p>
            <a:pPr indent="0" marL="0">
              <a:buNone/>
            </a:pPr>
            <a:r>
              <a:rPr lang="en-US" sz="1800" dirty="0">
                <a:solidFill>
                  <a:srgbClr val="00897B"/>
                </a:solidFill>
              </a:rPr>
              <a:t>→</a:t>
            </a:r>
            <a:endParaRPr lang="en-US" sz="1800" dirty="0"/>
          </a:p>
        </p:txBody>
      </p:sp>
      <p:sp>
        <p:nvSpPr>
          <p:cNvPr id="18" name="Shape 16"/>
          <p:cNvSpPr/>
          <p:nvPr/>
        </p:nvSpPr>
        <p:spPr>
          <a:xfrm>
            <a:off x="6519672" y="1627632"/>
            <a:ext cx="1645920" cy="566928"/>
          </a:xfrm>
          <a:prstGeom prst="rect">
            <a:avLst/>
          </a:prstGeom>
          <a:solidFill>
            <a:srgbClr val="00BFA5"/>
          </a:solidFill>
          <a:ln/>
        </p:spPr>
      </p:sp>
      <p:sp>
        <p:nvSpPr>
          <p:cNvPr id="19" name="Text 17"/>
          <p:cNvSpPr/>
          <p:nvPr/>
        </p:nvSpPr>
        <p:spPr>
          <a:xfrm>
            <a:off x="6592824" y="1664208"/>
            <a:ext cx="292608" cy="274320"/>
          </a:xfrm>
          <a:prstGeom prst="rect">
            <a:avLst/>
          </a:prstGeom>
          <a:noFill/>
          <a:ln/>
        </p:spPr>
        <p:txBody>
          <a:bodyPr wrap="square" lIns="0" tIns="0" rIns="0" bIns="0" rtlCol="0" anchor="ctr"/>
          <a:lstStyle/>
          <a:p>
            <a:pPr indent="0" marL="0">
              <a:buNone/>
            </a:pPr>
            <a:r>
              <a:rPr lang="en-US" sz="1000" b="1" dirty="0">
                <a:solidFill>
                  <a:srgbClr val="0D1B2A"/>
                </a:solidFill>
              </a:rPr>
              <a:t>4</a:t>
            </a:r>
            <a:endParaRPr lang="en-US" sz="1000" dirty="0"/>
          </a:p>
        </p:txBody>
      </p:sp>
      <p:sp>
        <p:nvSpPr>
          <p:cNvPr id="20" name="Text 18"/>
          <p:cNvSpPr/>
          <p:nvPr/>
        </p:nvSpPr>
        <p:spPr>
          <a:xfrm>
            <a:off x="6592824" y="1901952"/>
            <a:ext cx="1554480" cy="256032"/>
          </a:xfrm>
          <a:prstGeom prst="rect">
            <a:avLst/>
          </a:prstGeom>
          <a:noFill/>
          <a:ln/>
        </p:spPr>
        <p:txBody>
          <a:bodyPr wrap="square" lIns="0" tIns="0" rIns="0" bIns="0" rtlCol="0" anchor="ctr"/>
          <a:lstStyle/>
          <a:p>
            <a:pPr indent="0" marL="0">
              <a:buNone/>
            </a:pPr>
            <a:r>
              <a:rPr lang="en-US" sz="900" b="1" dirty="0">
                <a:solidFill>
                  <a:srgbClr val="0D1B2A"/>
                </a:solidFill>
              </a:rPr>
              <a:t>Stop Completion</a:t>
            </a:r>
            <a:endParaRPr lang="en-US" sz="900" dirty="0"/>
          </a:p>
        </p:txBody>
      </p:sp>
      <p:sp>
        <p:nvSpPr>
          <p:cNvPr id="21" name="Text 19"/>
          <p:cNvSpPr/>
          <p:nvPr/>
        </p:nvSpPr>
        <p:spPr>
          <a:xfrm>
            <a:off x="365760" y="2395728"/>
            <a:ext cx="4206240" cy="256032"/>
          </a:xfrm>
          <a:prstGeom prst="rect">
            <a:avLst/>
          </a:prstGeom>
          <a:noFill/>
          <a:ln/>
        </p:spPr>
        <p:txBody>
          <a:bodyPr wrap="square" lIns="0" tIns="0" rIns="0" bIns="0" rtlCol="0" anchor="ctr"/>
          <a:lstStyle/>
          <a:p>
            <a:pPr indent="0" marL="0">
              <a:buNone/>
            </a:pPr>
            <a:r>
              <a:rPr lang="en-US" sz="850" b="1" spc="200" kern="0" dirty="0">
                <a:solidFill>
                  <a:srgbClr val="F9A826"/>
                </a:solidFill>
              </a:rPr>
              <a:t>TRUCK STATE FIELDS</a:t>
            </a:r>
            <a:endParaRPr lang="en-US" sz="850" dirty="0"/>
          </a:p>
        </p:txBody>
      </p:sp>
      <p:sp>
        <p:nvSpPr>
          <p:cNvPr id="22" name="Shape 20"/>
          <p:cNvSpPr/>
          <p:nvPr/>
        </p:nvSpPr>
        <p:spPr>
          <a:xfrm>
            <a:off x="365760" y="2715768"/>
            <a:ext cx="4206240" cy="347472"/>
          </a:xfrm>
          <a:prstGeom prst="rect">
            <a:avLst/>
          </a:prstGeom>
          <a:solidFill>
            <a:srgbClr val="132233"/>
          </a:solidFill>
          <a:ln/>
        </p:spPr>
      </p:sp>
      <p:sp>
        <p:nvSpPr>
          <p:cNvPr id="23" name="Text 21"/>
          <p:cNvSpPr/>
          <p:nvPr/>
        </p:nvSpPr>
        <p:spPr>
          <a:xfrm>
            <a:off x="502920" y="2752344"/>
            <a:ext cx="1417320" cy="256032"/>
          </a:xfrm>
          <a:prstGeom prst="rect">
            <a:avLst/>
          </a:prstGeom>
          <a:noFill/>
          <a:ln/>
        </p:spPr>
        <p:txBody>
          <a:bodyPr wrap="square" lIns="0" tIns="0" rIns="0" bIns="0" rtlCol="0" anchor="ctr"/>
          <a:lstStyle/>
          <a:p>
            <a:pPr indent="0" marL="0">
              <a:buNone/>
            </a:pPr>
            <a:r>
              <a:rPr lang="en-US" sz="950" b="1" dirty="0">
                <a:solidFill>
                  <a:srgbClr val="00BFA5"/>
                </a:solidFill>
                <a:latin typeface="Consolas" pitchFamily="34" charset="0"/>
                <a:ea typeface="Consolas" pitchFamily="34" charset="-122"/>
                <a:cs typeface="Consolas" pitchFamily="34" charset="-120"/>
              </a:rPr>
              <a:t>status</a:t>
            </a:r>
            <a:endParaRPr lang="en-US" sz="950" dirty="0"/>
          </a:p>
        </p:txBody>
      </p:sp>
      <p:sp>
        <p:nvSpPr>
          <p:cNvPr id="24" name="Text 22"/>
          <p:cNvSpPr/>
          <p:nvPr/>
        </p:nvSpPr>
        <p:spPr>
          <a:xfrm>
            <a:off x="1965960" y="2752344"/>
            <a:ext cx="2468880" cy="256032"/>
          </a:xfrm>
          <a:prstGeom prst="rect">
            <a:avLst/>
          </a:prstGeom>
          <a:noFill/>
          <a:ln/>
        </p:spPr>
        <p:txBody>
          <a:bodyPr wrap="square" lIns="0" tIns="0" rIns="0" bIns="0" rtlCol="0" anchor="ctr"/>
          <a:lstStyle/>
          <a:p>
            <a:pPr indent="0" marL="0">
              <a:buNone/>
            </a:pPr>
            <a:r>
              <a:rPr lang="en-US" sz="950" dirty="0">
                <a:solidFill>
                  <a:srgbClr val="F0F4F8"/>
                </a:solidFill>
              </a:rPr>
              <a:t>idle / loading / in_transit / done</a:t>
            </a:r>
            <a:endParaRPr lang="en-US" sz="950" dirty="0"/>
          </a:p>
        </p:txBody>
      </p:sp>
      <p:sp>
        <p:nvSpPr>
          <p:cNvPr id="25" name="Shape 23"/>
          <p:cNvSpPr/>
          <p:nvPr/>
        </p:nvSpPr>
        <p:spPr>
          <a:xfrm>
            <a:off x="365760" y="3118104"/>
            <a:ext cx="4206240" cy="347472"/>
          </a:xfrm>
          <a:prstGeom prst="rect">
            <a:avLst/>
          </a:prstGeom>
          <a:solidFill>
            <a:srgbClr val="1A2840"/>
          </a:solidFill>
          <a:ln/>
        </p:spPr>
      </p:sp>
      <p:sp>
        <p:nvSpPr>
          <p:cNvPr id="26" name="Text 24"/>
          <p:cNvSpPr/>
          <p:nvPr/>
        </p:nvSpPr>
        <p:spPr>
          <a:xfrm>
            <a:off x="502920" y="3154680"/>
            <a:ext cx="1417320" cy="256032"/>
          </a:xfrm>
          <a:prstGeom prst="rect">
            <a:avLst/>
          </a:prstGeom>
          <a:noFill/>
          <a:ln/>
        </p:spPr>
        <p:txBody>
          <a:bodyPr wrap="square" lIns="0" tIns="0" rIns="0" bIns="0" rtlCol="0" anchor="ctr"/>
          <a:lstStyle/>
          <a:p>
            <a:pPr indent="0" marL="0">
              <a:buNone/>
            </a:pPr>
            <a:r>
              <a:rPr lang="en-US" sz="950" b="1" dirty="0">
                <a:solidFill>
                  <a:srgbClr val="00BFA5"/>
                </a:solidFill>
                <a:latin typeface="Consolas" pitchFamily="34" charset="0"/>
                <a:ea typeface="Consolas" pitchFamily="34" charset="-122"/>
                <a:cs typeface="Consolas" pitchFamily="34" charset="-120"/>
              </a:rPr>
              <a:t>active_route</a:t>
            </a:r>
            <a:endParaRPr lang="en-US" sz="950" dirty="0"/>
          </a:p>
        </p:txBody>
      </p:sp>
      <p:sp>
        <p:nvSpPr>
          <p:cNvPr id="27" name="Text 25"/>
          <p:cNvSpPr/>
          <p:nvPr/>
        </p:nvSpPr>
        <p:spPr>
          <a:xfrm>
            <a:off x="1965960" y="3154680"/>
            <a:ext cx="2468880" cy="256032"/>
          </a:xfrm>
          <a:prstGeom prst="rect">
            <a:avLst/>
          </a:prstGeom>
          <a:noFill/>
          <a:ln/>
        </p:spPr>
        <p:txBody>
          <a:bodyPr wrap="square" lIns="0" tIns="0" rIns="0" bIns="0" rtlCol="0" anchor="ctr"/>
          <a:lstStyle/>
          <a:p>
            <a:pPr indent="0" marL="0">
              <a:buNone/>
            </a:pPr>
            <a:r>
              <a:rPr lang="en-US" sz="950" dirty="0">
                <a:solidFill>
                  <a:srgbClr val="F0F4F8"/>
                </a:solidFill>
              </a:rPr>
              <a:t>Assigned route ID</a:t>
            </a:r>
            <a:endParaRPr lang="en-US" sz="950" dirty="0"/>
          </a:p>
        </p:txBody>
      </p:sp>
      <p:sp>
        <p:nvSpPr>
          <p:cNvPr id="28" name="Shape 26"/>
          <p:cNvSpPr/>
          <p:nvPr/>
        </p:nvSpPr>
        <p:spPr>
          <a:xfrm>
            <a:off x="365760" y="3520440"/>
            <a:ext cx="4206240" cy="347472"/>
          </a:xfrm>
          <a:prstGeom prst="rect">
            <a:avLst/>
          </a:prstGeom>
          <a:solidFill>
            <a:srgbClr val="132233"/>
          </a:solidFill>
          <a:ln/>
        </p:spPr>
      </p:sp>
      <p:sp>
        <p:nvSpPr>
          <p:cNvPr id="29" name="Text 27"/>
          <p:cNvSpPr/>
          <p:nvPr/>
        </p:nvSpPr>
        <p:spPr>
          <a:xfrm>
            <a:off x="502920" y="3557016"/>
            <a:ext cx="1417320" cy="256032"/>
          </a:xfrm>
          <a:prstGeom prst="rect">
            <a:avLst/>
          </a:prstGeom>
          <a:noFill/>
          <a:ln/>
        </p:spPr>
        <p:txBody>
          <a:bodyPr wrap="square" lIns="0" tIns="0" rIns="0" bIns="0" rtlCol="0" anchor="ctr"/>
          <a:lstStyle/>
          <a:p>
            <a:pPr indent="0" marL="0">
              <a:buNone/>
            </a:pPr>
            <a:r>
              <a:rPr lang="en-US" sz="950" b="1" dirty="0">
                <a:solidFill>
                  <a:srgbClr val="00BFA5"/>
                </a:solidFill>
                <a:latin typeface="Consolas" pitchFamily="34" charset="0"/>
                <a:ea typeface="Consolas" pitchFamily="34" charset="-122"/>
                <a:cs typeface="Consolas" pitchFamily="34" charset="-120"/>
              </a:rPr>
              <a:t>current_node</a:t>
            </a:r>
            <a:endParaRPr lang="en-US" sz="950" dirty="0"/>
          </a:p>
        </p:txBody>
      </p:sp>
      <p:sp>
        <p:nvSpPr>
          <p:cNvPr id="30" name="Text 28"/>
          <p:cNvSpPr/>
          <p:nvPr/>
        </p:nvSpPr>
        <p:spPr>
          <a:xfrm>
            <a:off x="1965960" y="3557016"/>
            <a:ext cx="2468880" cy="256032"/>
          </a:xfrm>
          <a:prstGeom prst="rect">
            <a:avLst/>
          </a:prstGeom>
          <a:noFill/>
          <a:ln/>
        </p:spPr>
        <p:txBody>
          <a:bodyPr wrap="square" lIns="0" tIns="0" rIns="0" bIns="0" rtlCol="0" anchor="ctr"/>
          <a:lstStyle/>
          <a:p>
            <a:pPr indent="0" marL="0">
              <a:buNone/>
            </a:pPr>
            <a:r>
              <a:rPr lang="en-US" sz="950" dirty="0">
                <a:solidFill>
                  <a:srgbClr val="F0F4F8"/>
                </a:solidFill>
              </a:rPr>
              <a:t>Node ID in the network graph</a:t>
            </a:r>
            <a:endParaRPr lang="en-US" sz="950" dirty="0"/>
          </a:p>
        </p:txBody>
      </p:sp>
      <p:sp>
        <p:nvSpPr>
          <p:cNvPr id="31" name="Shape 29"/>
          <p:cNvSpPr/>
          <p:nvPr/>
        </p:nvSpPr>
        <p:spPr>
          <a:xfrm>
            <a:off x="365760" y="3922776"/>
            <a:ext cx="4206240" cy="347472"/>
          </a:xfrm>
          <a:prstGeom prst="rect">
            <a:avLst/>
          </a:prstGeom>
          <a:solidFill>
            <a:srgbClr val="1A2840"/>
          </a:solidFill>
          <a:ln/>
        </p:spPr>
      </p:sp>
      <p:sp>
        <p:nvSpPr>
          <p:cNvPr id="32" name="Text 30"/>
          <p:cNvSpPr/>
          <p:nvPr/>
        </p:nvSpPr>
        <p:spPr>
          <a:xfrm>
            <a:off x="502920" y="3959352"/>
            <a:ext cx="1417320" cy="256032"/>
          </a:xfrm>
          <a:prstGeom prst="rect">
            <a:avLst/>
          </a:prstGeom>
          <a:noFill/>
          <a:ln/>
        </p:spPr>
        <p:txBody>
          <a:bodyPr wrap="square" lIns="0" tIns="0" rIns="0" bIns="0" rtlCol="0" anchor="ctr"/>
          <a:lstStyle/>
          <a:p>
            <a:pPr indent="0" marL="0">
              <a:buNone/>
            </a:pPr>
            <a:r>
              <a:rPr lang="en-US" sz="950" b="1" dirty="0">
                <a:solidFill>
                  <a:srgbClr val="00BFA5"/>
                </a:solidFill>
                <a:latin typeface="Consolas" pitchFamily="34" charset="0"/>
                <a:ea typeface="Consolas" pitchFamily="34" charset="-122"/>
                <a:cs typeface="Consolas" pitchFamily="34" charset="-120"/>
              </a:rPr>
              <a:t>gps_coords</a:t>
            </a:r>
            <a:endParaRPr lang="en-US" sz="950" dirty="0"/>
          </a:p>
        </p:txBody>
      </p:sp>
      <p:sp>
        <p:nvSpPr>
          <p:cNvPr id="33" name="Text 31"/>
          <p:cNvSpPr/>
          <p:nvPr/>
        </p:nvSpPr>
        <p:spPr>
          <a:xfrm>
            <a:off x="1965960" y="3959352"/>
            <a:ext cx="2468880" cy="256032"/>
          </a:xfrm>
          <a:prstGeom prst="rect">
            <a:avLst/>
          </a:prstGeom>
          <a:noFill/>
          <a:ln/>
        </p:spPr>
        <p:txBody>
          <a:bodyPr wrap="square" lIns="0" tIns="0" rIns="0" bIns="0" rtlCol="0" anchor="ctr"/>
          <a:lstStyle/>
          <a:p>
            <a:pPr indent="0" marL="0">
              <a:buNone/>
            </a:pPr>
            <a:r>
              <a:rPr lang="en-US" sz="950" dirty="0">
                <a:solidFill>
                  <a:srgbClr val="F0F4F8"/>
                </a:solidFill>
              </a:rPr>
              <a:t>Optional lat/lon (real or simulated)</a:t>
            </a:r>
            <a:endParaRPr lang="en-US" sz="950" dirty="0"/>
          </a:p>
        </p:txBody>
      </p:sp>
      <p:sp>
        <p:nvSpPr>
          <p:cNvPr id="34" name="Shape 32"/>
          <p:cNvSpPr/>
          <p:nvPr/>
        </p:nvSpPr>
        <p:spPr>
          <a:xfrm>
            <a:off x="365760" y="4325112"/>
            <a:ext cx="4206240" cy="347472"/>
          </a:xfrm>
          <a:prstGeom prst="rect">
            <a:avLst/>
          </a:prstGeom>
          <a:solidFill>
            <a:srgbClr val="132233"/>
          </a:solidFill>
          <a:ln/>
        </p:spPr>
      </p:sp>
      <p:sp>
        <p:nvSpPr>
          <p:cNvPr id="35" name="Text 33"/>
          <p:cNvSpPr/>
          <p:nvPr/>
        </p:nvSpPr>
        <p:spPr>
          <a:xfrm>
            <a:off x="502920" y="4361688"/>
            <a:ext cx="1417320" cy="256032"/>
          </a:xfrm>
          <a:prstGeom prst="rect">
            <a:avLst/>
          </a:prstGeom>
          <a:noFill/>
          <a:ln/>
        </p:spPr>
        <p:txBody>
          <a:bodyPr wrap="square" lIns="0" tIns="0" rIns="0" bIns="0" rtlCol="0" anchor="ctr"/>
          <a:lstStyle/>
          <a:p>
            <a:pPr indent="0" marL="0">
              <a:buNone/>
            </a:pPr>
            <a:r>
              <a:rPr lang="en-US" sz="950" b="1" dirty="0">
                <a:solidFill>
                  <a:srgbClr val="00BFA5"/>
                </a:solidFill>
                <a:latin typeface="Consolas" pitchFamily="34" charset="0"/>
                <a:ea typeface="Consolas" pitchFamily="34" charset="-122"/>
                <a:cs typeface="Consolas" pitchFamily="34" charset="-120"/>
              </a:rPr>
              <a:t>remaining_cap</a:t>
            </a:r>
            <a:endParaRPr lang="en-US" sz="950" dirty="0"/>
          </a:p>
        </p:txBody>
      </p:sp>
      <p:sp>
        <p:nvSpPr>
          <p:cNvPr id="36" name="Text 34"/>
          <p:cNvSpPr/>
          <p:nvPr/>
        </p:nvSpPr>
        <p:spPr>
          <a:xfrm>
            <a:off x="1965960" y="4361688"/>
            <a:ext cx="2468880" cy="256032"/>
          </a:xfrm>
          <a:prstGeom prst="rect">
            <a:avLst/>
          </a:prstGeom>
          <a:noFill/>
          <a:ln/>
        </p:spPr>
        <p:txBody>
          <a:bodyPr wrap="square" lIns="0" tIns="0" rIns="0" bIns="0" rtlCol="0" anchor="ctr"/>
          <a:lstStyle/>
          <a:p>
            <a:pPr indent="0" marL="0">
              <a:buNone/>
            </a:pPr>
            <a:r>
              <a:rPr lang="en-US" sz="950" dirty="0">
                <a:solidFill>
                  <a:srgbClr val="F0F4F8"/>
                </a:solidFill>
              </a:rPr>
              <a:t>Available cargo capacity</a:t>
            </a:r>
            <a:endParaRPr lang="en-US" sz="950" dirty="0"/>
          </a:p>
        </p:txBody>
      </p:sp>
      <p:sp>
        <p:nvSpPr>
          <p:cNvPr id="37" name="Text 35"/>
          <p:cNvSpPr/>
          <p:nvPr/>
        </p:nvSpPr>
        <p:spPr>
          <a:xfrm>
            <a:off x="4754880" y="2395728"/>
            <a:ext cx="4023360" cy="256032"/>
          </a:xfrm>
          <a:prstGeom prst="rect">
            <a:avLst/>
          </a:prstGeom>
          <a:noFill/>
          <a:ln/>
        </p:spPr>
        <p:txBody>
          <a:bodyPr wrap="square" lIns="0" tIns="0" rIns="0" bIns="0" rtlCol="0" anchor="ctr"/>
          <a:lstStyle/>
          <a:p>
            <a:pPr indent="0" marL="0">
              <a:buNone/>
            </a:pPr>
            <a:r>
              <a:rPr lang="en-US" sz="850" b="1" spc="200" kern="0" dirty="0">
                <a:solidFill>
                  <a:srgbClr val="F9A826"/>
                </a:solidFill>
              </a:rPr>
              <a:t>DATABASE ENTITIES</a:t>
            </a:r>
            <a:endParaRPr lang="en-US" sz="850" dirty="0"/>
          </a:p>
        </p:txBody>
      </p:sp>
      <p:sp>
        <p:nvSpPr>
          <p:cNvPr id="38" name="Shape 36"/>
          <p:cNvSpPr/>
          <p:nvPr/>
        </p:nvSpPr>
        <p:spPr>
          <a:xfrm>
            <a:off x="4754880" y="2715768"/>
            <a:ext cx="4023360" cy="347472"/>
          </a:xfrm>
          <a:prstGeom prst="rect">
            <a:avLst/>
          </a:prstGeom>
          <a:solidFill>
            <a:srgbClr val="132233"/>
          </a:solidFill>
          <a:ln/>
        </p:spPr>
      </p:sp>
      <p:sp>
        <p:nvSpPr>
          <p:cNvPr id="39" name="Text 37"/>
          <p:cNvSpPr/>
          <p:nvPr/>
        </p:nvSpPr>
        <p:spPr>
          <a:xfrm>
            <a:off x="4892040" y="2752344"/>
            <a:ext cx="1097280" cy="256032"/>
          </a:xfrm>
          <a:prstGeom prst="rect">
            <a:avLst/>
          </a:prstGeom>
          <a:noFill/>
          <a:ln/>
        </p:spPr>
        <p:txBody>
          <a:bodyPr wrap="square" lIns="0" tIns="0" rIns="0" bIns="0" rtlCol="0" anchor="ctr"/>
          <a:lstStyle/>
          <a:p>
            <a:pPr indent="0" marL="0">
              <a:buNone/>
            </a:pPr>
            <a:r>
              <a:rPr lang="en-US" sz="950" b="1" dirty="0">
                <a:solidFill>
                  <a:srgbClr val="00BFA5"/>
                </a:solidFill>
              </a:rPr>
              <a:t>Network</a:t>
            </a:r>
            <a:endParaRPr lang="en-US" sz="950" dirty="0"/>
          </a:p>
        </p:txBody>
      </p:sp>
      <p:sp>
        <p:nvSpPr>
          <p:cNvPr id="40" name="Text 38"/>
          <p:cNvSpPr/>
          <p:nvPr/>
        </p:nvSpPr>
        <p:spPr>
          <a:xfrm>
            <a:off x="6035040" y="2752344"/>
            <a:ext cx="2606040" cy="256032"/>
          </a:xfrm>
          <a:prstGeom prst="rect">
            <a:avLst/>
          </a:prstGeom>
          <a:noFill/>
          <a:ln/>
        </p:spPr>
        <p:txBody>
          <a:bodyPr wrap="square" lIns="0" tIns="0" rIns="0" bIns="0" rtlCol="0" anchor="ctr"/>
          <a:lstStyle/>
          <a:p>
            <a:pPr indent="0" marL="0">
              <a:buNone/>
            </a:pPr>
            <a:r>
              <a:rPr lang="en-US" sz="850" dirty="0">
                <a:solidFill>
                  <a:srgbClr val="F0F4F8"/>
                </a:solidFill>
              </a:rPr>
              <a:t>nodes (factory/wh/store/junction), edges, weights</a:t>
            </a:r>
            <a:endParaRPr lang="en-US" sz="850" dirty="0"/>
          </a:p>
        </p:txBody>
      </p:sp>
      <p:sp>
        <p:nvSpPr>
          <p:cNvPr id="41" name="Shape 39"/>
          <p:cNvSpPr/>
          <p:nvPr/>
        </p:nvSpPr>
        <p:spPr>
          <a:xfrm>
            <a:off x="4754880" y="3118104"/>
            <a:ext cx="4023360" cy="347472"/>
          </a:xfrm>
          <a:prstGeom prst="rect">
            <a:avLst/>
          </a:prstGeom>
          <a:solidFill>
            <a:srgbClr val="1A2840"/>
          </a:solidFill>
          <a:ln/>
        </p:spPr>
      </p:sp>
      <p:sp>
        <p:nvSpPr>
          <p:cNvPr id="42" name="Text 40"/>
          <p:cNvSpPr/>
          <p:nvPr/>
        </p:nvSpPr>
        <p:spPr>
          <a:xfrm>
            <a:off x="4892040" y="3154680"/>
            <a:ext cx="1097280" cy="256032"/>
          </a:xfrm>
          <a:prstGeom prst="rect">
            <a:avLst/>
          </a:prstGeom>
          <a:noFill/>
          <a:ln/>
        </p:spPr>
        <p:txBody>
          <a:bodyPr wrap="square" lIns="0" tIns="0" rIns="0" bIns="0" rtlCol="0" anchor="ctr"/>
          <a:lstStyle/>
          <a:p>
            <a:pPr indent="0" marL="0">
              <a:buNone/>
            </a:pPr>
            <a:r>
              <a:rPr lang="en-US" sz="950" b="1" dirty="0">
                <a:solidFill>
                  <a:srgbClr val="00BFA5"/>
                </a:solidFill>
              </a:rPr>
              <a:t>Stock</a:t>
            </a:r>
            <a:endParaRPr lang="en-US" sz="950" dirty="0"/>
          </a:p>
        </p:txBody>
      </p:sp>
      <p:sp>
        <p:nvSpPr>
          <p:cNvPr id="43" name="Text 41"/>
          <p:cNvSpPr/>
          <p:nvPr/>
        </p:nvSpPr>
        <p:spPr>
          <a:xfrm>
            <a:off x="6035040" y="3154680"/>
            <a:ext cx="2606040" cy="256032"/>
          </a:xfrm>
          <a:prstGeom prst="rect">
            <a:avLst/>
          </a:prstGeom>
          <a:noFill/>
          <a:ln/>
        </p:spPr>
        <p:txBody>
          <a:bodyPr wrap="square" lIns="0" tIns="0" rIns="0" bIns="0" rtlCol="0" anchor="ctr"/>
          <a:lstStyle/>
          <a:p>
            <a:pPr indent="0" marL="0">
              <a:buNone/>
            </a:pPr>
            <a:r>
              <a:rPr lang="en-US" sz="850" dirty="0">
                <a:solidFill>
                  <a:srgbClr val="F0F4F8"/>
                </a:solidFill>
              </a:rPr>
              <a:t>product_id, warehouse_id, quantity, threshold</a:t>
            </a:r>
            <a:endParaRPr lang="en-US" sz="850" dirty="0"/>
          </a:p>
        </p:txBody>
      </p:sp>
      <p:sp>
        <p:nvSpPr>
          <p:cNvPr id="44" name="Shape 42"/>
          <p:cNvSpPr/>
          <p:nvPr/>
        </p:nvSpPr>
        <p:spPr>
          <a:xfrm>
            <a:off x="4754880" y="3520440"/>
            <a:ext cx="4023360" cy="347472"/>
          </a:xfrm>
          <a:prstGeom prst="rect">
            <a:avLst/>
          </a:prstGeom>
          <a:solidFill>
            <a:srgbClr val="132233"/>
          </a:solidFill>
          <a:ln/>
        </p:spPr>
      </p:sp>
      <p:sp>
        <p:nvSpPr>
          <p:cNvPr id="45" name="Text 43"/>
          <p:cNvSpPr/>
          <p:nvPr/>
        </p:nvSpPr>
        <p:spPr>
          <a:xfrm>
            <a:off x="4892040" y="3557016"/>
            <a:ext cx="1097280" cy="256032"/>
          </a:xfrm>
          <a:prstGeom prst="rect">
            <a:avLst/>
          </a:prstGeom>
          <a:noFill/>
          <a:ln/>
        </p:spPr>
        <p:txBody>
          <a:bodyPr wrap="square" lIns="0" tIns="0" rIns="0" bIns="0" rtlCol="0" anchor="ctr"/>
          <a:lstStyle/>
          <a:p>
            <a:pPr indent="0" marL="0">
              <a:buNone/>
            </a:pPr>
            <a:r>
              <a:rPr lang="en-US" sz="950" b="1" dirty="0">
                <a:solidFill>
                  <a:srgbClr val="00BFA5"/>
                </a:solidFill>
              </a:rPr>
              <a:t>Demand</a:t>
            </a:r>
            <a:endParaRPr lang="en-US" sz="950" dirty="0"/>
          </a:p>
        </p:txBody>
      </p:sp>
      <p:sp>
        <p:nvSpPr>
          <p:cNvPr id="46" name="Text 44"/>
          <p:cNvSpPr/>
          <p:nvPr/>
        </p:nvSpPr>
        <p:spPr>
          <a:xfrm>
            <a:off x="6035040" y="3557016"/>
            <a:ext cx="2606040" cy="256032"/>
          </a:xfrm>
          <a:prstGeom prst="rect">
            <a:avLst/>
          </a:prstGeom>
          <a:noFill/>
          <a:ln/>
        </p:spPr>
        <p:txBody>
          <a:bodyPr wrap="square" lIns="0" tIns="0" rIns="0" bIns="0" rtlCol="0" anchor="ctr"/>
          <a:lstStyle/>
          <a:p>
            <a:pPr indent="0" marL="0">
              <a:buNone/>
            </a:pPr>
            <a:r>
              <a:rPr lang="en-US" sz="850" dirty="0">
                <a:solidFill>
                  <a:srgbClr val="F0F4F8"/>
                </a:solidFill>
              </a:rPr>
              <a:t>store_id, product_id, quantity, priority</a:t>
            </a:r>
            <a:endParaRPr lang="en-US" sz="850" dirty="0"/>
          </a:p>
        </p:txBody>
      </p:sp>
      <p:sp>
        <p:nvSpPr>
          <p:cNvPr id="47" name="Shape 45"/>
          <p:cNvSpPr/>
          <p:nvPr/>
        </p:nvSpPr>
        <p:spPr>
          <a:xfrm>
            <a:off x="4754880" y="3922776"/>
            <a:ext cx="4023360" cy="347472"/>
          </a:xfrm>
          <a:prstGeom prst="rect">
            <a:avLst/>
          </a:prstGeom>
          <a:solidFill>
            <a:srgbClr val="1A2840"/>
          </a:solidFill>
          <a:ln/>
        </p:spPr>
      </p:sp>
      <p:sp>
        <p:nvSpPr>
          <p:cNvPr id="48" name="Text 46"/>
          <p:cNvSpPr/>
          <p:nvPr/>
        </p:nvSpPr>
        <p:spPr>
          <a:xfrm>
            <a:off x="4892040" y="3959352"/>
            <a:ext cx="1097280" cy="256032"/>
          </a:xfrm>
          <a:prstGeom prst="rect">
            <a:avLst/>
          </a:prstGeom>
          <a:noFill/>
          <a:ln/>
        </p:spPr>
        <p:txBody>
          <a:bodyPr wrap="square" lIns="0" tIns="0" rIns="0" bIns="0" rtlCol="0" anchor="ctr"/>
          <a:lstStyle/>
          <a:p>
            <a:pPr indent="0" marL="0">
              <a:buNone/>
            </a:pPr>
            <a:r>
              <a:rPr lang="en-US" sz="950" b="1" dirty="0">
                <a:solidFill>
                  <a:srgbClr val="00BFA5"/>
                </a:solidFill>
              </a:rPr>
              <a:t>Route</a:t>
            </a:r>
            <a:endParaRPr lang="en-US" sz="950" dirty="0"/>
          </a:p>
        </p:txBody>
      </p:sp>
      <p:sp>
        <p:nvSpPr>
          <p:cNvPr id="49" name="Text 47"/>
          <p:cNvSpPr/>
          <p:nvPr/>
        </p:nvSpPr>
        <p:spPr>
          <a:xfrm>
            <a:off x="6035040" y="3959352"/>
            <a:ext cx="2606040" cy="256032"/>
          </a:xfrm>
          <a:prstGeom prst="rect">
            <a:avLst/>
          </a:prstGeom>
          <a:noFill/>
          <a:ln/>
        </p:spPr>
        <p:txBody>
          <a:bodyPr wrap="square" lIns="0" tIns="0" rIns="0" bIns="0" rtlCol="0" anchor="ctr"/>
          <a:lstStyle/>
          <a:p>
            <a:pPr indent="0" marL="0">
              <a:buNone/>
            </a:pPr>
            <a:r>
              <a:rPr lang="en-US" sz="850" dirty="0">
                <a:solidFill>
                  <a:srgbClr val="F0F4F8"/>
                </a:solidFill>
              </a:rPr>
              <a:t>route_id, stops[], status, truck_id</a:t>
            </a:r>
            <a:endParaRPr lang="en-US" sz="850" dirty="0"/>
          </a:p>
        </p:txBody>
      </p:sp>
      <p:sp>
        <p:nvSpPr>
          <p:cNvPr id="50" name="Shape 48"/>
          <p:cNvSpPr/>
          <p:nvPr/>
        </p:nvSpPr>
        <p:spPr>
          <a:xfrm>
            <a:off x="4754880" y="4325112"/>
            <a:ext cx="4023360" cy="347472"/>
          </a:xfrm>
          <a:prstGeom prst="rect">
            <a:avLst/>
          </a:prstGeom>
          <a:solidFill>
            <a:srgbClr val="132233"/>
          </a:solidFill>
          <a:ln/>
        </p:spPr>
      </p:sp>
      <p:sp>
        <p:nvSpPr>
          <p:cNvPr id="51" name="Text 49"/>
          <p:cNvSpPr/>
          <p:nvPr/>
        </p:nvSpPr>
        <p:spPr>
          <a:xfrm>
            <a:off x="4892040" y="4361688"/>
            <a:ext cx="1097280" cy="256032"/>
          </a:xfrm>
          <a:prstGeom prst="rect">
            <a:avLst/>
          </a:prstGeom>
          <a:noFill/>
          <a:ln/>
        </p:spPr>
        <p:txBody>
          <a:bodyPr wrap="square" lIns="0" tIns="0" rIns="0" bIns="0" rtlCol="0" anchor="ctr"/>
          <a:lstStyle/>
          <a:p>
            <a:pPr indent="0" marL="0">
              <a:buNone/>
            </a:pPr>
            <a:r>
              <a:rPr lang="en-US" sz="950" b="1" dirty="0">
                <a:solidFill>
                  <a:srgbClr val="00BFA5"/>
                </a:solidFill>
              </a:rPr>
              <a:t>Execution</a:t>
            </a:r>
            <a:endParaRPr lang="en-US" sz="950" dirty="0"/>
          </a:p>
        </p:txBody>
      </p:sp>
      <p:sp>
        <p:nvSpPr>
          <p:cNvPr id="52" name="Text 50"/>
          <p:cNvSpPr/>
          <p:nvPr/>
        </p:nvSpPr>
        <p:spPr>
          <a:xfrm>
            <a:off x="6035040" y="4361688"/>
            <a:ext cx="2606040" cy="256032"/>
          </a:xfrm>
          <a:prstGeom prst="rect">
            <a:avLst/>
          </a:prstGeom>
          <a:noFill/>
          <a:ln/>
        </p:spPr>
        <p:txBody>
          <a:bodyPr wrap="square" lIns="0" tIns="0" rIns="0" bIns="0" rtlCol="0" anchor="ctr"/>
          <a:lstStyle/>
          <a:p>
            <a:pPr indent="0" marL="0">
              <a:buNone/>
            </a:pPr>
            <a:r>
              <a:rPr lang="en-US" sz="850" dirty="0">
                <a:solidFill>
                  <a:srgbClr val="F0F4F8"/>
                </a:solidFill>
              </a:rPr>
              <a:t>step, timestamp, truck_id, route_id</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365760" y="201168"/>
            <a:ext cx="1554480" cy="256032"/>
          </a:xfrm>
          <a:prstGeom prst="rect">
            <a:avLst/>
          </a:prstGeom>
          <a:solidFill>
            <a:srgbClr val="00BFA5"/>
          </a:solidFill>
          <a:ln w="12700">
            <a:solidFill>
              <a:srgbClr val="00BFA5"/>
            </a:solidFill>
            <a:prstDash val="solid"/>
          </a:ln>
        </p:spPr>
      </p:sp>
      <p:sp>
        <p:nvSpPr>
          <p:cNvPr id="3" name="Text 1"/>
          <p:cNvSpPr/>
          <p:nvPr/>
        </p:nvSpPr>
        <p:spPr>
          <a:xfrm>
            <a:off x="365760" y="192024"/>
            <a:ext cx="1554480" cy="256032"/>
          </a:xfrm>
          <a:prstGeom prst="rect">
            <a:avLst/>
          </a:prstGeom>
          <a:noFill/>
          <a:ln/>
        </p:spPr>
        <p:txBody>
          <a:bodyPr wrap="square" lIns="0" tIns="0" rIns="0" bIns="0" rtlCol="0" anchor="ctr"/>
          <a:lstStyle/>
          <a:p>
            <a:pPr algn="ctr" indent="0" marL="0">
              <a:buNone/>
            </a:pPr>
            <a:r>
              <a:rPr lang="en-US" sz="700" b="1" spc="200" kern="0" dirty="0">
                <a:solidFill>
                  <a:srgbClr val="0D1B2A"/>
                </a:solidFill>
              </a:rPr>
              <a:t>FRONTEND</a:t>
            </a:r>
            <a:endParaRPr lang="en-US" sz="700" dirty="0"/>
          </a:p>
        </p:txBody>
      </p:sp>
      <p:sp>
        <p:nvSpPr>
          <p:cNvPr id="4" name="Text 2"/>
          <p:cNvSpPr/>
          <p:nvPr/>
        </p:nvSpPr>
        <p:spPr>
          <a:xfrm>
            <a:off x="365760" y="548640"/>
            <a:ext cx="8412480" cy="640080"/>
          </a:xfrm>
          <a:prstGeom prst="rect">
            <a:avLst/>
          </a:prstGeom>
          <a:noFill/>
          <a:ln/>
        </p:spPr>
        <p:txBody>
          <a:bodyPr wrap="square" lIns="0" tIns="0" rIns="0" bIns="0" rtlCol="0" anchor="ctr"/>
          <a:lstStyle/>
          <a:p>
            <a:pPr indent="0" marL="0">
              <a:buNone/>
            </a:pPr>
            <a:r>
              <a:rPr lang="en-US" sz="2600" b="1" dirty="0">
                <a:solidFill>
                  <a:srgbClr val="0D1B2A"/>
                </a:solidFill>
                <a:latin typeface="Calibri" pitchFamily="34" charset="0"/>
                <a:ea typeface="Calibri" pitchFamily="34" charset="-122"/>
                <a:cs typeface="Calibri" pitchFamily="34" charset="-120"/>
              </a:rPr>
              <a:t>Frontend: Live Network Visualization</a:t>
            </a:r>
            <a:endParaRPr lang="en-US" sz="2600" dirty="0"/>
          </a:p>
        </p:txBody>
      </p:sp>
      <p:pic>
        <p:nvPicPr>
          <p:cNvPr id="5" name="Image 0" descr="preencoded.png">    </p:cNvPr>
          <p:cNvPicPr>
            <a:picLocks noChangeAspect="1"/>
          </p:cNvPicPr>
          <p:nvPr/>
        </p:nvPicPr>
        <p:blipFill>
          <a:blip r:embed="rId1"/>
          <a:stretch>
            <a:fillRect/>
          </a:stretch>
        </p:blipFill>
        <p:spPr>
          <a:xfrm>
            <a:off x="365760" y="1380744"/>
            <a:ext cx="329184" cy="329184"/>
          </a:xfrm>
          <a:prstGeom prst="rect">
            <a:avLst/>
          </a:prstGeom>
        </p:spPr>
      </p:pic>
      <p:sp>
        <p:nvSpPr>
          <p:cNvPr id="6" name="Text 3"/>
          <p:cNvSpPr/>
          <p:nvPr/>
        </p:nvSpPr>
        <p:spPr>
          <a:xfrm>
            <a:off x="822960" y="1325880"/>
            <a:ext cx="3931920" cy="292608"/>
          </a:xfrm>
          <a:prstGeom prst="rect">
            <a:avLst/>
          </a:prstGeom>
          <a:noFill/>
          <a:ln/>
        </p:spPr>
        <p:txBody>
          <a:bodyPr wrap="square" lIns="0" tIns="0" rIns="0" bIns="0" rtlCol="0" anchor="ctr"/>
          <a:lstStyle/>
          <a:p>
            <a:pPr indent="0" marL="0">
              <a:buNone/>
            </a:pPr>
            <a:r>
              <a:rPr lang="en-US" sz="1200" b="1" dirty="0">
                <a:solidFill>
                  <a:srgbClr val="0D1B2A"/>
                </a:solidFill>
              </a:rPr>
              <a:t>Interactive network graph</a:t>
            </a:r>
            <a:endParaRPr lang="en-US" sz="1200" dirty="0"/>
          </a:p>
        </p:txBody>
      </p:sp>
      <p:sp>
        <p:nvSpPr>
          <p:cNvPr id="7" name="Text 4"/>
          <p:cNvSpPr/>
          <p:nvPr/>
        </p:nvSpPr>
        <p:spPr>
          <a:xfrm>
            <a:off x="822960" y="1600200"/>
            <a:ext cx="3931920" cy="256032"/>
          </a:xfrm>
          <a:prstGeom prst="rect">
            <a:avLst/>
          </a:prstGeom>
          <a:noFill/>
          <a:ln/>
        </p:spPr>
        <p:txBody>
          <a:bodyPr wrap="square" lIns="0" tIns="0" rIns="0" bIns="0" rtlCol="0" anchor="ctr"/>
          <a:lstStyle/>
          <a:p>
            <a:pPr indent="0" marL="0">
              <a:buNone/>
            </a:pPr>
            <a:r>
              <a:rPr lang="en-US" sz="950" dirty="0">
                <a:solidFill>
                  <a:srgbClr val="8A9BAB"/>
                </a:solidFill>
              </a:rPr>
              <a:t>Nodes: factories, warehouses, stores, junctions</a:t>
            </a:r>
            <a:endParaRPr lang="en-US" sz="950" dirty="0"/>
          </a:p>
        </p:txBody>
      </p:sp>
      <p:pic>
        <p:nvPicPr>
          <p:cNvPr id="8" name="Image 1" descr="preencoded.png">    </p:cNvPr>
          <p:cNvPicPr>
            <a:picLocks noChangeAspect="1"/>
          </p:cNvPicPr>
          <p:nvPr/>
        </p:nvPicPr>
        <p:blipFill>
          <a:blip r:embed="rId2"/>
          <a:stretch>
            <a:fillRect/>
          </a:stretch>
        </p:blipFill>
        <p:spPr>
          <a:xfrm>
            <a:off x="365760" y="1975104"/>
            <a:ext cx="329184" cy="329184"/>
          </a:xfrm>
          <a:prstGeom prst="rect">
            <a:avLst/>
          </a:prstGeom>
        </p:spPr>
      </p:pic>
      <p:sp>
        <p:nvSpPr>
          <p:cNvPr id="9" name="Text 5"/>
          <p:cNvSpPr/>
          <p:nvPr/>
        </p:nvSpPr>
        <p:spPr>
          <a:xfrm>
            <a:off x="822960" y="1920240"/>
            <a:ext cx="3931920" cy="292608"/>
          </a:xfrm>
          <a:prstGeom prst="rect">
            <a:avLst/>
          </a:prstGeom>
          <a:noFill/>
          <a:ln/>
        </p:spPr>
        <p:txBody>
          <a:bodyPr wrap="square" lIns="0" tIns="0" rIns="0" bIns="0" rtlCol="0" anchor="ctr"/>
          <a:lstStyle/>
          <a:p>
            <a:pPr indent="0" marL="0">
              <a:buNone/>
            </a:pPr>
            <a:r>
              <a:rPr lang="en-US" sz="1200" b="1" dirty="0">
                <a:solidFill>
                  <a:srgbClr val="0D1B2A"/>
                </a:solidFill>
              </a:rPr>
              <a:t>Live truck movement</a:t>
            </a:r>
            <a:endParaRPr lang="en-US" sz="1200" dirty="0"/>
          </a:p>
        </p:txBody>
      </p:sp>
      <p:sp>
        <p:nvSpPr>
          <p:cNvPr id="10" name="Text 6"/>
          <p:cNvSpPr/>
          <p:nvPr/>
        </p:nvSpPr>
        <p:spPr>
          <a:xfrm>
            <a:off x="822960" y="2194560"/>
            <a:ext cx="3931920" cy="256032"/>
          </a:xfrm>
          <a:prstGeom prst="rect">
            <a:avLst/>
          </a:prstGeom>
          <a:noFill/>
          <a:ln/>
        </p:spPr>
        <p:txBody>
          <a:bodyPr wrap="square" lIns="0" tIns="0" rIns="0" bIns="0" rtlCol="0" anchor="ctr"/>
          <a:lstStyle/>
          <a:p>
            <a:pPr indent="0" marL="0">
              <a:buNone/>
            </a:pPr>
            <a:r>
              <a:rPr lang="en-US" sz="950" dirty="0">
                <a:solidFill>
                  <a:srgbClr val="8A9BAB"/>
                </a:solidFill>
              </a:rPr>
              <a:t>Trucks animate along active routes in real time</a:t>
            </a:r>
            <a:endParaRPr lang="en-US" sz="950" dirty="0"/>
          </a:p>
        </p:txBody>
      </p:sp>
      <p:pic>
        <p:nvPicPr>
          <p:cNvPr id="11" name="Image 2" descr="preencoded.png">    </p:cNvPr>
          <p:cNvPicPr>
            <a:picLocks noChangeAspect="1"/>
          </p:cNvPicPr>
          <p:nvPr/>
        </p:nvPicPr>
        <p:blipFill>
          <a:blip r:embed="rId3"/>
          <a:stretch>
            <a:fillRect/>
          </a:stretch>
        </p:blipFill>
        <p:spPr>
          <a:xfrm>
            <a:off x="365760" y="2569464"/>
            <a:ext cx="329184" cy="329184"/>
          </a:xfrm>
          <a:prstGeom prst="rect">
            <a:avLst/>
          </a:prstGeom>
        </p:spPr>
      </p:pic>
      <p:sp>
        <p:nvSpPr>
          <p:cNvPr id="12" name="Text 7"/>
          <p:cNvSpPr/>
          <p:nvPr/>
        </p:nvSpPr>
        <p:spPr>
          <a:xfrm>
            <a:off x="822960" y="2514600"/>
            <a:ext cx="3931920" cy="292608"/>
          </a:xfrm>
          <a:prstGeom prst="rect">
            <a:avLst/>
          </a:prstGeom>
          <a:noFill/>
          <a:ln/>
        </p:spPr>
        <p:txBody>
          <a:bodyPr wrap="square" lIns="0" tIns="0" rIns="0" bIns="0" rtlCol="0" anchor="ctr"/>
          <a:lstStyle/>
          <a:p>
            <a:pPr indent="0" marL="0">
              <a:buNone/>
            </a:pPr>
            <a:r>
              <a:rPr lang="en-US" sz="1200" b="1" dirty="0">
                <a:solidFill>
                  <a:srgbClr val="0D1B2A"/>
                </a:solidFill>
              </a:rPr>
              <a:t>Built route display</a:t>
            </a:r>
            <a:endParaRPr lang="en-US" sz="1200" dirty="0"/>
          </a:p>
        </p:txBody>
      </p:sp>
      <p:sp>
        <p:nvSpPr>
          <p:cNvPr id="13" name="Text 8"/>
          <p:cNvSpPr/>
          <p:nvPr/>
        </p:nvSpPr>
        <p:spPr>
          <a:xfrm>
            <a:off x="822960" y="2788920"/>
            <a:ext cx="3931920" cy="256032"/>
          </a:xfrm>
          <a:prstGeom prst="rect">
            <a:avLst/>
          </a:prstGeom>
          <a:noFill/>
          <a:ln/>
        </p:spPr>
        <p:txBody>
          <a:bodyPr wrap="square" lIns="0" tIns="0" rIns="0" bIns="0" rtlCol="0" anchor="ctr"/>
          <a:lstStyle/>
          <a:p>
            <a:pPr indent="0" marL="0">
              <a:buNone/>
            </a:pPr>
            <a:r>
              <a:rPr lang="en-US" sz="950" dirty="0">
                <a:solidFill>
                  <a:srgbClr val="8A9BAB"/>
                </a:solidFill>
              </a:rPr>
              <a:t>All planned routes rendered on the graph</a:t>
            </a:r>
            <a:endParaRPr lang="en-US" sz="950" dirty="0"/>
          </a:p>
        </p:txBody>
      </p:sp>
      <p:pic>
        <p:nvPicPr>
          <p:cNvPr id="14" name="Image 3" descr="preencoded.png">    </p:cNvPr>
          <p:cNvPicPr>
            <a:picLocks noChangeAspect="1"/>
          </p:cNvPicPr>
          <p:nvPr/>
        </p:nvPicPr>
        <p:blipFill>
          <a:blip r:embed="rId4"/>
          <a:stretch>
            <a:fillRect/>
          </a:stretch>
        </p:blipFill>
        <p:spPr>
          <a:xfrm>
            <a:off x="365760" y="3163824"/>
            <a:ext cx="329184" cy="329184"/>
          </a:xfrm>
          <a:prstGeom prst="rect">
            <a:avLst/>
          </a:prstGeom>
        </p:spPr>
      </p:pic>
      <p:sp>
        <p:nvSpPr>
          <p:cNvPr id="15" name="Text 9"/>
          <p:cNvSpPr/>
          <p:nvPr/>
        </p:nvSpPr>
        <p:spPr>
          <a:xfrm>
            <a:off x="822960" y="3108960"/>
            <a:ext cx="3931920" cy="292608"/>
          </a:xfrm>
          <a:prstGeom prst="rect">
            <a:avLst/>
          </a:prstGeom>
          <a:noFill/>
          <a:ln/>
        </p:spPr>
        <p:txBody>
          <a:bodyPr wrap="square" lIns="0" tIns="0" rIns="0" bIns="0" rtlCol="0" anchor="ctr"/>
          <a:lstStyle/>
          <a:p>
            <a:pPr indent="0" marL="0">
              <a:buNone/>
            </a:pPr>
            <a:r>
              <a:rPr lang="en-US" sz="1200" b="1" dirty="0">
                <a:solidFill>
                  <a:srgbClr val="0D1B2A"/>
                </a:solidFill>
              </a:rPr>
              <a:t>Warehouse action panel</a:t>
            </a:r>
            <a:endParaRPr lang="en-US" sz="1200" dirty="0"/>
          </a:p>
        </p:txBody>
      </p:sp>
      <p:sp>
        <p:nvSpPr>
          <p:cNvPr id="16" name="Text 10"/>
          <p:cNvSpPr/>
          <p:nvPr/>
        </p:nvSpPr>
        <p:spPr>
          <a:xfrm>
            <a:off x="822960" y="3383280"/>
            <a:ext cx="3931920" cy="256032"/>
          </a:xfrm>
          <a:prstGeom prst="rect">
            <a:avLst/>
          </a:prstGeom>
          <a:noFill/>
          <a:ln/>
        </p:spPr>
        <p:txBody>
          <a:bodyPr wrap="square" lIns="0" tIns="0" rIns="0" bIns="0" rtlCol="0" anchor="ctr"/>
          <a:lstStyle/>
          <a:p>
            <a:pPr indent="0" marL="0">
              <a:buNone/>
            </a:pPr>
            <a:r>
              <a:rPr lang="en-US" sz="950" dirty="0">
                <a:solidFill>
                  <a:srgbClr val="8A9BAB"/>
                </a:solidFill>
              </a:rPr>
              <a:t>Start/complete loading, dispatch trucks</a:t>
            </a:r>
            <a:endParaRPr lang="en-US" sz="950" dirty="0"/>
          </a:p>
        </p:txBody>
      </p:sp>
      <p:pic>
        <p:nvPicPr>
          <p:cNvPr id="17" name="Image 4" descr="preencoded.png">    </p:cNvPr>
          <p:cNvPicPr>
            <a:picLocks noChangeAspect="1"/>
          </p:cNvPicPr>
          <p:nvPr/>
        </p:nvPicPr>
        <p:blipFill>
          <a:blip r:embed="rId5"/>
          <a:stretch>
            <a:fillRect/>
          </a:stretch>
        </p:blipFill>
        <p:spPr>
          <a:xfrm>
            <a:off x="365760" y="3758184"/>
            <a:ext cx="329184" cy="329184"/>
          </a:xfrm>
          <a:prstGeom prst="rect">
            <a:avLst/>
          </a:prstGeom>
        </p:spPr>
      </p:pic>
      <p:sp>
        <p:nvSpPr>
          <p:cNvPr id="18" name="Text 11"/>
          <p:cNvSpPr/>
          <p:nvPr/>
        </p:nvSpPr>
        <p:spPr>
          <a:xfrm>
            <a:off x="822960" y="3703320"/>
            <a:ext cx="3931920" cy="292608"/>
          </a:xfrm>
          <a:prstGeom prst="rect">
            <a:avLst/>
          </a:prstGeom>
          <a:noFill/>
          <a:ln/>
        </p:spPr>
        <p:txBody>
          <a:bodyPr wrap="square" lIns="0" tIns="0" rIns="0" bIns="0" rtlCol="0" anchor="ctr"/>
          <a:lstStyle/>
          <a:p>
            <a:pPr indent="0" marL="0">
              <a:buNone/>
            </a:pPr>
            <a:r>
              <a:rPr lang="en-US" sz="1200" b="1" dirty="0">
                <a:solidFill>
                  <a:srgbClr val="0D1B2A"/>
                </a:solidFill>
              </a:rPr>
              <a:t>Stock &amp; demand views</a:t>
            </a:r>
            <a:endParaRPr lang="en-US" sz="1200" dirty="0"/>
          </a:p>
        </p:txBody>
      </p:sp>
      <p:sp>
        <p:nvSpPr>
          <p:cNvPr id="19" name="Text 12"/>
          <p:cNvSpPr/>
          <p:nvPr/>
        </p:nvSpPr>
        <p:spPr>
          <a:xfrm>
            <a:off x="822960" y="3977640"/>
            <a:ext cx="3931920" cy="256032"/>
          </a:xfrm>
          <a:prstGeom prst="rect">
            <a:avLst/>
          </a:prstGeom>
          <a:noFill/>
          <a:ln/>
        </p:spPr>
        <p:txBody>
          <a:bodyPr wrap="square" lIns="0" tIns="0" rIns="0" bIns="0" rtlCol="0" anchor="ctr"/>
          <a:lstStyle/>
          <a:p>
            <a:pPr indent="0" marL="0">
              <a:buNone/>
            </a:pPr>
            <a:r>
              <a:rPr lang="en-US" sz="950" dirty="0">
                <a:solidFill>
                  <a:srgbClr val="8A9BAB"/>
                </a:solidFill>
              </a:rPr>
              <a:t>Inventory levels and store demand at a glance</a:t>
            </a:r>
            <a:endParaRPr lang="en-US" sz="950" dirty="0"/>
          </a:p>
        </p:txBody>
      </p:sp>
      <p:pic>
        <p:nvPicPr>
          <p:cNvPr id="20" name="Image 5" descr="preencoded.png">    </p:cNvPr>
          <p:cNvPicPr>
            <a:picLocks noChangeAspect="1"/>
          </p:cNvPicPr>
          <p:nvPr/>
        </p:nvPicPr>
        <p:blipFill>
          <a:blip r:embed="rId6"/>
          <a:stretch>
            <a:fillRect/>
          </a:stretch>
        </p:blipFill>
        <p:spPr>
          <a:xfrm>
            <a:off x="365760" y="4352544"/>
            <a:ext cx="329184" cy="329184"/>
          </a:xfrm>
          <a:prstGeom prst="rect">
            <a:avLst/>
          </a:prstGeom>
        </p:spPr>
      </p:pic>
      <p:sp>
        <p:nvSpPr>
          <p:cNvPr id="21" name="Text 13"/>
          <p:cNvSpPr/>
          <p:nvPr/>
        </p:nvSpPr>
        <p:spPr>
          <a:xfrm>
            <a:off x="822960" y="4297680"/>
            <a:ext cx="3931920" cy="292608"/>
          </a:xfrm>
          <a:prstGeom prst="rect">
            <a:avLst/>
          </a:prstGeom>
          <a:noFill/>
          <a:ln/>
        </p:spPr>
        <p:txBody>
          <a:bodyPr wrap="square" lIns="0" tIns="0" rIns="0" bIns="0" rtlCol="0" anchor="ctr"/>
          <a:lstStyle/>
          <a:p>
            <a:pPr indent="0" marL="0">
              <a:buNone/>
            </a:pPr>
            <a:r>
              <a:rPr lang="en-US" sz="1200" b="1" dirty="0">
                <a:solidFill>
                  <a:srgbClr val="0D1B2A"/>
                </a:solidFill>
              </a:rPr>
              <a:t>Auto-refresh</a:t>
            </a:r>
            <a:endParaRPr lang="en-US" sz="1200" dirty="0"/>
          </a:p>
        </p:txBody>
      </p:sp>
      <p:sp>
        <p:nvSpPr>
          <p:cNvPr id="22" name="Text 14"/>
          <p:cNvSpPr/>
          <p:nvPr/>
        </p:nvSpPr>
        <p:spPr>
          <a:xfrm>
            <a:off x="822960" y="4572000"/>
            <a:ext cx="3931920" cy="256032"/>
          </a:xfrm>
          <a:prstGeom prst="rect">
            <a:avLst/>
          </a:prstGeom>
          <a:noFill/>
          <a:ln/>
        </p:spPr>
        <p:txBody>
          <a:bodyPr wrap="square" lIns="0" tIns="0" rIns="0" bIns="0" rtlCol="0" anchor="ctr"/>
          <a:lstStyle/>
          <a:p>
            <a:pPr indent="0" marL="0">
              <a:buNone/>
            </a:pPr>
            <a:r>
              <a:rPr lang="en-US" sz="950" dirty="0">
                <a:solidFill>
                  <a:srgbClr val="8A9BAB"/>
                </a:solidFill>
              </a:rPr>
              <a:t>Frontend polls backend every few seconds</a:t>
            </a:r>
            <a:endParaRPr lang="en-US" sz="950" dirty="0"/>
          </a:p>
        </p:txBody>
      </p:sp>
      <p:sp>
        <p:nvSpPr>
          <p:cNvPr id="23" name="Shape 15"/>
          <p:cNvSpPr/>
          <p:nvPr/>
        </p:nvSpPr>
        <p:spPr>
          <a:xfrm>
            <a:off x="5029200" y="1234440"/>
            <a:ext cx="3749040" cy="3474720"/>
          </a:xfrm>
          <a:prstGeom prst="rect">
            <a:avLst/>
          </a:prstGeom>
          <a:solidFill>
            <a:srgbClr val="1E2A38"/>
          </a:solidFill>
          <a:ln/>
        </p:spPr>
      </p:sp>
      <p:sp>
        <p:nvSpPr>
          <p:cNvPr id="24" name="Shape 16"/>
          <p:cNvSpPr/>
          <p:nvPr/>
        </p:nvSpPr>
        <p:spPr>
          <a:xfrm>
            <a:off x="5029200" y="1234440"/>
            <a:ext cx="3749040" cy="256032"/>
          </a:xfrm>
          <a:prstGeom prst="rect">
            <a:avLst/>
          </a:prstGeom>
          <a:solidFill>
            <a:srgbClr val="2D3E50"/>
          </a:solidFill>
          <a:ln/>
        </p:spPr>
      </p:sp>
      <p:sp>
        <p:nvSpPr>
          <p:cNvPr id="25" name="Shape 17"/>
          <p:cNvSpPr/>
          <p:nvPr/>
        </p:nvSpPr>
        <p:spPr>
          <a:xfrm>
            <a:off x="5138928" y="1307592"/>
            <a:ext cx="109728" cy="109728"/>
          </a:xfrm>
          <a:prstGeom prst="ellipse">
            <a:avLst/>
          </a:prstGeom>
          <a:solidFill>
            <a:srgbClr val="EF5350"/>
          </a:solidFill>
          <a:ln w="12700">
            <a:solidFill>
              <a:srgbClr val="EF5350"/>
            </a:solidFill>
            <a:prstDash val="solid"/>
          </a:ln>
        </p:spPr>
      </p:sp>
      <p:sp>
        <p:nvSpPr>
          <p:cNvPr id="26" name="Shape 18"/>
          <p:cNvSpPr/>
          <p:nvPr/>
        </p:nvSpPr>
        <p:spPr>
          <a:xfrm>
            <a:off x="5340096" y="1307592"/>
            <a:ext cx="109728" cy="109728"/>
          </a:xfrm>
          <a:prstGeom prst="ellipse">
            <a:avLst/>
          </a:prstGeom>
          <a:solidFill>
            <a:srgbClr val="F9A826"/>
          </a:solidFill>
          <a:ln w="12700">
            <a:solidFill>
              <a:srgbClr val="F9A826"/>
            </a:solidFill>
            <a:prstDash val="solid"/>
          </a:ln>
        </p:spPr>
      </p:sp>
      <p:sp>
        <p:nvSpPr>
          <p:cNvPr id="27" name="Shape 19"/>
          <p:cNvSpPr/>
          <p:nvPr/>
        </p:nvSpPr>
        <p:spPr>
          <a:xfrm>
            <a:off x="5541264" y="1307592"/>
            <a:ext cx="109728" cy="109728"/>
          </a:xfrm>
          <a:prstGeom prst="ellipse">
            <a:avLst/>
          </a:prstGeom>
          <a:solidFill>
            <a:srgbClr val="66BB6A"/>
          </a:solidFill>
          <a:ln w="12700">
            <a:solidFill>
              <a:srgbClr val="66BB6A"/>
            </a:solidFill>
            <a:prstDash val="solid"/>
          </a:ln>
        </p:spPr>
      </p:sp>
      <p:sp>
        <p:nvSpPr>
          <p:cNvPr id="28" name="Text 20"/>
          <p:cNvSpPr/>
          <p:nvPr/>
        </p:nvSpPr>
        <p:spPr>
          <a:xfrm>
            <a:off x="5440680" y="1261872"/>
            <a:ext cx="2194560" cy="182880"/>
          </a:xfrm>
          <a:prstGeom prst="rect">
            <a:avLst/>
          </a:prstGeom>
          <a:noFill/>
          <a:ln/>
        </p:spPr>
        <p:txBody>
          <a:bodyPr wrap="square" lIns="0" tIns="0" rIns="0" bIns="0" rtlCol="0" anchor="ctr"/>
          <a:lstStyle/>
          <a:p>
            <a:pPr algn="ctr" indent="0" marL="0">
              <a:buNone/>
            </a:pPr>
            <a:r>
              <a:rPr lang="en-US" sz="750" dirty="0">
                <a:solidFill>
                  <a:srgbClr val="8A9BAB"/>
                </a:solidFill>
              </a:rPr>
              <a:t>logisync.local</a:t>
            </a:r>
            <a:endParaRPr lang="en-US" sz="750" dirty="0"/>
          </a:p>
        </p:txBody>
      </p:sp>
      <p:sp>
        <p:nvSpPr>
          <p:cNvPr id="29" name="Shape 21"/>
          <p:cNvSpPr/>
          <p:nvPr/>
        </p:nvSpPr>
        <p:spPr>
          <a:xfrm>
            <a:off x="5029200" y="1490472"/>
            <a:ext cx="3749040" cy="3218688"/>
          </a:xfrm>
          <a:prstGeom prst="rect">
            <a:avLst/>
          </a:prstGeom>
          <a:solidFill>
            <a:srgbClr val="243447"/>
          </a:solidFill>
          <a:ln/>
        </p:spPr>
      </p:sp>
      <p:sp>
        <p:nvSpPr>
          <p:cNvPr id="30" name="Shape 22"/>
          <p:cNvSpPr/>
          <p:nvPr/>
        </p:nvSpPr>
        <p:spPr>
          <a:xfrm>
            <a:off x="5797296" y="2231136"/>
            <a:ext cx="914400" cy="365760"/>
          </a:xfrm>
          <a:prstGeom prst="line">
            <a:avLst/>
          </a:prstGeom>
          <a:noFill/>
          <a:ln w="12700">
            <a:solidFill>
              <a:srgbClr val="3A5068"/>
            </a:solidFill>
            <a:prstDash val="solid"/>
          </a:ln>
        </p:spPr>
      </p:sp>
      <p:sp>
        <p:nvSpPr>
          <p:cNvPr id="31" name="Shape 23"/>
          <p:cNvSpPr/>
          <p:nvPr/>
        </p:nvSpPr>
        <p:spPr>
          <a:xfrm>
            <a:off x="6967728" y="1938528"/>
            <a:ext cx="-274320" cy="640080"/>
          </a:xfrm>
          <a:prstGeom prst="line">
            <a:avLst/>
          </a:prstGeom>
          <a:noFill/>
          <a:ln w="12700">
            <a:solidFill>
              <a:srgbClr val="3A5068"/>
            </a:solidFill>
            <a:prstDash val="solid"/>
          </a:ln>
        </p:spPr>
      </p:sp>
      <p:sp>
        <p:nvSpPr>
          <p:cNvPr id="32" name="Shape 24"/>
          <p:cNvSpPr/>
          <p:nvPr/>
        </p:nvSpPr>
        <p:spPr>
          <a:xfrm>
            <a:off x="8174736" y="2414016"/>
            <a:ext cx="-1463040" cy="182880"/>
          </a:xfrm>
          <a:prstGeom prst="line">
            <a:avLst/>
          </a:prstGeom>
          <a:noFill/>
          <a:ln w="12700">
            <a:solidFill>
              <a:srgbClr val="3A5068"/>
            </a:solidFill>
            <a:prstDash val="solid"/>
          </a:ln>
        </p:spPr>
      </p:sp>
      <p:sp>
        <p:nvSpPr>
          <p:cNvPr id="33" name="Shape 25"/>
          <p:cNvSpPr/>
          <p:nvPr/>
        </p:nvSpPr>
        <p:spPr>
          <a:xfrm>
            <a:off x="6656832" y="2542032"/>
            <a:ext cx="-640080" cy="457200"/>
          </a:xfrm>
          <a:prstGeom prst="line">
            <a:avLst/>
          </a:prstGeom>
          <a:noFill/>
          <a:ln w="12700">
            <a:solidFill>
              <a:srgbClr val="3A5068"/>
            </a:solidFill>
            <a:prstDash val="solid"/>
          </a:ln>
        </p:spPr>
      </p:sp>
      <p:sp>
        <p:nvSpPr>
          <p:cNvPr id="34" name="Shape 26"/>
          <p:cNvSpPr/>
          <p:nvPr/>
        </p:nvSpPr>
        <p:spPr>
          <a:xfrm>
            <a:off x="6656832" y="2542032"/>
            <a:ext cx="548640" cy="640080"/>
          </a:xfrm>
          <a:prstGeom prst="line">
            <a:avLst/>
          </a:prstGeom>
          <a:noFill/>
          <a:ln w="12700">
            <a:solidFill>
              <a:srgbClr val="3A5068"/>
            </a:solidFill>
            <a:prstDash val="solid"/>
          </a:ln>
        </p:spPr>
      </p:sp>
      <p:sp>
        <p:nvSpPr>
          <p:cNvPr id="35" name="Shape 27"/>
          <p:cNvSpPr/>
          <p:nvPr/>
        </p:nvSpPr>
        <p:spPr>
          <a:xfrm>
            <a:off x="6656832" y="2542032"/>
            <a:ext cx="1280160" cy="365760"/>
          </a:xfrm>
          <a:prstGeom prst="line">
            <a:avLst/>
          </a:prstGeom>
          <a:noFill/>
          <a:ln w="12700">
            <a:solidFill>
              <a:srgbClr val="3A5068"/>
            </a:solidFill>
            <a:prstDash val="solid"/>
          </a:ln>
        </p:spPr>
      </p:sp>
      <p:sp>
        <p:nvSpPr>
          <p:cNvPr id="36" name="Shape 28"/>
          <p:cNvSpPr/>
          <p:nvPr/>
        </p:nvSpPr>
        <p:spPr>
          <a:xfrm>
            <a:off x="5669280" y="2103120"/>
            <a:ext cx="256032" cy="256032"/>
          </a:xfrm>
          <a:prstGeom prst="ellipse">
            <a:avLst/>
          </a:prstGeom>
          <a:solidFill>
            <a:srgbClr val="00BFA5"/>
          </a:solidFill>
          <a:ln w="12700">
            <a:solidFill>
              <a:srgbClr val="00BFA5"/>
            </a:solidFill>
            <a:prstDash val="solid"/>
          </a:ln>
        </p:spPr>
      </p:sp>
      <p:sp>
        <p:nvSpPr>
          <p:cNvPr id="37" name="Text 29"/>
          <p:cNvSpPr/>
          <p:nvPr/>
        </p:nvSpPr>
        <p:spPr>
          <a:xfrm>
            <a:off x="5623560" y="2377440"/>
            <a:ext cx="365760" cy="164592"/>
          </a:xfrm>
          <a:prstGeom prst="rect">
            <a:avLst/>
          </a:prstGeom>
          <a:noFill/>
          <a:ln/>
        </p:spPr>
        <p:txBody>
          <a:bodyPr wrap="square" lIns="0" tIns="0" rIns="0" bIns="0" rtlCol="0" anchor="ctr"/>
          <a:lstStyle/>
          <a:p>
            <a:pPr algn="ctr" indent="0" marL="0">
              <a:buNone/>
            </a:pPr>
            <a:r>
              <a:rPr lang="en-US" sz="700" dirty="0">
                <a:solidFill>
                  <a:srgbClr val="8A9BAB"/>
                </a:solidFill>
              </a:rPr>
              <a:t>WH</a:t>
            </a:r>
            <a:endParaRPr lang="en-US" sz="700" dirty="0"/>
          </a:p>
        </p:txBody>
      </p:sp>
      <p:sp>
        <p:nvSpPr>
          <p:cNvPr id="38" name="Shape 30"/>
          <p:cNvSpPr/>
          <p:nvPr/>
        </p:nvSpPr>
        <p:spPr>
          <a:xfrm>
            <a:off x="6858000" y="1828800"/>
            <a:ext cx="219456" cy="219456"/>
          </a:xfrm>
          <a:prstGeom prst="ellipse">
            <a:avLst/>
          </a:prstGeom>
          <a:solidFill>
            <a:srgbClr val="F9A826"/>
          </a:solidFill>
          <a:ln w="12700">
            <a:solidFill>
              <a:srgbClr val="F9A826"/>
            </a:solidFill>
            <a:prstDash val="solid"/>
          </a:ln>
        </p:spPr>
      </p:sp>
      <p:sp>
        <p:nvSpPr>
          <p:cNvPr id="39" name="Text 31"/>
          <p:cNvSpPr/>
          <p:nvPr/>
        </p:nvSpPr>
        <p:spPr>
          <a:xfrm>
            <a:off x="6812280" y="2066544"/>
            <a:ext cx="365760" cy="164592"/>
          </a:xfrm>
          <a:prstGeom prst="rect">
            <a:avLst/>
          </a:prstGeom>
          <a:noFill/>
          <a:ln/>
        </p:spPr>
        <p:txBody>
          <a:bodyPr wrap="square" lIns="0" tIns="0" rIns="0" bIns="0" rtlCol="0" anchor="ctr"/>
          <a:lstStyle/>
          <a:p>
            <a:pPr algn="ctr" indent="0" marL="0">
              <a:buNone/>
            </a:pPr>
            <a:r>
              <a:rPr lang="en-US" sz="700" dirty="0">
                <a:solidFill>
                  <a:srgbClr val="8A9BAB"/>
                </a:solidFill>
              </a:rPr>
              <a:t>F</a:t>
            </a:r>
            <a:endParaRPr lang="en-US" sz="700" dirty="0"/>
          </a:p>
        </p:txBody>
      </p:sp>
      <p:sp>
        <p:nvSpPr>
          <p:cNvPr id="40" name="Shape 32"/>
          <p:cNvSpPr/>
          <p:nvPr/>
        </p:nvSpPr>
        <p:spPr>
          <a:xfrm>
            <a:off x="8046720" y="2286000"/>
            <a:ext cx="256032" cy="256032"/>
          </a:xfrm>
          <a:prstGeom prst="ellipse">
            <a:avLst/>
          </a:prstGeom>
          <a:solidFill>
            <a:srgbClr val="00BFA5"/>
          </a:solidFill>
          <a:ln w="12700">
            <a:solidFill>
              <a:srgbClr val="00BFA5"/>
            </a:solidFill>
            <a:prstDash val="solid"/>
          </a:ln>
        </p:spPr>
      </p:sp>
      <p:sp>
        <p:nvSpPr>
          <p:cNvPr id="41" name="Text 33"/>
          <p:cNvSpPr/>
          <p:nvPr/>
        </p:nvSpPr>
        <p:spPr>
          <a:xfrm>
            <a:off x="8001000" y="2560320"/>
            <a:ext cx="365760" cy="164592"/>
          </a:xfrm>
          <a:prstGeom prst="rect">
            <a:avLst/>
          </a:prstGeom>
          <a:noFill/>
          <a:ln/>
        </p:spPr>
        <p:txBody>
          <a:bodyPr wrap="square" lIns="0" tIns="0" rIns="0" bIns="0" rtlCol="0" anchor="ctr"/>
          <a:lstStyle/>
          <a:p>
            <a:pPr algn="ctr" indent="0" marL="0">
              <a:buNone/>
            </a:pPr>
            <a:r>
              <a:rPr lang="en-US" sz="700" dirty="0">
                <a:solidFill>
                  <a:srgbClr val="8A9BAB"/>
                </a:solidFill>
              </a:rPr>
              <a:t>WH</a:t>
            </a:r>
            <a:endParaRPr lang="en-US" sz="700" dirty="0"/>
          </a:p>
        </p:txBody>
      </p:sp>
      <p:sp>
        <p:nvSpPr>
          <p:cNvPr id="42" name="Shape 34"/>
          <p:cNvSpPr/>
          <p:nvPr/>
        </p:nvSpPr>
        <p:spPr>
          <a:xfrm>
            <a:off x="5943600" y="2926080"/>
            <a:ext cx="201168" cy="201168"/>
          </a:xfrm>
          <a:prstGeom prst="ellipse">
            <a:avLst/>
          </a:prstGeom>
          <a:solidFill>
            <a:srgbClr val="66BB6A"/>
          </a:solidFill>
          <a:ln w="12700">
            <a:solidFill>
              <a:srgbClr val="66BB6A"/>
            </a:solidFill>
            <a:prstDash val="solid"/>
          </a:ln>
        </p:spPr>
      </p:sp>
      <p:sp>
        <p:nvSpPr>
          <p:cNvPr id="43" name="Text 35"/>
          <p:cNvSpPr/>
          <p:nvPr/>
        </p:nvSpPr>
        <p:spPr>
          <a:xfrm>
            <a:off x="5897880" y="3145536"/>
            <a:ext cx="365760" cy="164592"/>
          </a:xfrm>
          <a:prstGeom prst="rect">
            <a:avLst/>
          </a:prstGeom>
          <a:noFill/>
          <a:ln/>
        </p:spPr>
        <p:txBody>
          <a:bodyPr wrap="square" lIns="0" tIns="0" rIns="0" bIns="0" rtlCol="0" anchor="ctr"/>
          <a:lstStyle/>
          <a:p>
            <a:pPr algn="ctr" indent="0" marL="0">
              <a:buNone/>
            </a:pPr>
            <a:r>
              <a:rPr lang="en-US" sz="700" dirty="0">
                <a:solidFill>
                  <a:srgbClr val="8A9BAB"/>
                </a:solidFill>
              </a:rPr>
              <a:t>S</a:t>
            </a:r>
            <a:endParaRPr lang="en-US" sz="700" dirty="0"/>
          </a:p>
        </p:txBody>
      </p:sp>
      <p:sp>
        <p:nvSpPr>
          <p:cNvPr id="44" name="Shape 36"/>
          <p:cNvSpPr/>
          <p:nvPr/>
        </p:nvSpPr>
        <p:spPr>
          <a:xfrm>
            <a:off x="7132320" y="3108960"/>
            <a:ext cx="201168" cy="201168"/>
          </a:xfrm>
          <a:prstGeom prst="ellipse">
            <a:avLst/>
          </a:prstGeom>
          <a:solidFill>
            <a:srgbClr val="66BB6A"/>
          </a:solidFill>
          <a:ln w="12700">
            <a:solidFill>
              <a:srgbClr val="66BB6A"/>
            </a:solidFill>
            <a:prstDash val="solid"/>
          </a:ln>
        </p:spPr>
      </p:sp>
      <p:sp>
        <p:nvSpPr>
          <p:cNvPr id="45" name="Text 37"/>
          <p:cNvSpPr/>
          <p:nvPr/>
        </p:nvSpPr>
        <p:spPr>
          <a:xfrm>
            <a:off x="7086600" y="3328416"/>
            <a:ext cx="365760" cy="164592"/>
          </a:xfrm>
          <a:prstGeom prst="rect">
            <a:avLst/>
          </a:prstGeom>
          <a:noFill/>
          <a:ln/>
        </p:spPr>
        <p:txBody>
          <a:bodyPr wrap="square" lIns="0" tIns="0" rIns="0" bIns="0" rtlCol="0" anchor="ctr"/>
          <a:lstStyle/>
          <a:p>
            <a:pPr algn="ctr" indent="0" marL="0">
              <a:buNone/>
            </a:pPr>
            <a:r>
              <a:rPr lang="en-US" sz="700" dirty="0">
                <a:solidFill>
                  <a:srgbClr val="8A9BAB"/>
                </a:solidFill>
              </a:rPr>
              <a:t>S</a:t>
            </a:r>
            <a:endParaRPr lang="en-US" sz="700" dirty="0"/>
          </a:p>
        </p:txBody>
      </p:sp>
      <p:sp>
        <p:nvSpPr>
          <p:cNvPr id="46" name="Shape 38"/>
          <p:cNvSpPr/>
          <p:nvPr/>
        </p:nvSpPr>
        <p:spPr>
          <a:xfrm>
            <a:off x="7863840" y="2834640"/>
            <a:ext cx="201168" cy="201168"/>
          </a:xfrm>
          <a:prstGeom prst="ellipse">
            <a:avLst/>
          </a:prstGeom>
          <a:solidFill>
            <a:srgbClr val="66BB6A"/>
          </a:solidFill>
          <a:ln w="12700">
            <a:solidFill>
              <a:srgbClr val="66BB6A"/>
            </a:solidFill>
            <a:prstDash val="solid"/>
          </a:ln>
        </p:spPr>
      </p:sp>
      <p:sp>
        <p:nvSpPr>
          <p:cNvPr id="47" name="Text 39"/>
          <p:cNvSpPr/>
          <p:nvPr/>
        </p:nvSpPr>
        <p:spPr>
          <a:xfrm>
            <a:off x="7818120" y="3054096"/>
            <a:ext cx="365760" cy="164592"/>
          </a:xfrm>
          <a:prstGeom prst="rect">
            <a:avLst/>
          </a:prstGeom>
          <a:noFill/>
          <a:ln/>
        </p:spPr>
        <p:txBody>
          <a:bodyPr wrap="square" lIns="0" tIns="0" rIns="0" bIns="0" rtlCol="0" anchor="ctr"/>
          <a:lstStyle/>
          <a:p>
            <a:pPr algn="ctr" indent="0" marL="0">
              <a:buNone/>
            </a:pPr>
            <a:r>
              <a:rPr lang="en-US" sz="700" dirty="0">
                <a:solidFill>
                  <a:srgbClr val="8A9BAB"/>
                </a:solidFill>
              </a:rPr>
              <a:t>S</a:t>
            </a:r>
            <a:endParaRPr lang="en-US" sz="700" dirty="0"/>
          </a:p>
        </p:txBody>
      </p:sp>
      <p:sp>
        <p:nvSpPr>
          <p:cNvPr id="48" name="Shape 40"/>
          <p:cNvSpPr/>
          <p:nvPr/>
        </p:nvSpPr>
        <p:spPr>
          <a:xfrm>
            <a:off x="6583680" y="2468880"/>
            <a:ext cx="146304" cy="146304"/>
          </a:xfrm>
          <a:prstGeom prst="ellipse">
            <a:avLst/>
          </a:prstGeom>
          <a:solidFill>
            <a:srgbClr val="B0BEC5"/>
          </a:solidFill>
          <a:ln w="12700">
            <a:solidFill>
              <a:srgbClr val="B0BEC5"/>
            </a:solidFill>
            <a:prstDash val="solid"/>
          </a:ln>
        </p:spPr>
      </p:sp>
      <p:pic>
        <p:nvPicPr>
          <p:cNvPr id="49" name="Image 6" descr="preencoded.png">    </p:cNvPr>
          <p:cNvPicPr>
            <a:picLocks noChangeAspect="1"/>
          </p:cNvPicPr>
          <p:nvPr/>
        </p:nvPicPr>
        <p:blipFill>
          <a:blip r:embed="rId7"/>
          <a:stretch>
            <a:fillRect/>
          </a:stretch>
        </p:blipFill>
        <p:spPr>
          <a:xfrm>
            <a:off x="6291072" y="2706624"/>
            <a:ext cx="256032" cy="256032"/>
          </a:xfrm>
          <a:prstGeom prst="rect">
            <a:avLst/>
          </a:prstGeom>
        </p:spPr>
      </p:pic>
      <p:sp>
        <p:nvSpPr>
          <p:cNvPr id="50" name="Shape 41"/>
          <p:cNvSpPr/>
          <p:nvPr/>
        </p:nvSpPr>
        <p:spPr>
          <a:xfrm>
            <a:off x="6711696" y="2542032"/>
            <a:ext cx="-658368" cy="420624"/>
          </a:xfrm>
          <a:prstGeom prst="line">
            <a:avLst/>
          </a:prstGeom>
          <a:noFill/>
          <a:ln w="25400">
            <a:solidFill>
              <a:srgbClr val="00BFA5"/>
            </a:solidFill>
            <a:prstDash val="solid"/>
          </a:ln>
        </p:spPr>
      </p:sp>
      <p:sp>
        <p:nvSpPr>
          <p:cNvPr id="51" name="Shape 42"/>
          <p:cNvSpPr/>
          <p:nvPr/>
        </p:nvSpPr>
        <p:spPr>
          <a:xfrm>
            <a:off x="5029200" y="4297680"/>
            <a:ext cx="3749040" cy="411480"/>
          </a:xfrm>
          <a:prstGeom prst="rect">
            <a:avLst/>
          </a:prstGeom>
          <a:solidFill>
            <a:srgbClr val="1A2535"/>
          </a:solidFill>
          <a:ln/>
        </p:spPr>
      </p:sp>
      <p:sp>
        <p:nvSpPr>
          <p:cNvPr id="52" name="Text 43"/>
          <p:cNvSpPr/>
          <p:nvPr/>
        </p:nvSpPr>
        <p:spPr>
          <a:xfrm>
            <a:off x="5074920" y="4352544"/>
            <a:ext cx="3657600" cy="256032"/>
          </a:xfrm>
          <a:prstGeom prst="rect">
            <a:avLst/>
          </a:prstGeom>
          <a:noFill/>
          <a:ln/>
        </p:spPr>
        <p:txBody>
          <a:bodyPr wrap="square" lIns="0" tIns="0" rIns="0" bIns="0" rtlCol="0" anchor="ctr"/>
          <a:lstStyle/>
          <a:p>
            <a:pPr indent="0" marL="0">
              <a:buNone/>
            </a:pPr>
            <a:r>
              <a:rPr lang="en-US" sz="750" dirty="0">
                <a:solidFill>
                  <a:srgbClr val="00BFA5"/>
                </a:solidFill>
                <a:latin typeface="Consolas" pitchFamily="34" charset="0"/>
                <a:ea typeface="Consolas" pitchFamily="34" charset="-122"/>
                <a:cs typeface="Consolas" pitchFamily="34" charset="-120"/>
              </a:rPr>
              <a:t>🚛  Truck #3  ·  Status: in_transit  ·  Node: J-4  ·  Cap: 40%</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01168"/>
            <a:ext cx="1554480" cy="256032"/>
          </a:xfrm>
          <a:prstGeom prst="rect">
            <a:avLst/>
          </a:prstGeom>
          <a:solidFill>
            <a:srgbClr val="00BFA5"/>
          </a:solidFill>
          <a:ln w="12700">
            <a:solidFill>
              <a:srgbClr val="00BFA5"/>
            </a:solidFill>
            <a:prstDash val="solid"/>
          </a:ln>
        </p:spPr>
      </p:sp>
      <p:sp>
        <p:nvSpPr>
          <p:cNvPr id="3" name="Text 1"/>
          <p:cNvSpPr/>
          <p:nvPr/>
        </p:nvSpPr>
        <p:spPr>
          <a:xfrm>
            <a:off x="365760" y="192024"/>
            <a:ext cx="1554480" cy="256032"/>
          </a:xfrm>
          <a:prstGeom prst="rect">
            <a:avLst/>
          </a:prstGeom>
          <a:noFill/>
          <a:ln/>
        </p:spPr>
        <p:txBody>
          <a:bodyPr wrap="square" lIns="0" tIns="0" rIns="0" bIns="0" rtlCol="0" anchor="ctr"/>
          <a:lstStyle/>
          <a:p>
            <a:pPr algn="ctr" indent="0" marL="0">
              <a:buNone/>
            </a:pPr>
            <a:r>
              <a:rPr lang="en-US" sz="700" b="1" spc="200" kern="0" dirty="0">
                <a:solidFill>
                  <a:srgbClr val="0D1B2A"/>
                </a:solidFill>
              </a:rPr>
              <a:t>CORE LOGIC</a:t>
            </a:r>
            <a:endParaRPr lang="en-US" sz="700" dirty="0"/>
          </a:p>
        </p:txBody>
      </p:sp>
      <p:sp>
        <p:nvSpPr>
          <p:cNvPr id="4" name="Text 2"/>
          <p:cNvSpPr/>
          <p:nvPr/>
        </p:nvSpPr>
        <p:spPr>
          <a:xfrm>
            <a:off x="365760" y="548640"/>
            <a:ext cx="841248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Truck Tracking &amp; Route Execution</a:t>
            </a:r>
            <a:endParaRPr lang="en-US" sz="2400" dirty="0"/>
          </a:p>
        </p:txBody>
      </p:sp>
      <p:sp>
        <p:nvSpPr>
          <p:cNvPr id="5" name="Text 3"/>
          <p:cNvSpPr/>
          <p:nvPr/>
        </p:nvSpPr>
        <p:spPr>
          <a:xfrm>
            <a:off x="365760" y="1280160"/>
            <a:ext cx="4114800" cy="256032"/>
          </a:xfrm>
          <a:prstGeom prst="rect">
            <a:avLst/>
          </a:prstGeom>
          <a:noFill/>
          <a:ln/>
        </p:spPr>
        <p:txBody>
          <a:bodyPr wrap="square" lIns="0" tIns="0" rIns="0" bIns="0" rtlCol="0" anchor="ctr"/>
          <a:lstStyle/>
          <a:p>
            <a:pPr indent="0" marL="0">
              <a:buNone/>
            </a:pPr>
            <a:r>
              <a:rPr lang="en-US" sz="850" b="1" spc="200" kern="0" dirty="0">
                <a:solidFill>
                  <a:srgbClr val="00BFA5"/>
                </a:solidFill>
              </a:rPr>
              <a:t>TRUCK LIFECYCLE</a:t>
            </a:r>
            <a:endParaRPr lang="en-US" sz="850" dirty="0"/>
          </a:p>
        </p:txBody>
      </p:sp>
      <p:sp>
        <p:nvSpPr>
          <p:cNvPr id="6" name="Shape 4"/>
          <p:cNvSpPr/>
          <p:nvPr/>
        </p:nvSpPr>
        <p:spPr>
          <a:xfrm>
            <a:off x="365760" y="1600200"/>
            <a:ext cx="1280160" cy="438912"/>
          </a:xfrm>
          <a:prstGeom prst="rect">
            <a:avLst/>
          </a:prstGeom>
          <a:solidFill>
            <a:srgbClr val="546E7A"/>
          </a:solidFill>
          <a:ln/>
        </p:spPr>
      </p:sp>
      <p:sp>
        <p:nvSpPr>
          <p:cNvPr id="7" name="Text 5"/>
          <p:cNvSpPr/>
          <p:nvPr/>
        </p:nvSpPr>
        <p:spPr>
          <a:xfrm>
            <a:off x="365760" y="1600200"/>
            <a:ext cx="1280160" cy="438912"/>
          </a:xfrm>
          <a:prstGeom prst="rect">
            <a:avLst/>
          </a:prstGeom>
          <a:noFill/>
          <a:ln/>
        </p:spPr>
        <p:txBody>
          <a:bodyPr wrap="square" lIns="0" tIns="0" rIns="0" bIns="0" rtlCol="0" anchor="ctr"/>
          <a:lstStyle/>
          <a:p>
            <a:pPr algn="ctr" indent="0" marL="0">
              <a:buNone/>
            </a:pPr>
            <a:r>
              <a:rPr lang="en-US" sz="900" b="1" dirty="0">
                <a:solidFill>
                  <a:srgbClr val="FFFFFF"/>
                </a:solidFill>
              </a:rPr>
              <a:t>IDLE</a:t>
            </a:r>
            <a:endParaRPr lang="en-US" sz="900" dirty="0"/>
          </a:p>
        </p:txBody>
      </p:sp>
      <p:sp>
        <p:nvSpPr>
          <p:cNvPr id="8" name="Shape 6"/>
          <p:cNvSpPr/>
          <p:nvPr/>
        </p:nvSpPr>
        <p:spPr>
          <a:xfrm>
            <a:off x="1645920" y="1819656"/>
            <a:ext cx="457200" cy="0"/>
          </a:xfrm>
          <a:prstGeom prst="line">
            <a:avLst/>
          </a:prstGeom>
          <a:noFill/>
          <a:ln w="12700">
            <a:solidFill>
              <a:srgbClr val="446688"/>
            </a:solidFill>
            <a:prstDash val="solid"/>
          </a:ln>
        </p:spPr>
      </p:sp>
      <p:sp>
        <p:nvSpPr>
          <p:cNvPr id="9" name="Text 7"/>
          <p:cNvSpPr/>
          <p:nvPr/>
        </p:nvSpPr>
        <p:spPr>
          <a:xfrm>
            <a:off x="2148840" y="1673352"/>
            <a:ext cx="2286000" cy="256032"/>
          </a:xfrm>
          <a:prstGeom prst="rect">
            <a:avLst/>
          </a:prstGeom>
          <a:noFill/>
          <a:ln/>
        </p:spPr>
        <p:txBody>
          <a:bodyPr wrap="square" lIns="0" tIns="0" rIns="0" bIns="0" rtlCol="0" anchor="ctr"/>
          <a:lstStyle/>
          <a:p>
            <a:pPr indent="0" marL="0">
              <a:buNone/>
            </a:pPr>
            <a:r>
              <a:rPr lang="en-US" sz="1050" dirty="0">
                <a:solidFill>
                  <a:srgbClr val="F0F4F8"/>
                </a:solidFill>
              </a:rPr>
              <a:t>Waiting at warehouse</a:t>
            </a:r>
            <a:endParaRPr lang="en-US" sz="1050" dirty="0"/>
          </a:p>
        </p:txBody>
      </p:sp>
      <p:sp>
        <p:nvSpPr>
          <p:cNvPr id="10" name="Text 8"/>
          <p:cNvSpPr/>
          <p:nvPr/>
        </p:nvSpPr>
        <p:spPr>
          <a:xfrm>
            <a:off x="777240" y="2057400"/>
            <a:ext cx="457200" cy="182880"/>
          </a:xfrm>
          <a:prstGeom prst="rect">
            <a:avLst/>
          </a:prstGeom>
          <a:noFill/>
          <a:ln/>
        </p:spPr>
        <p:txBody>
          <a:bodyPr wrap="square" lIns="0" tIns="0" rIns="0" bIns="0" rtlCol="0" anchor="ctr"/>
          <a:lstStyle/>
          <a:p>
            <a:pPr algn="ctr" indent="0" marL="0">
              <a:buNone/>
            </a:pPr>
            <a:r>
              <a:rPr lang="en-US" sz="1100" dirty="0">
                <a:solidFill>
                  <a:srgbClr val="557799"/>
                </a:solidFill>
              </a:rPr>
              <a:t>↓</a:t>
            </a:r>
            <a:endParaRPr lang="en-US" sz="1100" dirty="0"/>
          </a:p>
        </p:txBody>
      </p:sp>
      <p:sp>
        <p:nvSpPr>
          <p:cNvPr id="11" name="Shape 9"/>
          <p:cNvSpPr/>
          <p:nvPr/>
        </p:nvSpPr>
        <p:spPr>
          <a:xfrm>
            <a:off x="365760" y="2185416"/>
            <a:ext cx="1280160" cy="438912"/>
          </a:xfrm>
          <a:prstGeom prst="rect">
            <a:avLst/>
          </a:prstGeom>
          <a:solidFill>
            <a:srgbClr val="F9A826"/>
          </a:solidFill>
          <a:ln/>
        </p:spPr>
      </p:sp>
      <p:sp>
        <p:nvSpPr>
          <p:cNvPr id="12" name="Text 10"/>
          <p:cNvSpPr/>
          <p:nvPr/>
        </p:nvSpPr>
        <p:spPr>
          <a:xfrm>
            <a:off x="365760" y="2185416"/>
            <a:ext cx="1280160" cy="438912"/>
          </a:xfrm>
          <a:prstGeom prst="rect">
            <a:avLst/>
          </a:prstGeom>
          <a:noFill/>
          <a:ln/>
        </p:spPr>
        <p:txBody>
          <a:bodyPr wrap="square" lIns="0" tIns="0" rIns="0" bIns="0" rtlCol="0" anchor="ctr"/>
          <a:lstStyle/>
          <a:p>
            <a:pPr algn="ctr" indent="0" marL="0">
              <a:buNone/>
            </a:pPr>
            <a:r>
              <a:rPr lang="en-US" sz="900" b="1" dirty="0">
                <a:solidFill>
                  <a:srgbClr val="FFFFFF"/>
                </a:solidFill>
              </a:rPr>
              <a:t>LOADING</a:t>
            </a:r>
            <a:endParaRPr lang="en-US" sz="900" dirty="0"/>
          </a:p>
        </p:txBody>
      </p:sp>
      <p:sp>
        <p:nvSpPr>
          <p:cNvPr id="13" name="Shape 11"/>
          <p:cNvSpPr/>
          <p:nvPr/>
        </p:nvSpPr>
        <p:spPr>
          <a:xfrm>
            <a:off x="1645920" y="2404872"/>
            <a:ext cx="457200" cy="0"/>
          </a:xfrm>
          <a:prstGeom prst="line">
            <a:avLst/>
          </a:prstGeom>
          <a:noFill/>
          <a:ln w="12700">
            <a:solidFill>
              <a:srgbClr val="446688"/>
            </a:solidFill>
            <a:prstDash val="solid"/>
          </a:ln>
        </p:spPr>
      </p:sp>
      <p:sp>
        <p:nvSpPr>
          <p:cNvPr id="14" name="Text 12"/>
          <p:cNvSpPr/>
          <p:nvPr/>
        </p:nvSpPr>
        <p:spPr>
          <a:xfrm>
            <a:off x="2148840" y="2258568"/>
            <a:ext cx="2286000" cy="256032"/>
          </a:xfrm>
          <a:prstGeom prst="rect">
            <a:avLst/>
          </a:prstGeom>
          <a:noFill/>
          <a:ln/>
        </p:spPr>
        <p:txBody>
          <a:bodyPr wrap="square" lIns="0" tIns="0" rIns="0" bIns="0" rtlCol="0" anchor="ctr"/>
          <a:lstStyle/>
          <a:p>
            <a:pPr indent="0" marL="0">
              <a:buNone/>
            </a:pPr>
            <a:r>
              <a:rPr lang="en-US" sz="1050" dirty="0">
                <a:solidFill>
                  <a:srgbClr val="F0F4F8"/>
                </a:solidFill>
              </a:rPr>
              <a:t>Cargo being prepared</a:t>
            </a:r>
            <a:endParaRPr lang="en-US" sz="1050" dirty="0"/>
          </a:p>
        </p:txBody>
      </p:sp>
      <p:sp>
        <p:nvSpPr>
          <p:cNvPr id="15" name="Text 13"/>
          <p:cNvSpPr/>
          <p:nvPr/>
        </p:nvSpPr>
        <p:spPr>
          <a:xfrm>
            <a:off x="777240" y="2642616"/>
            <a:ext cx="457200" cy="182880"/>
          </a:xfrm>
          <a:prstGeom prst="rect">
            <a:avLst/>
          </a:prstGeom>
          <a:noFill/>
          <a:ln/>
        </p:spPr>
        <p:txBody>
          <a:bodyPr wrap="square" lIns="0" tIns="0" rIns="0" bIns="0" rtlCol="0" anchor="ctr"/>
          <a:lstStyle/>
          <a:p>
            <a:pPr algn="ctr" indent="0" marL="0">
              <a:buNone/>
            </a:pPr>
            <a:r>
              <a:rPr lang="en-US" sz="1100" dirty="0">
                <a:solidFill>
                  <a:srgbClr val="557799"/>
                </a:solidFill>
              </a:rPr>
              <a:t>↓</a:t>
            </a:r>
            <a:endParaRPr lang="en-US" sz="1100" dirty="0"/>
          </a:p>
        </p:txBody>
      </p:sp>
      <p:sp>
        <p:nvSpPr>
          <p:cNvPr id="16" name="Shape 14"/>
          <p:cNvSpPr/>
          <p:nvPr/>
        </p:nvSpPr>
        <p:spPr>
          <a:xfrm>
            <a:off x="365760" y="2770632"/>
            <a:ext cx="1280160" cy="438912"/>
          </a:xfrm>
          <a:prstGeom prst="rect">
            <a:avLst/>
          </a:prstGeom>
          <a:solidFill>
            <a:srgbClr val="00BFA5"/>
          </a:solidFill>
          <a:ln/>
        </p:spPr>
      </p:sp>
      <p:sp>
        <p:nvSpPr>
          <p:cNvPr id="17" name="Text 15"/>
          <p:cNvSpPr/>
          <p:nvPr/>
        </p:nvSpPr>
        <p:spPr>
          <a:xfrm>
            <a:off x="365760" y="2770632"/>
            <a:ext cx="1280160" cy="438912"/>
          </a:xfrm>
          <a:prstGeom prst="rect">
            <a:avLst/>
          </a:prstGeom>
          <a:noFill/>
          <a:ln/>
        </p:spPr>
        <p:txBody>
          <a:bodyPr wrap="square" lIns="0" tIns="0" rIns="0" bIns="0" rtlCol="0" anchor="ctr"/>
          <a:lstStyle/>
          <a:p>
            <a:pPr algn="ctr" indent="0" marL="0">
              <a:buNone/>
            </a:pPr>
            <a:r>
              <a:rPr lang="en-US" sz="900" b="1" dirty="0">
                <a:solidFill>
                  <a:srgbClr val="FFFFFF"/>
                </a:solidFill>
              </a:rPr>
              <a:t>IN TRANSIT</a:t>
            </a:r>
            <a:endParaRPr lang="en-US" sz="900" dirty="0"/>
          </a:p>
        </p:txBody>
      </p:sp>
      <p:sp>
        <p:nvSpPr>
          <p:cNvPr id="18" name="Shape 16"/>
          <p:cNvSpPr/>
          <p:nvPr/>
        </p:nvSpPr>
        <p:spPr>
          <a:xfrm>
            <a:off x="1645920" y="2990088"/>
            <a:ext cx="457200" cy="0"/>
          </a:xfrm>
          <a:prstGeom prst="line">
            <a:avLst/>
          </a:prstGeom>
          <a:noFill/>
          <a:ln w="12700">
            <a:solidFill>
              <a:srgbClr val="446688"/>
            </a:solidFill>
            <a:prstDash val="solid"/>
          </a:ln>
        </p:spPr>
      </p:sp>
      <p:sp>
        <p:nvSpPr>
          <p:cNvPr id="19" name="Text 17"/>
          <p:cNvSpPr/>
          <p:nvPr/>
        </p:nvSpPr>
        <p:spPr>
          <a:xfrm>
            <a:off x="2148840" y="2843784"/>
            <a:ext cx="2286000" cy="256032"/>
          </a:xfrm>
          <a:prstGeom prst="rect">
            <a:avLst/>
          </a:prstGeom>
          <a:noFill/>
          <a:ln/>
        </p:spPr>
        <p:txBody>
          <a:bodyPr wrap="square" lIns="0" tIns="0" rIns="0" bIns="0" rtlCol="0" anchor="ctr"/>
          <a:lstStyle/>
          <a:p>
            <a:pPr indent="0" marL="0">
              <a:buNone/>
            </a:pPr>
            <a:r>
              <a:rPr lang="en-US" sz="1050" dirty="0">
                <a:solidFill>
                  <a:srgbClr val="F0F4F8"/>
                </a:solidFill>
              </a:rPr>
              <a:t>Moving along route stops</a:t>
            </a:r>
            <a:endParaRPr lang="en-US" sz="1050" dirty="0"/>
          </a:p>
        </p:txBody>
      </p:sp>
      <p:sp>
        <p:nvSpPr>
          <p:cNvPr id="20" name="Text 18"/>
          <p:cNvSpPr/>
          <p:nvPr/>
        </p:nvSpPr>
        <p:spPr>
          <a:xfrm>
            <a:off x="777240" y="3227832"/>
            <a:ext cx="457200" cy="182880"/>
          </a:xfrm>
          <a:prstGeom prst="rect">
            <a:avLst/>
          </a:prstGeom>
          <a:noFill/>
          <a:ln/>
        </p:spPr>
        <p:txBody>
          <a:bodyPr wrap="square" lIns="0" tIns="0" rIns="0" bIns="0" rtlCol="0" anchor="ctr"/>
          <a:lstStyle/>
          <a:p>
            <a:pPr algn="ctr" indent="0" marL="0">
              <a:buNone/>
            </a:pPr>
            <a:r>
              <a:rPr lang="en-US" sz="1100" dirty="0">
                <a:solidFill>
                  <a:srgbClr val="557799"/>
                </a:solidFill>
              </a:rPr>
              <a:t>↓</a:t>
            </a:r>
            <a:endParaRPr lang="en-US" sz="1100" dirty="0"/>
          </a:p>
        </p:txBody>
      </p:sp>
      <p:sp>
        <p:nvSpPr>
          <p:cNvPr id="21" name="Shape 19"/>
          <p:cNvSpPr/>
          <p:nvPr/>
        </p:nvSpPr>
        <p:spPr>
          <a:xfrm>
            <a:off x="365760" y="3355848"/>
            <a:ext cx="1280160" cy="438912"/>
          </a:xfrm>
          <a:prstGeom prst="rect">
            <a:avLst/>
          </a:prstGeom>
          <a:solidFill>
            <a:srgbClr val="AB47BC"/>
          </a:solidFill>
          <a:ln/>
        </p:spPr>
      </p:sp>
      <p:sp>
        <p:nvSpPr>
          <p:cNvPr id="22" name="Text 20"/>
          <p:cNvSpPr/>
          <p:nvPr/>
        </p:nvSpPr>
        <p:spPr>
          <a:xfrm>
            <a:off x="365760" y="3355848"/>
            <a:ext cx="1280160" cy="438912"/>
          </a:xfrm>
          <a:prstGeom prst="rect">
            <a:avLst/>
          </a:prstGeom>
          <a:noFill/>
          <a:ln/>
        </p:spPr>
        <p:txBody>
          <a:bodyPr wrap="square" lIns="0" tIns="0" rIns="0" bIns="0" rtlCol="0" anchor="ctr"/>
          <a:lstStyle/>
          <a:p>
            <a:pPr algn="ctr" indent="0" marL="0">
              <a:buNone/>
            </a:pPr>
            <a:r>
              <a:rPr lang="en-US" sz="900" b="1" dirty="0">
                <a:solidFill>
                  <a:srgbClr val="FFFFFF"/>
                </a:solidFill>
              </a:rPr>
              <a:t>REROUTING</a:t>
            </a:r>
            <a:endParaRPr lang="en-US" sz="900" dirty="0"/>
          </a:p>
        </p:txBody>
      </p:sp>
      <p:sp>
        <p:nvSpPr>
          <p:cNvPr id="23" name="Shape 21"/>
          <p:cNvSpPr/>
          <p:nvPr/>
        </p:nvSpPr>
        <p:spPr>
          <a:xfrm>
            <a:off x="1645920" y="3575304"/>
            <a:ext cx="457200" cy="0"/>
          </a:xfrm>
          <a:prstGeom prst="line">
            <a:avLst/>
          </a:prstGeom>
          <a:noFill/>
          <a:ln w="12700">
            <a:solidFill>
              <a:srgbClr val="446688"/>
            </a:solidFill>
            <a:prstDash val="solid"/>
          </a:ln>
        </p:spPr>
      </p:sp>
      <p:sp>
        <p:nvSpPr>
          <p:cNvPr id="24" name="Text 22"/>
          <p:cNvSpPr/>
          <p:nvPr/>
        </p:nvSpPr>
        <p:spPr>
          <a:xfrm>
            <a:off x="2148840" y="3429000"/>
            <a:ext cx="2286000" cy="256032"/>
          </a:xfrm>
          <a:prstGeom prst="rect">
            <a:avLst/>
          </a:prstGeom>
          <a:noFill/>
          <a:ln/>
        </p:spPr>
        <p:txBody>
          <a:bodyPr wrap="square" lIns="0" tIns="0" rIns="0" bIns="0" rtlCol="0" anchor="ctr"/>
          <a:lstStyle/>
          <a:p>
            <a:pPr indent="0" marL="0">
              <a:buNone/>
            </a:pPr>
            <a:r>
              <a:rPr lang="en-US" sz="1050" dirty="0">
                <a:solidFill>
                  <a:srgbClr val="F0F4F8"/>
                </a:solidFill>
              </a:rPr>
              <a:t>Dynamic path adjustment</a:t>
            </a:r>
            <a:endParaRPr lang="en-US" sz="1050" dirty="0"/>
          </a:p>
        </p:txBody>
      </p:sp>
      <p:sp>
        <p:nvSpPr>
          <p:cNvPr id="25" name="Text 23"/>
          <p:cNvSpPr/>
          <p:nvPr/>
        </p:nvSpPr>
        <p:spPr>
          <a:xfrm>
            <a:off x="777240" y="3813048"/>
            <a:ext cx="457200" cy="182880"/>
          </a:xfrm>
          <a:prstGeom prst="rect">
            <a:avLst/>
          </a:prstGeom>
          <a:noFill/>
          <a:ln/>
        </p:spPr>
        <p:txBody>
          <a:bodyPr wrap="square" lIns="0" tIns="0" rIns="0" bIns="0" rtlCol="0" anchor="ctr"/>
          <a:lstStyle/>
          <a:p>
            <a:pPr algn="ctr" indent="0" marL="0">
              <a:buNone/>
            </a:pPr>
            <a:r>
              <a:rPr lang="en-US" sz="1100" dirty="0">
                <a:solidFill>
                  <a:srgbClr val="557799"/>
                </a:solidFill>
              </a:rPr>
              <a:t>↓</a:t>
            </a:r>
            <a:endParaRPr lang="en-US" sz="1100" dirty="0"/>
          </a:p>
        </p:txBody>
      </p:sp>
      <p:sp>
        <p:nvSpPr>
          <p:cNvPr id="26" name="Shape 24"/>
          <p:cNvSpPr/>
          <p:nvPr/>
        </p:nvSpPr>
        <p:spPr>
          <a:xfrm>
            <a:off x="365760" y="3941064"/>
            <a:ext cx="1280160" cy="438912"/>
          </a:xfrm>
          <a:prstGeom prst="rect">
            <a:avLst/>
          </a:prstGeom>
          <a:solidFill>
            <a:srgbClr val="66BB6A"/>
          </a:solidFill>
          <a:ln/>
        </p:spPr>
      </p:sp>
      <p:sp>
        <p:nvSpPr>
          <p:cNvPr id="27" name="Text 25"/>
          <p:cNvSpPr/>
          <p:nvPr/>
        </p:nvSpPr>
        <p:spPr>
          <a:xfrm>
            <a:off x="365760" y="3941064"/>
            <a:ext cx="1280160" cy="438912"/>
          </a:xfrm>
          <a:prstGeom prst="rect">
            <a:avLst/>
          </a:prstGeom>
          <a:noFill/>
          <a:ln/>
        </p:spPr>
        <p:txBody>
          <a:bodyPr wrap="square" lIns="0" tIns="0" rIns="0" bIns="0" rtlCol="0" anchor="ctr"/>
          <a:lstStyle/>
          <a:p>
            <a:pPr algn="ctr" indent="0" marL="0">
              <a:buNone/>
            </a:pPr>
            <a:r>
              <a:rPr lang="en-US" sz="900" b="1" dirty="0">
                <a:solidFill>
                  <a:srgbClr val="FFFFFF"/>
                </a:solidFill>
              </a:rPr>
              <a:t>DONE</a:t>
            </a:r>
            <a:endParaRPr lang="en-US" sz="900" dirty="0"/>
          </a:p>
        </p:txBody>
      </p:sp>
      <p:sp>
        <p:nvSpPr>
          <p:cNvPr id="28" name="Shape 26"/>
          <p:cNvSpPr/>
          <p:nvPr/>
        </p:nvSpPr>
        <p:spPr>
          <a:xfrm>
            <a:off x="1645920" y="4160520"/>
            <a:ext cx="457200" cy="0"/>
          </a:xfrm>
          <a:prstGeom prst="line">
            <a:avLst/>
          </a:prstGeom>
          <a:noFill/>
          <a:ln w="12700">
            <a:solidFill>
              <a:srgbClr val="446688"/>
            </a:solidFill>
            <a:prstDash val="solid"/>
          </a:ln>
        </p:spPr>
      </p:sp>
      <p:sp>
        <p:nvSpPr>
          <p:cNvPr id="29" name="Text 27"/>
          <p:cNvSpPr/>
          <p:nvPr/>
        </p:nvSpPr>
        <p:spPr>
          <a:xfrm>
            <a:off x="2148840" y="4014216"/>
            <a:ext cx="2286000" cy="256032"/>
          </a:xfrm>
          <a:prstGeom prst="rect">
            <a:avLst/>
          </a:prstGeom>
          <a:noFill/>
          <a:ln/>
        </p:spPr>
        <p:txBody>
          <a:bodyPr wrap="square" lIns="0" tIns="0" rIns="0" bIns="0" rtlCol="0" anchor="ctr"/>
          <a:lstStyle/>
          <a:p>
            <a:pPr indent="0" marL="0">
              <a:buNone/>
            </a:pPr>
            <a:r>
              <a:rPr lang="en-US" sz="1050" dirty="0">
                <a:solidFill>
                  <a:srgbClr val="F0F4F8"/>
                </a:solidFill>
              </a:rPr>
              <a:t>Route completed</a:t>
            </a:r>
            <a:endParaRPr lang="en-US" sz="1050" dirty="0"/>
          </a:p>
        </p:txBody>
      </p:sp>
      <p:sp>
        <p:nvSpPr>
          <p:cNvPr id="30" name="Text 28"/>
          <p:cNvSpPr/>
          <p:nvPr/>
        </p:nvSpPr>
        <p:spPr>
          <a:xfrm>
            <a:off x="4663440" y="1280160"/>
            <a:ext cx="4114800" cy="256032"/>
          </a:xfrm>
          <a:prstGeom prst="rect">
            <a:avLst/>
          </a:prstGeom>
          <a:noFill/>
          <a:ln/>
        </p:spPr>
        <p:txBody>
          <a:bodyPr wrap="square" lIns="0" tIns="0" rIns="0" bIns="0" rtlCol="0" anchor="ctr"/>
          <a:lstStyle/>
          <a:p>
            <a:pPr indent="0" marL="0">
              <a:buNone/>
            </a:pPr>
            <a:r>
              <a:rPr lang="en-US" sz="850" b="1" spc="200" kern="0" dirty="0">
                <a:solidFill>
                  <a:srgbClr val="F9A826"/>
                </a:solidFill>
              </a:rPr>
              <a:t>ROUTE EXECUTION DETAIL</a:t>
            </a:r>
            <a:endParaRPr lang="en-US" sz="850" dirty="0"/>
          </a:p>
        </p:txBody>
      </p:sp>
      <p:sp>
        <p:nvSpPr>
          <p:cNvPr id="31" name="Shape 29"/>
          <p:cNvSpPr/>
          <p:nvPr/>
        </p:nvSpPr>
        <p:spPr>
          <a:xfrm>
            <a:off x="4663440" y="1600200"/>
            <a:ext cx="4114800" cy="713232"/>
          </a:xfrm>
          <a:prstGeom prst="rect">
            <a:avLst/>
          </a:prstGeom>
          <a:solidFill>
            <a:srgbClr val="132233"/>
          </a:solidFill>
          <a:ln/>
        </p:spPr>
      </p:sp>
      <p:sp>
        <p:nvSpPr>
          <p:cNvPr id="32" name="Shape 30"/>
          <p:cNvSpPr/>
          <p:nvPr/>
        </p:nvSpPr>
        <p:spPr>
          <a:xfrm>
            <a:off x="4663440" y="1600200"/>
            <a:ext cx="45720" cy="713232"/>
          </a:xfrm>
          <a:prstGeom prst="rect">
            <a:avLst/>
          </a:prstGeom>
          <a:solidFill>
            <a:srgbClr val="F9A826"/>
          </a:solidFill>
          <a:ln w="12700">
            <a:solidFill>
              <a:srgbClr val="F9A826"/>
            </a:solidFill>
            <a:prstDash val="solid"/>
          </a:ln>
        </p:spPr>
      </p:sp>
      <p:sp>
        <p:nvSpPr>
          <p:cNvPr id="33" name="Text 31"/>
          <p:cNvSpPr/>
          <p:nvPr/>
        </p:nvSpPr>
        <p:spPr>
          <a:xfrm>
            <a:off x="4773168" y="1655064"/>
            <a:ext cx="3840480" cy="274320"/>
          </a:xfrm>
          <a:prstGeom prst="rect">
            <a:avLst/>
          </a:prstGeom>
          <a:noFill/>
          <a:ln/>
        </p:spPr>
        <p:txBody>
          <a:bodyPr wrap="square" lIns="0" tIns="0" rIns="0" bIns="0" rtlCol="0" anchor="ctr"/>
          <a:lstStyle/>
          <a:p>
            <a:pPr indent="0" marL="0">
              <a:buNone/>
            </a:pPr>
            <a:r>
              <a:rPr lang="en-US" sz="1200" b="1" dirty="0">
                <a:solidFill>
                  <a:srgbClr val="FFFFFF"/>
                </a:solidFill>
              </a:rPr>
              <a:t>Stop-by-Stop Tracking</a:t>
            </a:r>
            <a:endParaRPr lang="en-US" sz="1200" dirty="0"/>
          </a:p>
        </p:txBody>
      </p:sp>
      <p:sp>
        <p:nvSpPr>
          <p:cNvPr id="34" name="Text 32"/>
          <p:cNvSpPr/>
          <p:nvPr/>
        </p:nvSpPr>
        <p:spPr>
          <a:xfrm>
            <a:off x="4773168" y="1965960"/>
            <a:ext cx="3840480" cy="292608"/>
          </a:xfrm>
          <a:prstGeom prst="rect">
            <a:avLst/>
          </a:prstGeom>
          <a:noFill/>
          <a:ln/>
        </p:spPr>
        <p:txBody>
          <a:bodyPr wrap="square" lIns="0" tIns="0" rIns="0" bIns="0" rtlCol="0" anchor="ctr"/>
          <a:lstStyle/>
          <a:p>
            <a:pPr indent="0" marL="0">
              <a:buNone/>
            </a:pPr>
            <a:r>
              <a:rPr lang="en-US" sz="1000" dirty="0">
                <a:solidFill>
                  <a:srgbClr val="8A9BAB"/>
                </a:solidFill>
              </a:rPr>
              <a:t>Each route has ordered stops. Completion of one stop advances the truck to the next.</a:t>
            </a:r>
            <a:endParaRPr lang="en-US" sz="1000" dirty="0"/>
          </a:p>
        </p:txBody>
      </p:sp>
      <p:sp>
        <p:nvSpPr>
          <p:cNvPr id="35" name="Shape 33"/>
          <p:cNvSpPr/>
          <p:nvPr/>
        </p:nvSpPr>
        <p:spPr>
          <a:xfrm>
            <a:off x="4663440" y="2423160"/>
            <a:ext cx="4114800" cy="713232"/>
          </a:xfrm>
          <a:prstGeom prst="rect">
            <a:avLst/>
          </a:prstGeom>
          <a:solidFill>
            <a:srgbClr val="132233"/>
          </a:solidFill>
          <a:ln/>
        </p:spPr>
      </p:sp>
      <p:sp>
        <p:nvSpPr>
          <p:cNvPr id="36" name="Shape 34"/>
          <p:cNvSpPr/>
          <p:nvPr/>
        </p:nvSpPr>
        <p:spPr>
          <a:xfrm>
            <a:off x="4663440" y="2423160"/>
            <a:ext cx="45720" cy="713232"/>
          </a:xfrm>
          <a:prstGeom prst="rect">
            <a:avLst/>
          </a:prstGeom>
          <a:solidFill>
            <a:srgbClr val="F9A826"/>
          </a:solidFill>
          <a:ln w="12700">
            <a:solidFill>
              <a:srgbClr val="F9A826"/>
            </a:solidFill>
            <a:prstDash val="solid"/>
          </a:ln>
        </p:spPr>
      </p:sp>
      <p:sp>
        <p:nvSpPr>
          <p:cNvPr id="37" name="Text 35"/>
          <p:cNvSpPr/>
          <p:nvPr/>
        </p:nvSpPr>
        <p:spPr>
          <a:xfrm>
            <a:off x="4773168" y="2478024"/>
            <a:ext cx="3840480" cy="274320"/>
          </a:xfrm>
          <a:prstGeom prst="rect">
            <a:avLst/>
          </a:prstGeom>
          <a:noFill/>
          <a:ln/>
        </p:spPr>
        <p:txBody>
          <a:bodyPr wrap="square" lIns="0" tIns="0" rIns="0" bIns="0" rtlCol="0" anchor="ctr"/>
          <a:lstStyle/>
          <a:p>
            <a:pPr indent="0" marL="0">
              <a:buNone/>
            </a:pPr>
            <a:r>
              <a:rPr lang="en-US" sz="1200" b="1" dirty="0">
                <a:solidFill>
                  <a:srgbClr val="FFFFFF"/>
                </a:solidFill>
              </a:rPr>
              <a:t>GPS / Node Position</a:t>
            </a:r>
            <a:endParaRPr lang="en-US" sz="1200" dirty="0"/>
          </a:p>
        </p:txBody>
      </p:sp>
      <p:sp>
        <p:nvSpPr>
          <p:cNvPr id="38" name="Text 36"/>
          <p:cNvSpPr/>
          <p:nvPr/>
        </p:nvSpPr>
        <p:spPr>
          <a:xfrm>
            <a:off x="4773168" y="2788920"/>
            <a:ext cx="3840480" cy="292608"/>
          </a:xfrm>
          <a:prstGeom prst="rect">
            <a:avLst/>
          </a:prstGeom>
          <a:noFill/>
          <a:ln/>
        </p:spPr>
        <p:txBody>
          <a:bodyPr wrap="square" lIns="0" tIns="0" rIns="0" bIns="0" rtlCol="0" anchor="ctr"/>
          <a:lstStyle/>
          <a:p>
            <a:pPr indent="0" marL="0">
              <a:buNone/>
            </a:pPr>
            <a:r>
              <a:rPr lang="en-US" sz="1000" dirty="0">
                <a:solidFill>
                  <a:srgbClr val="8A9BAB"/>
                </a:solidFill>
              </a:rPr>
              <a:t>Truck's current_node updated at each stop. Optional GPS coords for real-device integration.</a:t>
            </a:r>
            <a:endParaRPr lang="en-US" sz="1000" dirty="0"/>
          </a:p>
        </p:txBody>
      </p:sp>
      <p:sp>
        <p:nvSpPr>
          <p:cNvPr id="39" name="Shape 37"/>
          <p:cNvSpPr/>
          <p:nvPr/>
        </p:nvSpPr>
        <p:spPr>
          <a:xfrm>
            <a:off x="4663440" y="3246120"/>
            <a:ext cx="4114800" cy="713232"/>
          </a:xfrm>
          <a:prstGeom prst="rect">
            <a:avLst/>
          </a:prstGeom>
          <a:solidFill>
            <a:srgbClr val="132233"/>
          </a:solidFill>
          <a:ln/>
        </p:spPr>
      </p:sp>
      <p:sp>
        <p:nvSpPr>
          <p:cNvPr id="40" name="Shape 38"/>
          <p:cNvSpPr/>
          <p:nvPr/>
        </p:nvSpPr>
        <p:spPr>
          <a:xfrm>
            <a:off x="4663440" y="3246120"/>
            <a:ext cx="45720" cy="713232"/>
          </a:xfrm>
          <a:prstGeom prst="rect">
            <a:avLst/>
          </a:prstGeom>
          <a:solidFill>
            <a:srgbClr val="F9A826"/>
          </a:solidFill>
          <a:ln w="12700">
            <a:solidFill>
              <a:srgbClr val="F9A826"/>
            </a:solidFill>
            <a:prstDash val="solid"/>
          </a:ln>
        </p:spPr>
      </p:sp>
      <p:sp>
        <p:nvSpPr>
          <p:cNvPr id="41" name="Text 39"/>
          <p:cNvSpPr/>
          <p:nvPr/>
        </p:nvSpPr>
        <p:spPr>
          <a:xfrm>
            <a:off x="4773168" y="3300984"/>
            <a:ext cx="3840480" cy="274320"/>
          </a:xfrm>
          <a:prstGeom prst="rect">
            <a:avLst/>
          </a:prstGeom>
          <a:noFill/>
          <a:ln/>
        </p:spPr>
        <p:txBody>
          <a:bodyPr wrap="square" lIns="0" tIns="0" rIns="0" bIns="0" rtlCol="0" anchor="ctr"/>
          <a:lstStyle/>
          <a:p>
            <a:pPr indent="0" marL="0">
              <a:buNone/>
            </a:pPr>
            <a:r>
              <a:rPr lang="en-US" sz="1200" b="1" dirty="0">
                <a:solidFill>
                  <a:srgbClr val="FFFFFF"/>
                </a:solidFill>
              </a:rPr>
              <a:t>Remaining Capacity</a:t>
            </a:r>
            <a:endParaRPr lang="en-US" sz="1200" dirty="0"/>
          </a:p>
        </p:txBody>
      </p:sp>
      <p:sp>
        <p:nvSpPr>
          <p:cNvPr id="42" name="Text 40"/>
          <p:cNvSpPr/>
          <p:nvPr/>
        </p:nvSpPr>
        <p:spPr>
          <a:xfrm>
            <a:off x="4773168" y="3611880"/>
            <a:ext cx="3840480" cy="292608"/>
          </a:xfrm>
          <a:prstGeom prst="rect">
            <a:avLst/>
          </a:prstGeom>
          <a:noFill/>
          <a:ln/>
        </p:spPr>
        <p:txBody>
          <a:bodyPr wrap="square" lIns="0" tIns="0" rIns="0" bIns="0" rtlCol="0" anchor="ctr"/>
          <a:lstStyle/>
          <a:p>
            <a:pPr indent="0" marL="0">
              <a:buNone/>
            </a:pPr>
            <a:r>
              <a:rPr lang="en-US" sz="1000" dirty="0">
                <a:solidFill>
                  <a:srgbClr val="8A9BAB"/>
                </a:solidFill>
              </a:rPr>
              <a:t>Cargo capacity recalculated after each delivery stop.</a:t>
            </a:r>
            <a:endParaRPr lang="en-US" sz="1000" dirty="0"/>
          </a:p>
        </p:txBody>
      </p:sp>
      <p:sp>
        <p:nvSpPr>
          <p:cNvPr id="43" name="Shape 41"/>
          <p:cNvSpPr/>
          <p:nvPr/>
        </p:nvSpPr>
        <p:spPr>
          <a:xfrm>
            <a:off x="4663440" y="4069080"/>
            <a:ext cx="4114800" cy="713232"/>
          </a:xfrm>
          <a:prstGeom prst="rect">
            <a:avLst/>
          </a:prstGeom>
          <a:solidFill>
            <a:srgbClr val="132233"/>
          </a:solidFill>
          <a:ln/>
        </p:spPr>
      </p:sp>
      <p:sp>
        <p:nvSpPr>
          <p:cNvPr id="44" name="Shape 42"/>
          <p:cNvSpPr/>
          <p:nvPr/>
        </p:nvSpPr>
        <p:spPr>
          <a:xfrm>
            <a:off x="4663440" y="4069080"/>
            <a:ext cx="45720" cy="713232"/>
          </a:xfrm>
          <a:prstGeom prst="rect">
            <a:avLst/>
          </a:prstGeom>
          <a:solidFill>
            <a:srgbClr val="F9A826"/>
          </a:solidFill>
          <a:ln w="12700">
            <a:solidFill>
              <a:srgbClr val="F9A826"/>
            </a:solidFill>
            <a:prstDash val="solid"/>
          </a:ln>
        </p:spPr>
      </p:sp>
      <p:sp>
        <p:nvSpPr>
          <p:cNvPr id="45" name="Text 43"/>
          <p:cNvSpPr/>
          <p:nvPr/>
        </p:nvSpPr>
        <p:spPr>
          <a:xfrm>
            <a:off x="4773168" y="4123944"/>
            <a:ext cx="3840480" cy="274320"/>
          </a:xfrm>
          <a:prstGeom prst="rect">
            <a:avLst/>
          </a:prstGeom>
          <a:noFill/>
          <a:ln/>
        </p:spPr>
        <p:txBody>
          <a:bodyPr wrap="square" lIns="0" tIns="0" rIns="0" bIns="0" rtlCol="0" anchor="ctr"/>
          <a:lstStyle/>
          <a:p>
            <a:pPr indent="0" marL="0">
              <a:buNone/>
            </a:pPr>
            <a:r>
              <a:rPr lang="en-US" sz="1200" b="1" dirty="0">
                <a:solidFill>
                  <a:srgbClr val="FFFFFF"/>
                </a:solidFill>
              </a:rPr>
              <a:t>Simulated Movement</a:t>
            </a:r>
            <a:endParaRPr lang="en-US" sz="1200" dirty="0"/>
          </a:p>
        </p:txBody>
      </p:sp>
      <p:sp>
        <p:nvSpPr>
          <p:cNvPr id="46" name="Text 44"/>
          <p:cNvSpPr/>
          <p:nvPr/>
        </p:nvSpPr>
        <p:spPr>
          <a:xfrm>
            <a:off x="4773168" y="4434840"/>
            <a:ext cx="3840480" cy="292608"/>
          </a:xfrm>
          <a:prstGeom prst="rect">
            <a:avLst/>
          </a:prstGeom>
          <a:noFill/>
          <a:ln/>
        </p:spPr>
        <p:txBody>
          <a:bodyPr wrap="square" lIns="0" tIns="0" rIns="0" bIns="0" rtlCol="0" anchor="ctr"/>
          <a:lstStyle/>
          <a:p>
            <a:pPr indent="0" marL="0">
              <a:buNone/>
            </a:pPr>
            <a:r>
              <a:rPr lang="en-US" sz="1000" dirty="0">
                <a:solidFill>
                  <a:srgbClr val="8A9BAB"/>
                </a:solidFill>
              </a:rPr>
              <a:t>Frontend interpolates truck position between nodes for smooth animation.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365760" y="201168"/>
            <a:ext cx="1554480" cy="256032"/>
          </a:xfrm>
          <a:prstGeom prst="rect">
            <a:avLst/>
          </a:prstGeom>
          <a:solidFill>
            <a:srgbClr val="00BFA5"/>
          </a:solidFill>
          <a:ln w="12700">
            <a:solidFill>
              <a:srgbClr val="00BFA5"/>
            </a:solidFill>
            <a:prstDash val="solid"/>
          </a:ln>
        </p:spPr>
      </p:sp>
      <p:sp>
        <p:nvSpPr>
          <p:cNvPr id="3" name="Text 1"/>
          <p:cNvSpPr/>
          <p:nvPr/>
        </p:nvSpPr>
        <p:spPr>
          <a:xfrm>
            <a:off x="365760" y="192024"/>
            <a:ext cx="1554480" cy="256032"/>
          </a:xfrm>
          <a:prstGeom prst="rect">
            <a:avLst/>
          </a:prstGeom>
          <a:noFill/>
          <a:ln/>
        </p:spPr>
        <p:txBody>
          <a:bodyPr wrap="square" lIns="0" tIns="0" rIns="0" bIns="0" rtlCol="0" anchor="ctr"/>
          <a:lstStyle/>
          <a:p>
            <a:pPr algn="ctr" indent="0" marL="0">
              <a:buNone/>
            </a:pPr>
            <a:r>
              <a:rPr lang="en-US" sz="700" b="1" spc="200" kern="0" dirty="0">
                <a:solidFill>
                  <a:srgbClr val="0D1B2A"/>
                </a:solidFill>
              </a:rPr>
              <a:t>STATUS</a:t>
            </a:r>
            <a:endParaRPr lang="en-US" sz="700" dirty="0"/>
          </a:p>
        </p:txBody>
      </p:sp>
      <p:sp>
        <p:nvSpPr>
          <p:cNvPr id="4" name="Text 2"/>
          <p:cNvSpPr/>
          <p:nvPr/>
        </p:nvSpPr>
        <p:spPr>
          <a:xfrm>
            <a:off x="365760" y="548640"/>
            <a:ext cx="8412480" cy="640080"/>
          </a:xfrm>
          <a:prstGeom prst="rect">
            <a:avLst/>
          </a:prstGeom>
          <a:noFill/>
          <a:ln/>
        </p:spPr>
        <p:txBody>
          <a:bodyPr wrap="square" lIns="0" tIns="0" rIns="0" bIns="0" rtlCol="0" anchor="ctr"/>
          <a:lstStyle/>
          <a:p>
            <a:pPr indent="0" marL="0">
              <a:buNone/>
            </a:pPr>
            <a:r>
              <a:rPr lang="en-US" sz="2600" b="1" dirty="0">
                <a:solidFill>
                  <a:srgbClr val="0D1B2A"/>
                </a:solidFill>
                <a:latin typeface="Calibri" pitchFamily="34" charset="0"/>
                <a:ea typeface="Calibri" pitchFamily="34" charset="-122"/>
                <a:cs typeface="Calibri" pitchFamily="34" charset="-120"/>
              </a:rPr>
              <a:t>What Is Already Built</a:t>
            </a:r>
            <a:endParaRPr lang="en-US" sz="2600" dirty="0"/>
          </a:p>
        </p:txBody>
      </p:sp>
      <p:sp>
        <p:nvSpPr>
          <p:cNvPr id="5" name="Shape 3"/>
          <p:cNvSpPr/>
          <p:nvPr/>
        </p:nvSpPr>
        <p:spPr>
          <a:xfrm>
            <a:off x="365760" y="1325880"/>
            <a:ext cx="2743200" cy="420624"/>
          </a:xfrm>
          <a:prstGeom prst="rect">
            <a:avLst/>
          </a:prstGeom>
          <a:solidFill>
            <a:srgbClr val="0D1B2A"/>
          </a:solidFill>
          <a:ln/>
        </p:spPr>
      </p:sp>
      <p:sp>
        <p:nvSpPr>
          <p:cNvPr id="6" name="Text 4"/>
          <p:cNvSpPr/>
          <p:nvPr/>
        </p:nvSpPr>
        <p:spPr>
          <a:xfrm>
            <a:off x="365760" y="1325880"/>
            <a:ext cx="2743200" cy="420624"/>
          </a:xfrm>
          <a:prstGeom prst="rect">
            <a:avLst/>
          </a:prstGeom>
          <a:noFill/>
          <a:ln/>
        </p:spPr>
        <p:txBody>
          <a:bodyPr wrap="square" lIns="0" tIns="0" rIns="0" bIns="0" rtlCol="0" anchor="ctr"/>
          <a:lstStyle/>
          <a:p>
            <a:pPr algn="ctr" indent="0" marL="0">
              <a:buNone/>
            </a:pPr>
            <a:r>
              <a:rPr lang="en-US" sz="1300" b="1" dirty="0">
                <a:solidFill>
                  <a:srgbClr val="FFFFFF"/>
                </a:solidFill>
              </a:rPr>
              <a:t>Backend</a:t>
            </a:r>
            <a:endParaRPr lang="en-US" sz="1300" dirty="0"/>
          </a:p>
        </p:txBody>
      </p:sp>
      <p:sp>
        <p:nvSpPr>
          <p:cNvPr id="7" name="Shape 5"/>
          <p:cNvSpPr/>
          <p:nvPr/>
        </p:nvSpPr>
        <p:spPr>
          <a:xfrm>
            <a:off x="365760" y="1828800"/>
            <a:ext cx="2743200" cy="402336"/>
          </a:xfrm>
          <a:prstGeom prst="rect">
            <a:avLst/>
          </a:prstGeom>
          <a:solidFill>
            <a:srgbClr val="EEF2F7"/>
          </a:solidFill>
          <a:ln/>
        </p:spPr>
      </p:sp>
      <p:pic>
        <p:nvPicPr>
          <p:cNvPr id="8" name="Image 0" descr="preencoded.png">    </p:cNvPr>
          <p:cNvPicPr>
            <a:picLocks noChangeAspect="1"/>
          </p:cNvPicPr>
          <p:nvPr/>
        </p:nvPicPr>
        <p:blipFill>
          <a:blip r:embed="rId1"/>
          <a:stretch>
            <a:fillRect/>
          </a:stretch>
        </p:blipFill>
        <p:spPr>
          <a:xfrm>
            <a:off x="457200" y="1920240"/>
            <a:ext cx="219456" cy="219456"/>
          </a:xfrm>
          <a:prstGeom prst="rect">
            <a:avLst/>
          </a:prstGeom>
        </p:spPr>
      </p:pic>
      <p:sp>
        <p:nvSpPr>
          <p:cNvPr id="9" name="Text 6"/>
          <p:cNvSpPr/>
          <p:nvPr/>
        </p:nvSpPr>
        <p:spPr>
          <a:xfrm>
            <a:off x="731520" y="1883664"/>
            <a:ext cx="2331720" cy="274320"/>
          </a:xfrm>
          <a:prstGeom prst="rect">
            <a:avLst/>
          </a:prstGeom>
          <a:noFill/>
          <a:ln/>
        </p:spPr>
        <p:txBody>
          <a:bodyPr wrap="square" lIns="0" tIns="0" rIns="0" bIns="0" rtlCol="0" anchor="ctr"/>
          <a:lstStyle/>
          <a:p>
            <a:pPr indent="0" marL="0">
              <a:buNone/>
            </a:pPr>
            <a:r>
              <a:rPr lang="en-US" sz="950" dirty="0">
                <a:solidFill>
                  <a:srgbClr val="0D1B2A"/>
                </a:solidFill>
              </a:rPr>
              <a:t>FastAPI server with full REST API</a:t>
            </a:r>
            <a:endParaRPr lang="en-US" sz="950" dirty="0"/>
          </a:p>
        </p:txBody>
      </p:sp>
      <p:sp>
        <p:nvSpPr>
          <p:cNvPr id="10" name="Shape 7"/>
          <p:cNvSpPr/>
          <p:nvPr/>
        </p:nvSpPr>
        <p:spPr>
          <a:xfrm>
            <a:off x="365760" y="2304288"/>
            <a:ext cx="2743200" cy="402336"/>
          </a:xfrm>
          <a:prstGeom prst="rect">
            <a:avLst/>
          </a:prstGeom>
          <a:solidFill>
            <a:srgbClr val="F8FAFB"/>
          </a:solidFill>
          <a:ln/>
        </p:spPr>
      </p:sp>
      <p:pic>
        <p:nvPicPr>
          <p:cNvPr id="11" name="Image 1" descr="preencoded.png">    </p:cNvPr>
          <p:cNvPicPr>
            <a:picLocks noChangeAspect="1"/>
          </p:cNvPicPr>
          <p:nvPr/>
        </p:nvPicPr>
        <p:blipFill>
          <a:blip r:embed="rId2"/>
          <a:stretch>
            <a:fillRect/>
          </a:stretch>
        </p:blipFill>
        <p:spPr>
          <a:xfrm>
            <a:off x="457200" y="2395728"/>
            <a:ext cx="219456" cy="219456"/>
          </a:xfrm>
          <a:prstGeom prst="rect">
            <a:avLst/>
          </a:prstGeom>
        </p:spPr>
      </p:pic>
      <p:sp>
        <p:nvSpPr>
          <p:cNvPr id="12" name="Text 8"/>
          <p:cNvSpPr/>
          <p:nvPr/>
        </p:nvSpPr>
        <p:spPr>
          <a:xfrm>
            <a:off x="731520" y="2359152"/>
            <a:ext cx="2331720" cy="274320"/>
          </a:xfrm>
          <a:prstGeom prst="rect">
            <a:avLst/>
          </a:prstGeom>
          <a:noFill/>
          <a:ln/>
        </p:spPr>
        <p:txBody>
          <a:bodyPr wrap="square" lIns="0" tIns="0" rIns="0" bIns="0" rtlCol="0" anchor="ctr"/>
          <a:lstStyle/>
          <a:p>
            <a:pPr indent="0" marL="0">
              <a:buNone/>
            </a:pPr>
            <a:r>
              <a:rPr lang="en-US" sz="950" dirty="0">
                <a:solidFill>
                  <a:srgbClr val="0D1B2A"/>
                </a:solidFill>
              </a:rPr>
              <a:t>SQLite DB with all entities</a:t>
            </a:r>
            <a:endParaRPr lang="en-US" sz="950" dirty="0"/>
          </a:p>
        </p:txBody>
      </p:sp>
      <p:sp>
        <p:nvSpPr>
          <p:cNvPr id="13" name="Shape 9"/>
          <p:cNvSpPr/>
          <p:nvPr/>
        </p:nvSpPr>
        <p:spPr>
          <a:xfrm>
            <a:off x="365760" y="2779776"/>
            <a:ext cx="2743200" cy="402336"/>
          </a:xfrm>
          <a:prstGeom prst="rect">
            <a:avLst/>
          </a:prstGeom>
          <a:solidFill>
            <a:srgbClr val="EEF2F7"/>
          </a:solidFill>
          <a:ln/>
        </p:spPr>
      </p:sp>
      <p:pic>
        <p:nvPicPr>
          <p:cNvPr id="14" name="Image 2" descr="preencoded.png">    </p:cNvPr>
          <p:cNvPicPr>
            <a:picLocks noChangeAspect="1"/>
          </p:cNvPicPr>
          <p:nvPr/>
        </p:nvPicPr>
        <p:blipFill>
          <a:blip r:embed="rId3"/>
          <a:stretch>
            <a:fillRect/>
          </a:stretch>
        </p:blipFill>
        <p:spPr>
          <a:xfrm>
            <a:off x="457200" y="2871216"/>
            <a:ext cx="219456" cy="219456"/>
          </a:xfrm>
          <a:prstGeom prst="rect">
            <a:avLst/>
          </a:prstGeom>
        </p:spPr>
      </p:pic>
      <p:sp>
        <p:nvSpPr>
          <p:cNvPr id="15" name="Text 10"/>
          <p:cNvSpPr/>
          <p:nvPr/>
        </p:nvSpPr>
        <p:spPr>
          <a:xfrm>
            <a:off x="731520" y="2834640"/>
            <a:ext cx="2331720" cy="274320"/>
          </a:xfrm>
          <a:prstGeom prst="rect">
            <a:avLst/>
          </a:prstGeom>
          <a:noFill/>
          <a:ln/>
        </p:spPr>
        <p:txBody>
          <a:bodyPr wrap="square" lIns="0" tIns="0" rIns="0" bIns="0" rtlCol="0" anchor="ctr"/>
          <a:lstStyle/>
          <a:p>
            <a:pPr indent="0" marL="0">
              <a:buNone/>
            </a:pPr>
            <a:r>
              <a:rPr lang="en-US" sz="950" dirty="0">
                <a:solidFill>
                  <a:srgbClr val="0D1B2A"/>
                </a:solidFill>
              </a:rPr>
              <a:t>Route generation &amp; solver</a:t>
            </a:r>
            <a:endParaRPr lang="en-US" sz="950" dirty="0"/>
          </a:p>
        </p:txBody>
      </p:sp>
      <p:sp>
        <p:nvSpPr>
          <p:cNvPr id="16" name="Shape 11"/>
          <p:cNvSpPr/>
          <p:nvPr/>
        </p:nvSpPr>
        <p:spPr>
          <a:xfrm>
            <a:off x="365760" y="3255264"/>
            <a:ext cx="2743200" cy="402336"/>
          </a:xfrm>
          <a:prstGeom prst="rect">
            <a:avLst/>
          </a:prstGeom>
          <a:solidFill>
            <a:srgbClr val="F8FAFB"/>
          </a:solidFill>
          <a:ln/>
        </p:spPr>
      </p:sp>
      <p:pic>
        <p:nvPicPr>
          <p:cNvPr id="17" name="Image 3" descr="preencoded.png">    </p:cNvPr>
          <p:cNvPicPr>
            <a:picLocks noChangeAspect="1"/>
          </p:cNvPicPr>
          <p:nvPr/>
        </p:nvPicPr>
        <p:blipFill>
          <a:blip r:embed="rId4"/>
          <a:stretch>
            <a:fillRect/>
          </a:stretch>
        </p:blipFill>
        <p:spPr>
          <a:xfrm>
            <a:off x="457200" y="3346704"/>
            <a:ext cx="219456" cy="219456"/>
          </a:xfrm>
          <a:prstGeom prst="rect">
            <a:avLst/>
          </a:prstGeom>
        </p:spPr>
      </p:pic>
      <p:sp>
        <p:nvSpPr>
          <p:cNvPr id="18" name="Text 12"/>
          <p:cNvSpPr/>
          <p:nvPr/>
        </p:nvSpPr>
        <p:spPr>
          <a:xfrm>
            <a:off x="731520" y="3310128"/>
            <a:ext cx="2331720" cy="274320"/>
          </a:xfrm>
          <a:prstGeom prst="rect">
            <a:avLst/>
          </a:prstGeom>
          <a:noFill/>
          <a:ln/>
        </p:spPr>
        <p:txBody>
          <a:bodyPr wrap="square" lIns="0" tIns="0" rIns="0" bIns="0" rtlCol="0" anchor="ctr"/>
          <a:lstStyle/>
          <a:p>
            <a:pPr indent="0" marL="0">
              <a:buNone/>
            </a:pPr>
            <a:r>
              <a:rPr lang="en-US" sz="950" dirty="0">
                <a:solidFill>
                  <a:srgbClr val="0D1B2A"/>
                </a:solidFill>
              </a:rPr>
              <a:t>Execution state machine</a:t>
            </a:r>
            <a:endParaRPr lang="en-US" sz="950" dirty="0"/>
          </a:p>
        </p:txBody>
      </p:sp>
      <p:sp>
        <p:nvSpPr>
          <p:cNvPr id="19" name="Shape 13"/>
          <p:cNvSpPr/>
          <p:nvPr/>
        </p:nvSpPr>
        <p:spPr>
          <a:xfrm>
            <a:off x="365760" y="3730752"/>
            <a:ext cx="2743200" cy="402336"/>
          </a:xfrm>
          <a:prstGeom prst="rect">
            <a:avLst/>
          </a:prstGeom>
          <a:solidFill>
            <a:srgbClr val="EEF2F7"/>
          </a:solidFill>
          <a:ln/>
        </p:spPr>
      </p:sp>
      <p:pic>
        <p:nvPicPr>
          <p:cNvPr id="20" name="Image 4" descr="preencoded.png">    </p:cNvPr>
          <p:cNvPicPr>
            <a:picLocks noChangeAspect="1"/>
          </p:cNvPicPr>
          <p:nvPr/>
        </p:nvPicPr>
        <p:blipFill>
          <a:blip r:embed="rId5"/>
          <a:stretch>
            <a:fillRect/>
          </a:stretch>
        </p:blipFill>
        <p:spPr>
          <a:xfrm>
            <a:off x="457200" y="3822192"/>
            <a:ext cx="219456" cy="219456"/>
          </a:xfrm>
          <a:prstGeom prst="rect">
            <a:avLst/>
          </a:prstGeom>
        </p:spPr>
      </p:pic>
      <p:sp>
        <p:nvSpPr>
          <p:cNvPr id="21" name="Text 14"/>
          <p:cNvSpPr/>
          <p:nvPr/>
        </p:nvSpPr>
        <p:spPr>
          <a:xfrm>
            <a:off x="731520" y="3785616"/>
            <a:ext cx="2331720" cy="274320"/>
          </a:xfrm>
          <a:prstGeom prst="rect">
            <a:avLst/>
          </a:prstGeom>
          <a:noFill/>
          <a:ln/>
        </p:spPr>
        <p:txBody>
          <a:bodyPr wrap="square" lIns="0" tIns="0" rIns="0" bIns="0" rtlCol="0" anchor="ctr"/>
          <a:lstStyle/>
          <a:p>
            <a:pPr indent="0" marL="0">
              <a:buNone/>
            </a:pPr>
            <a:r>
              <a:rPr lang="en-US" sz="950" dirty="0">
                <a:solidFill>
                  <a:srgbClr val="0D1B2A"/>
                </a:solidFill>
              </a:rPr>
              <a:t>Truck state tracker</a:t>
            </a:r>
            <a:endParaRPr lang="en-US" sz="950" dirty="0"/>
          </a:p>
        </p:txBody>
      </p:sp>
      <p:sp>
        <p:nvSpPr>
          <p:cNvPr id="22" name="Shape 15"/>
          <p:cNvSpPr/>
          <p:nvPr/>
        </p:nvSpPr>
        <p:spPr>
          <a:xfrm>
            <a:off x="365760" y="4206240"/>
            <a:ext cx="2743200" cy="402336"/>
          </a:xfrm>
          <a:prstGeom prst="rect">
            <a:avLst/>
          </a:prstGeom>
          <a:solidFill>
            <a:srgbClr val="F8FAFB"/>
          </a:solidFill>
          <a:ln/>
        </p:spPr>
      </p:sp>
      <p:pic>
        <p:nvPicPr>
          <p:cNvPr id="23" name="Image 5" descr="preencoded.png">    </p:cNvPr>
          <p:cNvPicPr>
            <a:picLocks noChangeAspect="1"/>
          </p:cNvPicPr>
          <p:nvPr/>
        </p:nvPicPr>
        <p:blipFill>
          <a:blip r:embed="rId6"/>
          <a:stretch>
            <a:fillRect/>
          </a:stretch>
        </p:blipFill>
        <p:spPr>
          <a:xfrm>
            <a:off x="457200" y="4297680"/>
            <a:ext cx="219456" cy="219456"/>
          </a:xfrm>
          <a:prstGeom prst="rect">
            <a:avLst/>
          </a:prstGeom>
        </p:spPr>
      </p:pic>
      <p:sp>
        <p:nvSpPr>
          <p:cNvPr id="24" name="Text 16"/>
          <p:cNvSpPr/>
          <p:nvPr/>
        </p:nvSpPr>
        <p:spPr>
          <a:xfrm>
            <a:off x="731520" y="4261104"/>
            <a:ext cx="2331720" cy="274320"/>
          </a:xfrm>
          <a:prstGeom prst="rect">
            <a:avLst/>
          </a:prstGeom>
          <a:noFill/>
          <a:ln/>
        </p:spPr>
        <p:txBody>
          <a:bodyPr wrap="square" lIns="0" tIns="0" rIns="0" bIns="0" rtlCol="0" anchor="ctr"/>
          <a:lstStyle/>
          <a:p>
            <a:pPr indent="0" marL="0">
              <a:buNone/>
            </a:pPr>
            <a:r>
              <a:rPr lang="en-US" sz="950" dirty="0">
                <a:solidFill>
                  <a:srgbClr val="0D1B2A"/>
                </a:solidFill>
              </a:rPr>
              <a:t>Urgent request endpoint</a:t>
            </a:r>
            <a:endParaRPr lang="en-US" sz="950" dirty="0"/>
          </a:p>
        </p:txBody>
      </p:sp>
      <p:sp>
        <p:nvSpPr>
          <p:cNvPr id="25" name="Shape 17"/>
          <p:cNvSpPr/>
          <p:nvPr/>
        </p:nvSpPr>
        <p:spPr>
          <a:xfrm>
            <a:off x="3291840" y="1325880"/>
            <a:ext cx="2743200" cy="420624"/>
          </a:xfrm>
          <a:prstGeom prst="rect">
            <a:avLst/>
          </a:prstGeom>
          <a:solidFill>
            <a:srgbClr val="00BFA5"/>
          </a:solidFill>
          <a:ln/>
        </p:spPr>
      </p:sp>
      <p:sp>
        <p:nvSpPr>
          <p:cNvPr id="26" name="Text 18"/>
          <p:cNvSpPr/>
          <p:nvPr/>
        </p:nvSpPr>
        <p:spPr>
          <a:xfrm>
            <a:off x="3291840" y="1325880"/>
            <a:ext cx="2743200" cy="420624"/>
          </a:xfrm>
          <a:prstGeom prst="rect">
            <a:avLst/>
          </a:prstGeom>
          <a:noFill/>
          <a:ln/>
        </p:spPr>
        <p:txBody>
          <a:bodyPr wrap="square" lIns="0" tIns="0" rIns="0" bIns="0" rtlCol="0" anchor="ctr"/>
          <a:lstStyle/>
          <a:p>
            <a:pPr algn="ctr" indent="0" marL="0">
              <a:buNone/>
            </a:pPr>
            <a:r>
              <a:rPr lang="en-US" sz="1300" b="1" dirty="0">
                <a:solidFill>
                  <a:srgbClr val="FFFFFF"/>
                </a:solidFill>
              </a:rPr>
              <a:t>Frontend</a:t>
            </a:r>
            <a:endParaRPr lang="en-US" sz="1300" dirty="0"/>
          </a:p>
        </p:txBody>
      </p:sp>
      <p:sp>
        <p:nvSpPr>
          <p:cNvPr id="27" name="Shape 19"/>
          <p:cNvSpPr/>
          <p:nvPr/>
        </p:nvSpPr>
        <p:spPr>
          <a:xfrm>
            <a:off x="3291840" y="1828800"/>
            <a:ext cx="2743200" cy="402336"/>
          </a:xfrm>
          <a:prstGeom prst="rect">
            <a:avLst/>
          </a:prstGeom>
          <a:solidFill>
            <a:srgbClr val="EEF2F7"/>
          </a:solidFill>
          <a:ln/>
        </p:spPr>
      </p:sp>
      <p:pic>
        <p:nvPicPr>
          <p:cNvPr id="28" name="Image 6" descr="preencoded.png">    </p:cNvPr>
          <p:cNvPicPr>
            <a:picLocks noChangeAspect="1"/>
          </p:cNvPicPr>
          <p:nvPr/>
        </p:nvPicPr>
        <p:blipFill>
          <a:blip r:embed="rId7"/>
          <a:stretch>
            <a:fillRect/>
          </a:stretch>
        </p:blipFill>
        <p:spPr>
          <a:xfrm>
            <a:off x="3383280" y="1920240"/>
            <a:ext cx="219456" cy="219456"/>
          </a:xfrm>
          <a:prstGeom prst="rect">
            <a:avLst/>
          </a:prstGeom>
        </p:spPr>
      </p:pic>
      <p:sp>
        <p:nvSpPr>
          <p:cNvPr id="29" name="Text 20"/>
          <p:cNvSpPr/>
          <p:nvPr/>
        </p:nvSpPr>
        <p:spPr>
          <a:xfrm>
            <a:off x="3657600" y="1883664"/>
            <a:ext cx="2331720" cy="274320"/>
          </a:xfrm>
          <a:prstGeom prst="rect">
            <a:avLst/>
          </a:prstGeom>
          <a:noFill/>
          <a:ln/>
        </p:spPr>
        <p:txBody>
          <a:bodyPr wrap="square" lIns="0" tIns="0" rIns="0" bIns="0" rtlCol="0" anchor="ctr"/>
          <a:lstStyle/>
          <a:p>
            <a:pPr indent="0" marL="0">
              <a:buNone/>
            </a:pPr>
            <a:r>
              <a:rPr lang="en-US" sz="950" dirty="0">
                <a:solidFill>
                  <a:srgbClr val="0D1B2A"/>
                </a:solidFill>
              </a:rPr>
              <a:t>SPA with network graph</a:t>
            </a:r>
            <a:endParaRPr lang="en-US" sz="950" dirty="0"/>
          </a:p>
        </p:txBody>
      </p:sp>
      <p:sp>
        <p:nvSpPr>
          <p:cNvPr id="30" name="Shape 21"/>
          <p:cNvSpPr/>
          <p:nvPr/>
        </p:nvSpPr>
        <p:spPr>
          <a:xfrm>
            <a:off x="3291840" y="2304288"/>
            <a:ext cx="2743200" cy="402336"/>
          </a:xfrm>
          <a:prstGeom prst="rect">
            <a:avLst/>
          </a:prstGeom>
          <a:solidFill>
            <a:srgbClr val="F8FAFB"/>
          </a:solidFill>
          <a:ln/>
        </p:spPr>
      </p:sp>
      <p:pic>
        <p:nvPicPr>
          <p:cNvPr id="31" name="Image 7" descr="preencoded.png">    </p:cNvPr>
          <p:cNvPicPr>
            <a:picLocks noChangeAspect="1"/>
          </p:cNvPicPr>
          <p:nvPr/>
        </p:nvPicPr>
        <p:blipFill>
          <a:blip r:embed="rId8"/>
          <a:stretch>
            <a:fillRect/>
          </a:stretch>
        </p:blipFill>
        <p:spPr>
          <a:xfrm>
            <a:off x="3383280" y="2395728"/>
            <a:ext cx="219456" cy="219456"/>
          </a:xfrm>
          <a:prstGeom prst="rect">
            <a:avLst/>
          </a:prstGeom>
        </p:spPr>
      </p:pic>
      <p:sp>
        <p:nvSpPr>
          <p:cNvPr id="32" name="Text 22"/>
          <p:cNvSpPr/>
          <p:nvPr/>
        </p:nvSpPr>
        <p:spPr>
          <a:xfrm>
            <a:off x="3657600" y="2359152"/>
            <a:ext cx="2331720" cy="274320"/>
          </a:xfrm>
          <a:prstGeom prst="rect">
            <a:avLst/>
          </a:prstGeom>
          <a:noFill/>
          <a:ln/>
        </p:spPr>
        <p:txBody>
          <a:bodyPr wrap="square" lIns="0" tIns="0" rIns="0" bIns="0" rtlCol="0" anchor="ctr"/>
          <a:lstStyle/>
          <a:p>
            <a:pPr indent="0" marL="0">
              <a:buNone/>
            </a:pPr>
            <a:r>
              <a:rPr lang="en-US" sz="950" dirty="0">
                <a:solidFill>
                  <a:srgbClr val="0D1B2A"/>
                </a:solidFill>
              </a:rPr>
              <a:t>Live truck animation</a:t>
            </a:r>
            <a:endParaRPr lang="en-US" sz="950" dirty="0"/>
          </a:p>
        </p:txBody>
      </p:sp>
      <p:sp>
        <p:nvSpPr>
          <p:cNvPr id="33" name="Shape 23"/>
          <p:cNvSpPr/>
          <p:nvPr/>
        </p:nvSpPr>
        <p:spPr>
          <a:xfrm>
            <a:off x="3291840" y="2779776"/>
            <a:ext cx="2743200" cy="402336"/>
          </a:xfrm>
          <a:prstGeom prst="rect">
            <a:avLst/>
          </a:prstGeom>
          <a:solidFill>
            <a:srgbClr val="EEF2F7"/>
          </a:solidFill>
          <a:ln/>
        </p:spPr>
      </p:sp>
      <p:pic>
        <p:nvPicPr>
          <p:cNvPr id="34" name="Image 8" descr="preencoded.png">    </p:cNvPr>
          <p:cNvPicPr>
            <a:picLocks noChangeAspect="1"/>
          </p:cNvPicPr>
          <p:nvPr/>
        </p:nvPicPr>
        <p:blipFill>
          <a:blip r:embed="rId9"/>
          <a:stretch>
            <a:fillRect/>
          </a:stretch>
        </p:blipFill>
        <p:spPr>
          <a:xfrm>
            <a:off x="3383280" y="2871216"/>
            <a:ext cx="219456" cy="219456"/>
          </a:xfrm>
          <a:prstGeom prst="rect">
            <a:avLst/>
          </a:prstGeom>
        </p:spPr>
      </p:pic>
      <p:sp>
        <p:nvSpPr>
          <p:cNvPr id="35" name="Text 24"/>
          <p:cNvSpPr/>
          <p:nvPr/>
        </p:nvSpPr>
        <p:spPr>
          <a:xfrm>
            <a:off x="3657600" y="2834640"/>
            <a:ext cx="2331720" cy="274320"/>
          </a:xfrm>
          <a:prstGeom prst="rect">
            <a:avLst/>
          </a:prstGeom>
          <a:noFill/>
          <a:ln/>
        </p:spPr>
        <p:txBody>
          <a:bodyPr wrap="square" lIns="0" tIns="0" rIns="0" bIns="0" rtlCol="0" anchor="ctr"/>
          <a:lstStyle/>
          <a:p>
            <a:pPr indent="0" marL="0">
              <a:buNone/>
            </a:pPr>
            <a:r>
              <a:rPr lang="en-US" sz="950" dirty="0">
                <a:solidFill>
                  <a:srgbClr val="0D1B2A"/>
                </a:solidFill>
              </a:rPr>
              <a:t>Warehouse action panel</a:t>
            </a:r>
            <a:endParaRPr lang="en-US" sz="950" dirty="0"/>
          </a:p>
        </p:txBody>
      </p:sp>
      <p:sp>
        <p:nvSpPr>
          <p:cNvPr id="36" name="Shape 25"/>
          <p:cNvSpPr/>
          <p:nvPr/>
        </p:nvSpPr>
        <p:spPr>
          <a:xfrm>
            <a:off x="3291840" y="3255264"/>
            <a:ext cx="2743200" cy="402336"/>
          </a:xfrm>
          <a:prstGeom prst="rect">
            <a:avLst/>
          </a:prstGeom>
          <a:solidFill>
            <a:srgbClr val="F8FAFB"/>
          </a:solidFill>
          <a:ln/>
        </p:spPr>
      </p:sp>
      <p:pic>
        <p:nvPicPr>
          <p:cNvPr id="37" name="Image 9" descr="preencoded.png">    </p:cNvPr>
          <p:cNvPicPr>
            <a:picLocks noChangeAspect="1"/>
          </p:cNvPicPr>
          <p:nvPr/>
        </p:nvPicPr>
        <p:blipFill>
          <a:blip r:embed="rId10"/>
          <a:stretch>
            <a:fillRect/>
          </a:stretch>
        </p:blipFill>
        <p:spPr>
          <a:xfrm>
            <a:off x="3383280" y="3346704"/>
            <a:ext cx="219456" cy="219456"/>
          </a:xfrm>
          <a:prstGeom prst="rect">
            <a:avLst/>
          </a:prstGeom>
        </p:spPr>
      </p:pic>
      <p:sp>
        <p:nvSpPr>
          <p:cNvPr id="38" name="Text 26"/>
          <p:cNvSpPr/>
          <p:nvPr/>
        </p:nvSpPr>
        <p:spPr>
          <a:xfrm>
            <a:off x="3657600" y="3310128"/>
            <a:ext cx="2331720" cy="274320"/>
          </a:xfrm>
          <a:prstGeom prst="rect">
            <a:avLst/>
          </a:prstGeom>
          <a:noFill/>
          <a:ln/>
        </p:spPr>
        <p:txBody>
          <a:bodyPr wrap="square" lIns="0" tIns="0" rIns="0" bIns="0" rtlCol="0" anchor="ctr"/>
          <a:lstStyle/>
          <a:p>
            <a:pPr indent="0" marL="0">
              <a:buNone/>
            </a:pPr>
            <a:r>
              <a:rPr lang="en-US" sz="950" dirty="0">
                <a:solidFill>
                  <a:srgbClr val="0D1B2A"/>
                </a:solidFill>
              </a:rPr>
              <a:t>Stock &amp; demand views</a:t>
            </a:r>
            <a:endParaRPr lang="en-US" sz="950" dirty="0"/>
          </a:p>
        </p:txBody>
      </p:sp>
      <p:sp>
        <p:nvSpPr>
          <p:cNvPr id="39" name="Shape 27"/>
          <p:cNvSpPr/>
          <p:nvPr/>
        </p:nvSpPr>
        <p:spPr>
          <a:xfrm>
            <a:off x="3291840" y="3730752"/>
            <a:ext cx="2743200" cy="402336"/>
          </a:xfrm>
          <a:prstGeom prst="rect">
            <a:avLst/>
          </a:prstGeom>
          <a:solidFill>
            <a:srgbClr val="EEF2F7"/>
          </a:solidFill>
          <a:ln/>
        </p:spPr>
      </p:sp>
      <p:pic>
        <p:nvPicPr>
          <p:cNvPr id="40" name="Image 10" descr="preencoded.png">    </p:cNvPr>
          <p:cNvPicPr>
            <a:picLocks noChangeAspect="1"/>
          </p:cNvPicPr>
          <p:nvPr/>
        </p:nvPicPr>
        <p:blipFill>
          <a:blip r:embed="rId11"/>
          <a:stretch>
            <a:fillRect/>
          </a:stretch>
        </p:blipFill>
        <p:spPr>
          <a:xfrm>
            <a:off x="3383280" y="3822192"/>
            <a:ext cx="219456" cy="219456"/>
          </a:xfrm>
          <a:prstGeom prst="rect">
            <a:avLst/>
          </a:prstGeom>
        </p:spPr>
      </p:pic>
      <p:sp>
        <p:nvSpPr>
          <p:cNvPr id="41" name="Text 28"/>
          <p:cNvSpPr/>
          <p:nvPr/>
        </p:nvSpPr>
        <p:spPr>
          <a:xfrm>
            <a:off x="3657600" y="3785616"/>
            <a:ext cx="2331720" cy="274320"/>
          </a:xfrm>
          <a:prstGeom prst="rect">
            <a:avLst/>
          </a:prstGeom>
          <a:noFill/>
          <a:ln/>
        </p:spPr>
        <p:txBody>
          <a:bodyPr wrap="square" lIns="0" tIns="0" rIns="0" bIns="0" rtlCol="0" anchor="ctr"/>
          <a:lstStyle/>
          <a:p>
            <a:pPr indent="0" marL="0">
              <a:buNone/>
            </a:pPr>
            <a:r>
              <a:rPr lang="en-US" sz="950" dirty="0">
                <a:solidFill>
                  <a:srgbClr val="0D1B2A"/>
                </a:solidFill>
              </a:rPr>
              <a:t>Auto-refresh every N seconds</a:t>
            </a:r>
            <a:endParaRPr lang="en-US" sz="950" dirty="0"/>
          </a:p>
        </p:txBody>
      </p:sp>
      <p:sp>
        <p:nvSpPr>
          <p:cNvPr id="42" name="Shape 29"/>
          <p:cNvSpPr/>
          <p:nvPr/>
        </p:nvSpPr>
        <p:spPr>
          <a:xfrm>
            <a:off x="3291840" y="4206240"/>
            <a:ext cx="2743200" cy="402336"/>
          </a:xfrm>
          <a:prstGeom prst="rect">
            <a:avLst/>
          </a:prstGeom>
          <a:solidFill>
            <a:srgbClr val="F8FAFB"/>
          </a:solidFill>
          <a:ln/>
        </p:spPr>
      </p:sp>
      <p:pic>
        <p:nvPicPr>
          <p:cNvPr id="43" name="Image 11" descr="preencoded.png">    </p:cNvPr>
          <p:cNvPicPr>
            <a:picLocks noChangeAspect="1"/>
          </p:cNvPicPr>
          <p:nvPr/>
        </p:nvPicPr>
        <p:blipFill>
          <a:blip r:embed="rId12"/>
          <a:stretch>
            <a:fillRect/>
          </a:stretch>
        </p:blipFill>
        <p:spPr>
          <a:xfrm>
            <a:off x="3383280" y="4297680"/>
            <a:ext cx="219456" cy="219456"/>
          </a:xfrm>
          <a:prstGeom prst="rect">
            <a:avLst/>
          </a:prstGeom>
        </p:spPr>
      </p:pic>
      <p:sp>
        <p:nvSpPr>
          <p:cNvPr id="44" name="Text 30"/>
          <p:cNvSpPr/>
          <p:nvPr/>
        </p:nvSpPr>
        <p:spPr>
          <a:xfrm>
            <a:off x="3657600" y="4261104"/>
            <a:ext cx="2331720" cy="274320"/>
          </a:xfrm>
          <a:prstGeom prst="rect">
            <a:avLst/>
          </a:prstGeom>
          <a:noFill/>
          <a:ln/>
        </p:spPr>
        <p:txBody>
          <a:bodyPr wrap="square" lIns="0" tIns="0" rIns="0" bIns="0" rtlCol="0" anchor="ctr"/>
          <a:lstStyle/>
          <a:p>
            <a:pPr indent="0" marL="0">
              <a:buNone/>
            </a:pPr>
            <a:r>
              <a:rPr lang="en-US" sz="950" dirty="0">
                <a:solidFill>
                  <a:srgbClr val="0D1B2A"/>
                </a:solidFill>
              </a:rPr>
              <a:t>Debug truck visibility panel</a:t>
            </a:r>
            <a:endParaRPr lang="en-US" sz="950" dirty="0"/>
          </a:p>
        </p:txBody>
      </p:sp>
      <p:sp>
        <p:nvSpPr>
          <p:cNvPr id="45" name="Shape 31"/>
          <p:cNvSpPr/>
          <p:nvPr/>
        </p:nvSpPr>
        <p:spPr>
          <a:xfrm>
            <a:off x="6217920" y="1325880"/>
            <a:ext cx="2743200" cy="420624"/>
          </a:xfrm>
          <a:prstGeom prst="rect">
            <a:avLst/>
          </a:prstGeom>
          <a:solidFill>
            <a:srgbClr val="F9A826"/>
          </a:solidFill>
          <a:ln/>
        </p:spPr>
      </p:sp>
      <p:sp>
        <p:nvSpPr>
          <p:cNvPr id="46" name="Text 32"/>
          <p:cNvSpPr/>
          <p:nvPr/>
        </p:nvSpPr>
        <p:spPr>
          <a:xfrm>
            <a:off x="6217920" y="1325880"/>
            <a:ext cx="2743200" cy="420624"/>
          </a:xfrm>
          <a:prstGeom prst="rect">
            <a:avLst/>
          </a:prstGeom>
          <a:noFill/>
          <a:ln/>
        </p:spPr>
        <p:txBody>
          <a:bodyPr wrap="square" lIns="0" tIns="0" rIns="0" bIns="0" rtlCol="0" anchor="ctr"/>
          <a:lstStyle/>
          <a:p>
            <a:pPr algn="ctr" indent="0" marL="0">
              <a:buNone/>
            </a:pPr>
            <a:r>
              <a:rPr lang="en-US" sz="1300" b="1" dirty="0">
                <a:solidFill>
                  <a:srgbClr val="FFFFFF"/>
                </a:solidFill>
              </a:rPr>
              <a:t>Logic</a:t>
            </a:r>
            <a:endParaRPr lang="en-US" sz="1300" dirty="0"/>
          </a:p>
        </p:txBody>
      </p:sp>
      <p:sp>
        <p:nvSpPr>
          <p:cNvPr id="47" name="Shape 33"/>
          <p:cNvSpPr/>
          <p:nvPr/>
        </p:nvSpPr>
        <p:spPr>
          <a:xfrm>
            <a:off x="6217920" y="1828800"/>
            <a:ext cx="2743200" cy="402336"/>
          </a:xfrm>
          <a:prstGeom prst="rect">
            <a:avLst/>
          </a:prstGeom>
          <a:solidFill>
            <a:srgbClr val="EEF2F7"/>
          </a:solidFill>
          <a:ln/>
        </p:spPr>
      </p:sp>
      <p:pic>
        <p:nvPicPr>
          <p:cNvPr id="48" name="Image 12" descr="preencoded.png">    </p:cNvPr>
          <p:cNvPicPr>
            <a:picLocks noChangeAspect="1"/>
          </p:cNvPicPr>
          <p:nvPr/>
        </p:nvPicPr>
        <p:blipFill>
          <a:blip r:embed="rId13"/>
          <a:stretch>
            <a:fillRect/>
          </a:stretch>
        </p:blipFill>
        <p:spPr>
          <a:xfrm>
            <a:off x="6309360" y="1920240"/>
            <a:ext cx="219456" cy="219456"/>
          </a:xfrm>
          <a:prstGeom prst="rect">
            <a:avLst/>
          </a:prstGeom>
        </p:spPr>
      </p:pic>
      <p:sp>
        <p:nvSpPr>
          <p:cNvPr id="49" name="Text 34"/>
          <p:cNvSpPr/>
          <p:nvPr/>
        </p:nvSpPr>
        <p:spPr>
          <a:xfrm>
            <a:off x="6583680" y="1883664"/>
            <a:ext cx="2331720" cy="274320"/>
          </a:xfrm>
          <a:prstGeom prst="rect">
            <a:avLst/>
          </a:prstGeom>
          <a:noFill/>
          <a:ln/>
        </p:spPr>
        <p:txBody>
          <a:bodyPr wrap="square" lIns="0" tIns="0" rIns="0" bIns="0" rtlCol="0" anchor="ctr"/>
          <a:lstStyle/>
          <a:p>
            <a:pPr indent="0" marL="0">
              <a:buNone/>
            </a:pPr>
            <a:r>
              <a:rPr lang="en-US" sz="950" dirty="0">
                <a:solidFill>
                  <a:srgbClr val="0D1B2A"/>
                </a:solidFill>
              </a:rPr>
              <a:t>Warehouse 4-step execution flow</a:t>
            </a:r>
            <a:endParaRPr lang="en-US" sz="950" dirty="0"/>
          </a:p>
        </p:txBody>
      </p:sp>
      <p:sp>
        <p:nvSpPr>
          <p:cNvPr id="50" name="Shape 35"/>
          <p:cNvSpPr/>
          <p:nvPr/>
        </p:nvSpPr>
        <p:spPr>
          <a:xfrm>
            <a:off x="6217920" y="2304288"/>
            <a:ext cx="2743200" cy="402336"/>
          </a:xfrm>
          <a:prstGeom prst="rect">
            <a:avLst/>
          </a:prstGeom>
          <a:solidFill>
            <a:srgbClr val="F8FAFB"/>
          </a:solidFill>
          <a:ln/>
        </p:spPr>
      </p:sp>
      <p:pic>
        <p:nvPicPr>
          <p:cNvPr id="51" name="Image 13" descr="preencoded.png">    </p:cNvPr>
          <p:cNvPicPr>
            <a:picLocks noChangeAspect="1"/>
          </p:cNvPicPr>
          <p:nvPr/>
        </p:nvPicPr>
        <p:blipFill>
          <a:blip r:embed="rId14"/>
          <a:stretch>
            <a:fillRect/>
          </a:stretch>
        </p:blipFill>
        <p:spPr>
          <a:xfrm>
            <a:off x="6309360" y="2395728"/>
            <a:ext cx="219456" cy="219456"/>
          </a:xfrm>
          <a:prstGeom prst="rect">
            <a:avLst/>
          </a:prstGeom>
        </p:spPr>
      </p:pic>
      <p:sp>
        <p:nvSpPr>
          <p:cNvPr id="52" name="Text 36"/>
          <p:cNvSpPr/>
          <p:nvPr/>
        </p:nvSpPr>
        <p:spPr>
          <a:xfrm>
            <a:off x="6583680" y="2359152"/>
            <a:ext cx="2331720" cy="274320"/>
          </a:xfrm>
          <a:prstGeom prst="rect">
            <a:avLst/>
          </a:prstGeom>
          <a:noFill/>
          <a:ln/>
        </p:spPr>
        <p:txBody>
          <a:bodyPr wrap="square" lIns="0" tIns="0" rIns="0" bIns="0" rtlCol="0" anchor="ctr"/>
          <a:lstStyle/>
          <a:p>
            <a:pPr indent="0" marL="0">
              <a:buNone/>
            </a:pPr>
            <a:r>
              <a:rPr lang="en-US" sz="950" dirty="0">
                <a:solidFill>
                  <a:srgbClr val="0D1B2A"/>
                </a:solidFill>
              </a:rPr>
              <a:t>Rerouting endpoint</a:t>
            </a:r>
            <a:endParaRPr lang="en-US" sz="950" dirty="0"/>
          </a:p>
        </p:txBody>
      </p:sp>
      <p:sp>
        <p:nvSpPr>
          <p:cNvPr id="53" name="Shape 37"/>
          <p:cNvSpPr/>
          <p:nvPr/>
        </p:nvSpPr>
        <p:spPr>
          <a:xfrm>
            <a:off x="6217920" y="2779776"/>
            <a:ext cx="2743200" cy="402336"/>
          </a:xfrm>
          <a:prstGeom prst="rect">
            <a:avLst/>
          </a:prstGeom>
          <a:solidFill>
            <a:srgbClr val="EEF2F7"/>
          </a:solidFill>
          <a:ln/>
        </p:spPr>
      </p:sp>
      <p:pic>
        <p:nvPicPr>
          <p:cNvPr id="54" name="Image 14" descr="preencoded.png">    </p:cNvPr>
          <p:cNvPicPr>
            <a:picLocks noChangeAspect="1"/>
          </p:cNvPicPr>
          <p:nvPr/>
        </p:nvPicPr>
        <p:blipFill>
          <a:blip r:embed="rId15"/>
          <a:stretch>
            <a:fillRect/>
          </a:stretch>
        </p:blipFill>
        <p:spPr>
          <a:xfrm>
            <a:off x="6309360" y="2871216"/>
            <a:ext cx="219456" cy="219456"/>
          </a:xfrm>
          <a:prstGeom prst="rect">
            <a:avLst/>
          </a:prstGeom>
        </p:spPr>
      </p:pic>
      <p:sp>
        <p:nvSpPr>
          <p:cNvPr id="55" name="Text 38"/>
          <p:cNvSpPr/>
          <p:nvPr/>
        </p:nvSpPr>
        <p:spPr>
          <a:xfrm>
            <a:off x="6583680" y="2834640"/>
            <a:ext cx="2331720" cy="274320"/>
          </a:xfrm>
          <a:prstGeom prst="rect">
            <a:avLst/>
          </a:prstGeom>
          <a:noFill/>
          <a:ln/>
        </p:spPr>
        <p:txBody>
          <a:bodyPr wrap="square" lIns="0" tIns="0" rIns="0" bIns="0" rtlCol="0" anchor="ctr"/>
          <a:lstStyle/>
          <a:p>
            <a:pPr indent="0" marL="0">
              <a:buNone/>
            </a:pPr>
            <a:r>
              <a:rPr lang="en-US" sz="950" dirty="0">
                <a:solidFill>
                  <a:srgbClr val="0D1B2A"/>
                </a:solidFill>
              </a:rPr>
              <a:t>Route status persistence</a:t>
            </a:r>
            <a:endParaRPr lang="en-US" sz="950" dirty="0"/>
          </a:p>
        </p:txBody>
      </p:sp>
      <p:sp>
        <p:nvSpPr>
          <p:cNvPr id="56" name="Shape 39"/>
          <p:cNvSpPr/>
          <p:nvPr/>
        </p:nvSpPr>
        <p:spPr>
          <a:xfrm>
            <a:off x="6217920" y="3255264"/>
            <a:ext cx="2743200" cy="402336"/>
          </a:xfrm>
          <a:prstGeom prst="rect">
            <a:avLst/>
          </a:prstGeom>
          <a:solidFill>
            <a:srgbClr val="F8FAFB"/>
          </a:solidFill>
          <a:ln/>
        </p:spPr>
      </p:sp>
      <p:pic>
        <p:nvPicPr>
          <p:cNvPr id="57" name="Image 15" descr="preencoded.png">    </p:cNvPr>
          <p:cNvPicPr>
            <a:picLocks noChangeAspect="1"/>
          </p:cNvPicPr>
          <p:nvPr/>
        </p:nvPicPr>
        <p:blipFill>
          <a:blip r:embed="rId16"/>
          <a:stretch>
            <a:fillRect/>
          </a:stretch>
        </p:blipFill>
        <p:spPr>
          <a:xfrm>
            <a:off x="6309360" y="3346704"/>
            <a:ext cx="219456" cy="219456"/>
          </a:xfrm>
          <a:prstGeom prst="rect">
            <a:avLst/>
          </a:prstGeom>
        </p:spPr>
      </p:pic>
      <p:sp>
        <p:nvSpPr>
          <p:cNvPr id="58" name="Text 40"/>
          <p:cNvSpPr/>
          <p:nvPr/>
        </p:nvSpPr>
        <p:spPr>
          <a:xfrm>
            <a:off x="6583680" y="3310128"/>
            <a:ext cx="2331720" cy="274320"/>
          </a:xfrm>
          <a:prstGeom prst="rect">
            <a:avLst/>
          </a:prstGeom>
          <a:noFill/>
          <a:ln/>
        </p:spPr>
        <p:txBody>
          <a:bodyPr wrap="square" lIns="0" tIns="0" rIns="0" bIns="0" rtlCol="0" anchor="ctr"/>
          <a:lstStyle/>
          <a:p>
            <a:pPr indent="0" marL="0">
              <a:buNone/>
            </a:pPr>
            <a:r>
              <a:rPr lang="en-US" sz="950" dirty="0">
                <a:solidFill>
                  <a:srgbClr val="0D1B2A"/>
                </a:solidFill>
              </a:rPr>
              <a:t>GPS coordinate support</a:t>
            </a:r>
            <a:endParaRPr lang="en-US" sz="950" dirty="0"/>
          </a:p>
        </p:txBody>
      </p:sp>
      <p:sp>
        <p:nvSpPr>
          <p:cNvPr id="59" name="Shape 41"/>
          <p:cNvSpPr/>
          <p:nvPr/>
        </p:nvSpPr>
        <p:spPr>
          <a:xfrm>
            <a:off x="365760" y="4572000"/>
            <a:ext cx="8412480" cy="347472"/>
          </a:xfrm>
          <a:prstGeom prst="rect">
            <a:avLst/>
          </a:prstGeom>
          <a:solidFill>
            <a:srgbClr val="0D1B2A"/>
          </a:solidFill>
          <a:ln/>
        </p:spPr>
      </p:sp>
      <p:sp>
        <p:nvSpPr>
          <p:cNvPr id="60" name="Text 42"/>
          <p:cNvSpPr/>
          <p:nvPr/>
        </p:nvSpPr>
        <p:spPr>
          <a:xfrm>
            <a:off x="365760" y="4572000"/>
            <a:ext cx="8412480" cy="347472"/>
          </a:xfrm>
          <a:prstGeom prst="rect">
            <a:avLst/>
          </a:prstGeom>
          <a:noFill/>
          <a:ln/>
        </p:spPr>
        <p:txBody>
          <a:bodyPr wrap="square" lIns="0" tIns="0" rIns="0" bIns="0" rtlCol="0" anchor="ctr"/>
          <a:lstStyle/>
          <a:p>
            <a:pPr algn="ctr" indent="0" marL="0">
              <a:buNone/>
            </a:pPr>
            <a:r>
              <a:rPr lang="en-US" sz="1100" b="1" dirty="0">
                <a:solidFill>
                  <a:srgbClr val="00BFA5"/>
                </a:solidFill>
              </a:rPr>
              <a:t>✔  10+ API endpoints  ·  Full execution flow  ·  Live frontend  ·  Demo-ready</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01168"/>
            <a:ext cx="1554480" cy="256032"/>
          </a:xfrm>
          <a:prstGeom prst="rect">
            <a:avLst/>
          </a:prstGeom>
          <a:solidFill>
            <a:srgbClr val="00BFA5"/>
          </a:solidFill>
          <a:ln w="12700">
            <a:solidFill>
              <a:srgbClr val="00BFA5"/>
            </a:solidFill>
            <a:prstDash val="solid"/>
          </a:ln>
        </p:spPr>
      </p:sp>
      <p:sp>
        <p:nvSpPr>
          <p:cNvPr id="3" name="Text 1"/>
          <p:cNvSpPr/>
          <p:nvPr/>
        </p:nvSpPr>
        <p:spPr>
          <a:xfrm>
            <a:off x="365760" y="192024"/>
            <a:ext cx="1554480" cy="256032"/>
          </a:xfrm>
          <a:prstGeom prst="rect">
            <a:avLst/>
          </a:prstGeom>
          <a:noFill/>
          <a:ln/>
        </p:spPr>
        <p:txBody>
          <a:bodyPr wrap="square" lIns="0" tIns="0" rIns="0" bIns="0" rtlCol="0" anchor="ctr"/>
          <a:lstStyle/>
          <a:p>
            <a:pPr algn="ctr" indent="0" marL="0">
              <a:buNone/>
            </a:pPr>
            <a:r>
              <a:rPr lang="en-US" sz="700" b="1" spc="200" kern="0" dirty="0">
                <a:solidFill>
                  <a:srgbClr val="0D1B2A"/>
                </a:solidFill>
              </a:rPr>
              <a:t>ROADMAP</a:t>
            </a:r>
            <a:endParaRPr lang="en-US" sz="700" dirty="0"/>
          </a:p>
        </p:txBody>
      </p:sp>
      <p:sp>
        <p:nvSpPr>
          <p:cNvPr id="4" name="Text 2"/>
          <p:cNvSpPr/>
          <p:nvPr/>
        </p:nvSpPr>
        <p:spPr>
          <a:xfrm>
            <a:off x="365760" y="548640"/>
            <a:ext cx="8412480" cy="6400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What's Planned Next</a:t>
            </a:r>
            <a:endParaRPr lang="en-US" sz="2400" dirty="0"/>
          </a:p>
        </p:txBody>
      </p:sp>
      <p:sp>
        <p:nvSpPr>
          <p:cNvPr id="5" name="Shape 3"/>
          <p:cNvSpPr/>
          <p:nvPr/>
        </p:nvSpPr>
        <p:spPr>
          <a:xfrm>
            <a:off x="365760" y="1325880"/>
            <a:ext cx="2743200" cy="3474720"/>
          </a:xfrm>
          <a:prstGeom prst="rect">
            <a:avLst/>
          </a:prstGeom>
          <a:solidFill>
            <a:srgbClr val="132233"/>
          </a:solidFill>
          <a:ln/>
        </p:spPr>
      </p:sp>
      <p:sp>
        <p:nvSpPr>
          <p:cNvPr id="6" name="Shape 4"/>
          <p:cNvSpPr/>
          <p:nvPr/>
        </p:nvSpPr>
        <p:spPr>
          <a:xfrm>
            <a:off x="365760" y="1325880"/>
            <a:ext cx="2743200" cy="45720"/>
          </a:xfrm>
          <a:prstGeom prst="rect">
            <a:avLst/>
          </a:prstGeom>
          <a:solidFill>
            <a:srgbClr val="00BFA5"/>
          </a:solidFill>
          <a:ln w="12700">
            <a:solidFill>
              <a:srgbClr val="00BFA5"/>
            </a:solidFill>
            <a:prstDash val="solid"/>
          </a:ln>
        </p:spPr>
      </p:sp>
      <p:sp>
        <p:nvSpPr>
          <p:cNvPr id="7" name="Shape 5"/>
          <p:cNvSpPr/>
          <p:nvPr/>
        </p:nvSpPr>
        <p:spPr>
          <a:xfrm>
            <a:off x="365760" y="1325880"/>
            <a:ext cx="45720" cy="3474720"/>
          </a:xfrm>
          <a:prstGeom prst="rect">
            <a:avLst/>
          </a:prstGeom>
          <a:solidFill>
            <a:srgbClr val="00BFA5"/>
          </a:solidFill>
          <a:ln w="12700">
            <a:solidFill>
              <a:srgbClr val="00BFA5"/>
            </a:solidFill>
            <a:prstDash val="solid"/>
          </a:ln>
        </p:spPr>
      </p:sp>
      <p:sp>
        <p:nvSpPr>
          <p:cNvPr id="8" name="Text 6"/>
          <p:cNvSpPr/>
          <p:nvPr/>
        </p:nvSpPr>
        <p:spPr>
          <a:xfrm>
            <a:off x="502920" y="1389888"/>
            <a:ext cx="2560320" cy="256032"/>
          </a:xfrm>
          <a:prstGeom prst="rect">
            <a:avLst/>
          </a:prstGeom>
          <a:noFill/>
          <a:ln/>
        </p:spPr>
        <p:txBody>
          <a:bodyPr wrap="square" lIns="0" tIns="0" rIns="0" bIns="0" rtlCol="0" anchor="ctr"/>
          <a:lstStyle/>
          <a:p>
            <a:pPr indent="0" marL="0">
              <a:buNone/>
            </a:pPr>
            <a:r>
              <a:rPr lang="en-US" sz="850" b="1" spc="100" kern="0" dirty="0">
                <a:solidFill>
                  <a:srgbClr val="00BFA5"/>
                </a:solidFill>
              </a:rPr>
              <a:t>Phase 1</a:t>
            </a:r>
            <a:endParaRPr lang="en-US" sz="850" dirty="0"/>
          </a:p>
        </p:txBody>
      </p:sp>
      <p:sp>
        <p:nvSpPr>
          <p:cNvPr id="9" name="Text 7"/>
          <p:cNvSpPr/>
          <p:nvPr/>
        </p:nvSpPr>
        <p:spPr>
          <a:xfrm>
            <a:off x="502920" y="1664208"/>
            <a:ext cx="2560320" cy="457200"/>
          </a:xfrm>
          <a:prstGeom prst="rect">
            <a:avLst/>
          </a:prstGeom>
          <a:noFill/>
          <a:ln/>
        </p:spPr>
        <p:txBody>
          <a:bodyPr wrap="square" lIns="0" tIns="0" rIns="0" bIns="0" rtlCol="0" anchor="ctr"/>
          <a:lstStyle/>
          <a:p>
            <a:pPr indent="0" marL="0">
              <a:buNone/>
            </a:pPr>
            <a:r>
              <a:rPr lang="en-US" sz="1300" b="1" dirty="0">
                <a:solidFill>
                  <a:srgbClr val="FFFFFF"/>
                </a:solidFill>
              </a:rPr>
              <a:t>Real GPS Integration</a:t>
            </a:r>
            <a:endParaRPr lang="en-US" sz="1300" dirty="0"/>
          </a:p>
        </p:txBody>
      </p:sp>
      <p:sp>
        <p:nvSpPr>
          <p:cNvPr id="10" name="Text 8"/>
          <p:cNvSpPr/>
          <p:nvPr/>
        </p:nvSpPr>
        <p:spPr>
          <a:xfrm>
            <a:off x="502920" y="2240280"/>
            <a:ext cx="2560320" cy="530352"/>
          </a:xfrm>
          <a:prstGeom prst="rect">
            <a:avLst/>
          </a:prstGeom>
          <a:noFill/>
          <a:ln/>
        </p:spPr>
        <p:txBody>
          <a:bodyPr wrap="square" lIns="0" tIns="0" rIns="0" bIns="0" rtlCol="0" anchor="ctr"/>
          <a:lstStyle/>
          <a:p>
            <a:pPr indent="0" marL="0">
              <a:buNone/>
            </a:pPr>
            <a:r>
              <a:rPr lang="en-US" sz="1050" b="1" dirty="0">
                <a:solidFill>
                  <a:srgbClr val="00BFA5"/>
                </a:solidFill>
              </a:rPr>
              <a:t>▸  </a:t>
            </a:r>
            <a:pPr indent="0" marL="0">
              <a:buNone/>
            </a:pPr>
            <a:r>
              <a:rPr lang="en-US" sz="1050" dirty="0">
                <a:solidFill>
                  <a:srgbClr val="F0F4F8"/>
                </a:solidFill>
              </a:rPr>
              <a:t>Connect real truck GPS devices or apps</a:t>
            </a:r>
            <a:endParaRPr lang="en-US" sz="1050" dirty="0"/>
          </a:p>
        </p:txBody>
      </p:sp>
      <p:sp>
        <p:nvSpPr>
          <p:cNvPr id="11" name="Text 9"/>
          <p:cNvSpPr/>
          <p:nvPr/>
        </p:nvSpPr>
        <p:spPr>
          <a:xfrm>
            <a:off x="502920" y="2880360"/>
            <a:ext cx="2560320" cy="530352"/>
          </a:xfrm>
          <a:prstGeom prst="rect">
            <a:avLst/>
          </a:prstGeom>
          <a:noFill/>
          <a:ln/>
        </p:spPr>
        <p:txBody>
          <a:bodyPr wrap="square" lIns="0" tIns="0" rIns="0" bIns="0" rtlCol="0" anchor="ctr"/>
          <a:lstStyle/>
          <a:p>
            <a:pPr indent="0" marL="0">
              <a:buNone/>
            </a:pPr>
            <a:r>
              <a:rPr lang="en-US" sz="1050" b="1" dirty="0">
                <a:solidFill>
                  <a:srgbClr val="00BFA5"/>
                </a:solidFill>
              </a:rPr>
              <a:t>▸  </a:t>
            </a:r>
            <a:pPr indent="0" marL="0">
              <a:buNone/>
            </a:pPr>
            <a:r>
              <a:rPr lang="en-US" sz="1050" dirty="0">
                <a:solidFill>
                  <a:srgbClr val="F0F4F8"/>
                </a:solidFill>
              </a:rPr>
              <a:t>Replace simulated positions with live coordinates</a:t>
            </a:r>
            <a:endParaRPr lang="en-US" sz="1050" dirty="0"/>
          </a:p>
        </p:txBody>
      </p:sp>
      <p:sp>
        <p:nvSpPr>
          <p:cNvPr id="12" name="Text 10"/>
          <p:cNvSpPr/>
          <p:nvPr/>
        </p:nvSpPr>
        <p:spPr>
          <a:xfrm>
            <a:off x="502920" y="3520440"/>
            <a:ext cx="2560320" cy="530352"/>
          </a:xfrm>
          <a:prstGeom prst="rect">
            <a:avLst/>
          </a:prstGeom>
          <a:noFill/>
          <a:ln/>
        </p:spPr>
        <p:txBody>
          <a:bodyPr wrap="square" lIns="0" tIns="0" rIns="0" bIns="0" rtlCol="0" anchor="ctr"/>
          <a:lstStyle/>
          <a:p>
            <a:pPr indent="0" marL="0">
              <a:buNone/>
            </a:pPr>
            <a:r>
              <a:rPr lang="en-US" sz="1050" b="1" dirty="0">
                <a:solidFill>
                  <a:srgbClr val="00BFA5"/>
                </a:solidFill>
              </a:rPr>
              <a:t>▸  </a:t>
            </a:r>
            <a:pPr indent="0" marL="0">
              <a:buNone/>
            </a:pPr>
            <a:r>
              <a:rPr lang="en-US" sz="1050" dirty="0">
                <a:solidFill>
                  <a:srgbClr val="F0F4F8"/>
                </a:solidFill>
              </a:rPr>
              <a:t>Geofence-based stop auto-completion</a:t>
            </a:r>
            <a:endParaRPr lang="en-US" sz="1050" dirty="0"/>
          </a:p>
        </p:txBody>
      </p:sp>
      <p:sp>
        <p:nvSpPr>
          <p:cNvPr id="13" name="Shape 11"/>
          <p:cNvSpPr/>
          <p:nvPr/>
        </p:nvSpPr>
        <p:spPr>
          <a:xfrm>
            <a:off x="3291840" y="1325880"/>
            <a:ext cx="2743200" cy="3474720"/>
          </a:xfrm>
          <a:prstGeom prst="rect">
            <a:avLst/>
          </a:prstGeom>
          <a:solidFill>
            <a:srgbClr val="132233"/>
          </a:solidFill>
          <a:ln/>
        </p:spPr>
      </p:sp>
      <p:sp>
        <p:nvSpPr>
          <p:cNvPr id="14" name="Shape 12"/>
          <p:cNvSpPr/>
          <p:nvPr/>
        </p:nvSpPr>
        <p:spPr>
          <a:xfrm>
            <a:off x="3291840" y="1325880"/>
            <a:ext cx="2743200" cy="45720"/>
          </a:xfrm>
          <a:prstGeom prst="rect">
            <a:avLst/>
          </a:prstGeom>
          <a:solidFill>
            <a:srgbClr val="F9A826"/>
          </a:solidFill>
          <a:ln w="12700">
            <a:solidFill>
              <a:srgbClr val="F9A826"/>
            </a:solidFill>
            <a:prstDash val="solid"/>
          </a:ln>
        </p:spPr>
      </p:sp>
      <p:sp>
        <p:nvSpPr>
          <p:cNvPr id="15" name="Shape 13"/>
          <p:cNvSpPr/>
          <p:nvPr/>
        </p:nvSpPr>
        <p:spPr>
          <a:xfrm>
            <a:off x="3291840" y="1325880"/>
            <a:ext cx="45720" cy="3474720"/>
          </a:xfrm>
          <a:prstGeom prst="rect">
            <a:avLst/>
          </a:prstGeom>
          <a:solidFill>
            <a:srgbClr val="F9A826"/>
          </a:solidFill>
          <a:ln w="12700">
            <a:solidFill>
              <a:srgbClr val="F9A826"/>
            </a:solidFill>
            <a:prstDash val="solid"/>
          </a:ln>
        </p:spPr>
      </p:sp>
      <p:sp>
        <p:nvSpPr>
          <p:cNvPr id="16" name="Text 14"/>
          <p:cNvSpPr/>
          <p:nvPr/>
        </p:nvSpPr>
        <p:spPr>
          <a:xfrm>
            <a:off x="3429000" y="1389888"/>
            <a:ext cx="2560320" cy="256032"/>
          </a:xfrm>
          <a:prstGeom prst="rect">
            <a:avLst/>
          </a:prstGeom>
          <a:noFill/>
          <a:ln/>
        </p:spPr>
        <p:txBody>
          <a:bodyPr wrap="square" lIns="0" tIns="0" rIns="0" bIns="0" rtlCol="0" anchor="ctr"/>
          <a:lstStyle/>
          <a:p>
            <a:pPr indent="0" marL="0">
              <a:buNone/>
            </a:pPr>
            <a:r>
              <a:rPr lang="en-US" sz="850" b="1" spc="100" kern="0" dirty="0">
                <a:solidFill>
                  <a:srgbClr val="F9A826"/>
                </a:solidFill>
              </a:rPr>
              <a:t>Phase 2</a:t>
            </a:r>
            <a:endParaRPr lang="en-US" sz="850" dirty="0"/>
          </a:p>
        </p:txBody>
      </p:sp>
      <p:sp>
        <p:nvSpPr>
          <p:cNvPr id="17" name="Text 15"/>
          <p:cNvSpPr/>
          <p:nvPr/>
        </p:nvSpPr>
        <p:spPr>
          <a:xfrm>
            <a:off x="3429000" y="1664208"/>
            <a:ext cx="2560320" cy="457200"/>
          </a:xfrm>
          <a:prstGeom prst="rect">
            <a:avLst/>
          </a:prstGeom>
          <a:noFill/>
          <a:ln/>
        </p:spPr>
        <p:txBody>
          <a:bodyPr wrap="square" lIns="0" tIns="0" rIns="0" bIns="0" rtlCol="0" anchor="ctr"/>
          <a:lstStyle/>
          <a:p>
            <a:pPr indent="0" marL="0">
              <a:buNone/>
            </a:pPr>
            <a:r>
              <a:rPr lang="en-US" sz="1300" b="1" dirty="0">
                <a:solidFill>
                  <a:srgbClr val="FFFFFF"/>
                </a:solidFill>
              </a:rPr>
              <a:t>Dynamic Rerouting Engine</a:t>
            </a:r>
            <a:endParaRPr lang="en-US" sz="1300" dirty="0"/>
          </a:p>
        </p:txBody>
      </p:sp>
      <p:sp>
        <p:nvSpPr>
          <p:cNvPr id="18" name="Text 16"/>
          <p:cNvSpPr/>
          <p:nvPr/>
        </p:nvSpPr>
        <p:spPr>
          <a:xfrm>
            <a:off x="3429000" y="2240280"/>
            <a:ext cx="2560320" cy="530352"/>
          </a:xfrm>
          <a:prstGeom prst="rect">
            <a:avLst/>
          </a:prstGeom>
          <a:noFill/>
          <a:ln/>
        </p:spPr>
        <p:txBody>
          <a:bodyPr wrap="square" lIns="0" tIns="0" rIns="0" bIns="0" rtlCol="0" anchor="ctr"/>
          <a:lstStyle/>
          <a:p>
            <a:pPr indent="0" marL="0">
              <a:buNone/>
            </a:pPr>
            <a:r>
              <a:rPr lang="en-US" sz="1050" b="1" dirty="0">
                <a:solidFill>
                  <a:srgbClr val="F9A826"/>
                </a:solidFill>
              </a:rPr>
              <a:t>▸  </a:t>
            </a:r>
            <a:pPr indent="0" marL="0">
              <a:buNone/>
            </a:pPr>
            <a:r>
              <a:rPr lang="en-US" sz="1050" dirty="0">
                <a:solidFill>
                  <a:srgbClr val="F0F4F8"/>
                </a:solidFill>
              </a:rPr>
              <a:t>Auto-trigger rerouting on traffic/delay events</a:t>
            </a:r>
            <a:endParaRPr lang="en-US" sz="1050" dirty="0"/>
          </a:p>
        </p:txBody>
      </p:sp>
      <p:sp>
        <p:nvSpPr>
          <p:cNvPr id="19" name="Text 17"/>
          <p:cNvSpPr/>
          <p:nvPr/>
        </p:nvSpPr>
        <p:spPr>
          <a:xfrm>
            <a:off x="3429000" y="2880360"/>
            <a:ext cx="2560320" cy="530352"/>
          </a:xfrm>
          <a:prstGeom prst="rect">
            <a:avLst/>
          </a:prstGeom>
          <a:noFill/>
          <a:ln/>
        </p:spPr>
        <p:txBody>
          <a:bodyPr wrap="square" lIns="0" tIns="0" rIns="0" bIns="0" rtlCol="0" anchor="ctr"/>
          <a:lstStyle/>
          <a:p>
            <a:pPr indent="0" marL="0">
              <a:buNone/>
            </a:pPr>
            <a:r>
              <a:rPr lang="en-US" sz="1050" b="1" dirty="0">
                <a:solidFill>
                  <a:srgbClr val="F9A826"/>
                </a:solidFill>
              </a:rPr>
              <a:t>▸  </a:t>
            </a:r>
            <a:pPr indent="0" marL="0">
              <a:buNone/>
            </a:pPr>
            <a:r>
              <a:rPr lang="en-US" sz="1050" dirty="0">
                <a:solidFill>
                  <a:srgbClr val="F0F4F8"/>
                </a:solidFill>
              </a:rPr>
              <a:t>Priority queue for urgent demand</a:t>
            </a:r>
            <a:endParaRPr lang="en-US" sz="1050" dirty="0"/>
          </a:p>
        </p:txBody>
      </p:sp>
      <p:sp>
        <p:nvSpPr>
          <p:cNvPr id="20" name="Text 18"/>
          <p:cNvSpPr/>
          <p:nvPr/>
        </p:nvSpPr>
        <p:spPr>
          <a:xfrm>
            <a:off x="3429000" y="3520440"/>
            <a:ext cx="2560320" cy="530352"/>
          </a:xfrm>
          <a:prstGeom prst="rect">
            <a:avLst/>
          </a:prstGeom>
          <a:noFill/>
          <a:ln/>
        </p:spPr>
        <p:txBody>
          <a:bodyPr wrap="square" lIns="0" tIns="0" rIns="0" bIns="0" rtlCol="0" anchor="ctr"/>
          <a:lstStyle/>
          <a:p>
            <a:pPr indent="0" marL="0">
              <a:buNone/>
            </a:pPr>
            <a:r>
              <a:rPr lang="en-US" sz="1050" b="1" dirty="0">
                <a:solidFill>
                  <a:srgbClr val="F9A826"/>
                </a:solidFill>
              </a:rPr>
              <a:t>▸  </a:t>
            </a:r>
            <a:pPr indent="0" marL="0">
              <a:buNone/>
            </a:pPr>
            <a:r>
              <a:rPr lang="en-US" sz="1050" dirty="0">
                <a:solidFill>
                  <a:srgbClr val="F0F4F8"/>
                </a:solidFill>
              </a:rPr>
              <a:t>Solver re-runs on live data changes</a:t>
            </a:r>
            <a:endParaRPr lang="en-US" sz="1050" dirty="0"/>
          </a:p>
        </p:txBody>
      </p:sp>
      <p:sp>
        <p:nvSpPr>
          <p:cNvPr id="21" name="Shape 19"/>
          <p:cNvSpPr/>
          <p:nvPr/>
        </p:nvSpPr>
        <p:spPr>
          <a:xfrm>
            <a:off x="6217920" y="1325880"/>
            <a:ext cx="2743200" cy="3474720"/>
          </a:xfrm>
          <a:prstGeom prst="rect">
            <a:avLst/>
          </a:prstGeom>
          <a:solidFill>
            <a:srgbClr val="132233"/>
          </a:solidFill>
          <a:ln/>
        </p:spPr>
      </p:sp>
      <p:sp>
        <p:nvSpPr>
          <p:cNvPr id="22" name="Shape 20"/>
          <p:cNvSpPr/>
          <p:nvPr/>
        </p:nvSpPr>
        <p:spPr>
          <a:xfrm>
            <a:off x="6217920" y="1325880"/>
            <a:ext cx="2743200" cy="45720"/>
          </a:xfrm>
          <a:prstGeom prst="rect">
            <a:avLst/>
          </a:prstGeom>
          <a:solidFill>
            <a:srgbClr val="AB47BC"/>
          </a:solidFill>
          <a:ln w="12700">
            <a:solidFill>
              <a:srgbClr val="AB47BC"/>
            </a:solidFill>
            <a:prstDash val="solid"/>
          </a:ln>
        </p:spPr>
      </p:sp>
      <p:sp>
        <p:nvSpPr>
          <p:cNvPr id="23" name="Shape 21"/>
          <p:cNvSpPr/>
          <p:nvPr/>
        </p:nvSpPr>
        <p:spPr>
          <a:xfrm>
            <a:off x="6217920" y="1325880"/>
            <a:ext cx="45720" cy="3474720"/>
          </a:xfrm>
          <a:prstGeom prst="rect">
            <a:avLst/>
          </a:prstGeom>
          <a:solidFill>
            <a:srgbClr val="AB47BC"/>
          </a:solidFill>
          <a:ln w="12700">
            <a:solidFill>
              <a:srgbClr val="AB47BC"/>
            </a:solidFill>
            <a:prstDash val="solid"/>
          </a:ln>
        </p:spPr>
      </p:sp>
      <p:sp>
        <p:nvSpPr>
          <p:cNvPr id="24" name="Text 22"/>
          <p:cNvSpPr/>
          <p:nvPr/>
        </p:nvSpPr>
        <p:spPr>
          <a:xfrm>
            <a:off x="6355080" y="1389888"/>
            <a:ext cx="2560320" cy="256032"/>
          </a:xfrm>
          <a:prstGeom prst="rect">
            <a:avLst/>
          </a:prstGeom>
          <a:noFill/>
          <a:ln/>
        </p:spPr>
        <p:txBody>
          <a:bodyPr wrap="square" lIns="0" tIns="0" rIns="0" bIns="0" rtlCol="0" anchor="ctr"/>
          <a:lstStyle/>
          <a:p>
            <a:pPr indent="0" marL="0">
              <a:buNone/>
            </a:pPr>
            <a:r>
              <a:rPr lang="en-US" sz="850" b="1" spc="100" kern="0" dirty="0">
                <a:solidFill>
                  <a:srgbClr val="AB47BC"/>
                </a:solidFill>
              </a:rPr>
              <a:t>Phase 3</a:t>
            </a:r>
            <a:endParaRPr lang="en-US" sz="850" dirty="0"/>
          </a:p>
        </p:txBody>
      </p:sp>
      <p:sp>
        <p:nvSpPr>
          <p:cNvPr id="25" name="Text 23"/>
          <p:cNvSpPr/>
          <p:nvPr/>
        </p:nvSpPr>
        <p:spPr>
          <a:xfrm>
            <a:off x="6355080" y="1664208"/>
            <a:ext cx="2560320" cy="457200"/>
          </a:xfrm>
          <a:prstGeom prst="rect">
            <a:avLst/>
          </a:prstGeom>
          <a:noFill/>
          <a:ln/>
        </p:spPr>
        <p:txBody>
          <a:bodyPr wrap="square" lIns="0" tIns="0" rIns="0" bIns="0" rtlCol="0" anchor="ctr"/>
          <a:lstStyle/>
          <a:p>
            <a:pPr indent="0" marL="0">
              <a:buNone/>
            </a:pPr>
            <a:r>
              <a:rPr lang="en-US" sz="1300" b="1" dirty="0">
                <a:solidFill>
                  <a:srgbClr val="FFFFFF"/>
                </a:solidFill>
              </a:rPr>
              <a:t>Analytics &amp; Forecasting</a:t>
            </a:r>
            <a:endParaRPr lang="en-US" sz="1300" dirty="0"/>
          </a:p>
        </p:txBody>
      </p:sp>
      <p:sp>
        <p:nvSpPr>
          <p:cNvPr id="26" name="Text 24"/>
          <p:cNvSpPr/>
          <p:nvPr/>
        </p:nvSpPr>
        <p:spPr>
          <a:xfrm>
            <a:off x="6355080" y="2240280"/>
            <a:ext cx="2560320" cy="530352"/>
          </a:xfrm>
          <a:prstGeom prst="rect">
            <a:avLst/>
          </a:prstGeom>
          <a:noFill/>
          <a:ln/>
        </p:spPr>
        <p:txBody>
          <a:bodyPr wrap="square" lIns="0" tIns="0" rIns="0" bIns="0" rtlCol="0" anchor="ctr"/>
          <a:lstStyle/>
          <a:p>
            <a:pPr indent="0" marL="0">
              <a:buNone/>
            </a:pPr>
            <a:r>
              <a:rPr lang="en-US" sz="1050" b="1" dirty="0">
                <a:solidFill>
                  <a:srgbClr val="AB47BC"/>
                </a:solidFill>
              </a:rPr>
              <a:t>▸  </a:t>
            </a:r>
            <a:pPr indent="0" marL="0">
              <a:buNone/>
            </a:pPr>
            <a:r>
              <a:rPr lang="en-US" sz="1050" dirty="0">
                <a:solidFill>
                  <a:srgbClr val="F0F4F8"/>
                </a:solidFill>
              </a:rPr>
              <a:t>Historical route efficiency reports</a:t>
            </a:r>
            <a:endParaRPr lang="en-US" sz="1050" dirty="0"/>
          </a:p>
        </p:txBody>
      </p:sp>
      <p:sp>
        <p:nvSpPr>
          <p:cNvPr id="27" name="Text 25"/>
          <p:cNvSpPr/>
          <p:nvPr/>
        </p:nvSpPr>
        <p:spPr>
          <a:xfrm>
            <a:off x="6355080" y="2880360"/>
            <a:ext cx="2560320" cy="530352"/>
          </a:xfrm>
          <a:prstGeom prst="rect">
            <a:avLst/>
          </a:prstGeom>
          <a:noFill/>
          <a:ln/>
        </p:spPr>
        <p:txBody>
          <a:bodyPr wrap="square" lIns="0" tIns="0" rIns="0" bIns="0" rtlCol="0" anchor="ctr"/>
          <a:lstStyle/>
          <a:p>
            <a:pPr indent="0" marL="0">
              <a:buNone/>
            </a:pPr>
            <a:r>
              <a:rPr lang="en-US" sz="1050" b="1" dirty="0">
                <a:solidFill>
                  <a:srgbClr val="AB47BC"/>
                </a:solidFill>
              </a:rPr>
              <a:t>▸  </a:t>
            </a:r>
            <a:pPr indent="0" marL="0">
              <a:buNone/>
            </a:pPr>
            <a:r>
              <a:rPr lang="en-US" sz="1050" dirty="0">
                <a:solidFill>
                  <a:srgbClr val="F0F4F8"/>
                </a:solidFill>
              </a:rPr>
              <a:t>Demand prediction per store</a:t>
            </a:r>
            <a:endParaRPr lang="en-US" sz="1050" dirty="0"/>
          </a:p>
        </p:txBody>
      </p:sp>
      <p:sp>
        <p:nvSpPr>
          <p:cNvPr id="28" name="Text 26"/>
          <p:cNvSpPr/>
          <p:nvPr/>
        </p:nvSpPr>
        <p:spPr>
          <a:xfrm>
            <a:off x="6355080" y="3520440"/>
            <a:ext cx="2560320" cy="530352"/>
          </a:xfrm>
          <a:prstGeom prst="rect">
            <a:avLst/>
          </a:prstGeom>
          <a:noFill/>
          <a:ln/>
        </p:spPr>
        <p:txBody>
          <a:bodyPr wrap="square" lIns="0" tIns="0" rIns="0" bIns="0" rtlCol="0" anchor="ctr"/>
          <a:lstStyle/>
          <a:p>
            <a:pPr indent="0" marL="0">
              <a:buNone/>
            </a:pPr>
            <a:r>
              <a:rPr lang="en-US" sz="1050" b="1" dirty="0">
                <a:solidFill>
                  <a:srgbClr val="AB47BC"/>
                </a:solidFill>
              </a:rPr>
              <a:t>▸  </a:t>
            </a:r>
            <a:pPr indent="0" marL="0">
              <a:buNone/>
            </a:pPr>
            <a:r>
              <a:rPr lang="en-US" sz="1050" dirty="0">
                <a:solidFill>
                  <a:srgbClr val="F0F4F8"/>
                </a:solidFill>
              </a:rPr>
              <a:t>Warehouse stock optimization suggestions</a:t>
            </a:r>
            <a:endParaRPr lang="en-US" sz="1050" dirty="0"/>
          </a:p>
        </p:txBody>
      </p:sp>
      <p:sp>
        <p:nvSpPr>
          <p:cNvPr id="29" name="Text 27"/>
          <p:cNvSpPr/>
          <p:nvPr/>
        </p:nvSpPr>
        <p:spPr>
          <a:xfrm>
            <a:off x="365760" y="4754880"/>
            <a:ext cx="8412480" cy="228600"/>
          </a:xfrm>
          <a:prstGeom prst="rect">
            <a:avLst/>
          </a:prstGeom>
          <a:noFill/>
          <a:ln/>
        </p:spPr>
        <p:txBody>
          <a:bodyPr wrap="square" lIns="0" tIns="0" rIns="0" bIns="0" rtlCol="0" anchor="ctr"/>
          <a:lstStyle/>
          <a:p>
            <a:pPr algn="ctr" indent="0" marL="0">
              <a:buNone/>
            </a:pPr>
            <a:r>
              <a:rPr lang="en-US" sz="900" i="1" dirty="0">
                <a:solidFill>
                  <a:srgbClr val="8A9BAB"/>
                </a:solidFill>
              </a:rPr>
              <a:t>NOW ──────────── Q3 2025 ──────────── Q1 2026 ──────────── Q3 2026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B"/>
        </a:solidFill>
      </p:bgPr>
    </p:bg>
    <p:spTree>
      <p:nvGrpSpPr>
        <p:cNvPr id="1" name=""/>
        <p:cNvGrpSpPr/>
        <p:nvPr/>
      </p:nvGrpSpPr>
      <p:grpSpPr>
        <a:xfrm>
          <a:off x="0" y="0"/>
          <a:ext cx="0" cy="0"/>
          <a:chOff x="0" y="0"/>
          <a:chExt cx="0" cy="0"/>
        </a:xfrm>
      </p:grpSpPr>
      <p:sp>
        <p:nvSpPr>
          <p:cNvPr id="2" name="Shape 0"/>
          <p:cNvSpPr/>
          <p:nvPr/>
        </p:nvSpPr>
        <p:spPr>
          <a:xfrm>
            <a:off x="365760" y="201168"/>
            <a:ext cx="1554480" cy="256032"/>
          </a:xfrm>
          <a:prstGeom prst="rect">
            <a:avLst/>
          </a:prstGeom>
          <a:solidFill>
            <a:srgbClr val="00BFA5"/>
          </a:solidFill>
          <a:ln w="12700">
            <a:solidFill>
              <a:srgbClr val="00BFA5"/>
            </a:solidFill>
            <a:prstDash val="solid"/>
          </a:ln>
        </p:spPr>
      </p:sp>
      <p:sp>
        <p:nvSpPr>
          <p:cNvPr id="3" name="Text 1"/>
          <p:cNvSpPr/>
          <p:nvPr/>
        </p:nvSpPr>
        <p:spPr>
          <a:xfrm>
            <a:off x="365760" y="192024"/>
            <a:ext cx="1554480" cy="256032"/>
          </a:xfrm>
          <a:prstGeom prst="rect">
            <a:avLst/>
          </a:prstGeom>
          <a:noFill/>
          <a:ln/>
        </p:spPr>
        <p:txBody>
          <a:bodyPr wrap="square" lIns="0" tIns="0" rIns="0" bIns="0" rtlCol="0" anchor="ctr"/>
          <a:lstStyle/>
          <a:p>
            <a:pPr algn="ctr" indent="0" marL="0">
              <a:buNone/>
            </a:pPr>
            <a:r>
              <a:rPr lang="en-US" sz="700" b="1" spc="200" kern="0" dirty="0">
                <a:solidFill>
                  <a:srgbClr val="0D1B2A"/>
                </a:solidFill>
              </a:rPr>
              <a:t>IMPACT</a:t>
            </a:r>
            <a:endParaRPr lang="en-US" sz="700" dirty="0"/>
          </a:p>
        </p:txBody>
      </p:sp>
      <p:sp>
        <p:nvSpPr>
          <p:cNvPr id="4" name="Text 2"/>
          <p:cNvSpPr/>
          <p:nvPr/>
        </p:nvSpPr>
        <p:spPr>
          <a:xfrm>
            <a:off x="365760" y="548640"/>
            <a:ext cx="8412480" cy="640080"/>
          </a:xfrm>
          <a:prstGeom prst="rect">
            <a:avLst/>
          </a:prstGeom>
          <a:noFill/>
          <a:ln/>
        </p:spPr>
        <p:txBody>
          <a:bodyPr wrap="square" lIns="0" tIns="0" rIns="0" bIns="0" rtlCol="0" anchor="ctr"/>
          <a:lstStyle/>
          <a:p>
            <a:pPr indent="0" marL="0">
              <a:buNone/>
            </a:pPr>
            <a:r>
              <a:rPr lang="en-US" sz="2600" b="1" dirty="0">
                <a:solidFill>
                  <a:srgbClr val="0D1B2A"/>
                </a:solidFill>
                <a:latin typeface="Calibri" pitchFamily="34" charset="0"/>
                <a:ea typeface="Calibri" pitchFamily="34" charset="-122"/>
                <a:cs typeface="Calibri" pitchFamily="34" charset="-120"/>
              </a:rPr>
              <a:t>Why This Matters for Real Logistics</a:t>
            </a:r>
            <a:endParaRPr lang="en-US" sz="2600" dirty="0"/>
          </a:p>
        </p:txBody>
      </p:sp>
      <p:sp>
        <p:nvSpPr>
          <p:cNvPr id="5" name="Shape 3"/>
          <p:cNvSpPr/>
          <p:nvPr/>
        </p:nvSpPr>
        <p:spPr>
          <a:xfrm>
            <a:off x="365760" y="1325880"/>
            <a:ext cx="4206240" cy="132588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6" name="Shape 4"/>
          <p:cNvSpPr/>
          <p:nvPr/>
        </p:nvSpPr>
        <p:spPr>
          <a:xfrm>
            <a:off x="365760" y="1325880"/>
            <a:ext cx="45720" cy="1325880"/>
          </a:xfrm>
          <a:prstGeom prst="rect">
            <a:avLst/>
          </a:prstGeom>
          <a:solidFill>
            <a:srgbClr val="0D1B2A"/>
          </a:solidFill>
          <a:ln w="12700">
            <a:solidFill>
              <a:srgbClr val="0D1B2A"/>
            </a:solidFill>
            <a:prstDash val="solid"/>
          </a:ln>
        </p:spPr>
      </p:sp>
      <p:pic>
        <p:nvPicPr>
          <p:cNvPr id="7" name="Image 0" descr="preencoded.png">    </p:cNvPr>
          <p:cNvPicPr>
            <a:picLocks noChangeAspect="1"/>
          </p:cNvPicPr>
          <p:nvPr/>
        </p:nvPicPr>
        <p:blipFill>
          <a:blip r:embed="rId1"/>
          <a:stretch>
            <a:fillRect/>
          </a:stretch>
        </p:blipFill>
        <p:spPr>
          <a:xfrm>
            <a:off x="530352" y="1417320"/>
            <a:ext cx="384048" cy="384048"/>
          </a:xfrm>
          <a:prstGeom prst="rect">
            <a:avLst/>
          </a:prstGeom>
        </p:spPr>
      </p:pic>
      <p:sp>
        <p:nvSpPr>
          <p:cNvPr id="8" name="Text 5"/>
          <p:cNvSpPr/>
          <p:nvPr/>
        </p:nvSpPr>
        <p:spPr>
          <a:xfrm>
            <a:off x="1051560" y="1380744"/>
            <a:ext cx="1371600" cy="420624"/>
          </a:xfrm>
          <a:prstGeom prst="rect">
            <a:avLst/>
          </a:prstGeom>
          <a:noFill/>
          <a:ln/>
        </p:spPr>
        <p:txBody>
          <a:bodyPr wrap="square" lIns="0" tIns="0" rIns="0" bIns="0" rtlCol="0" anchor="ctr"/>
          <a:lstStyle/>
          <a:p>
            <a:pPr indent="0" marL="0">
              <a:buNone/>
            </a:pPr>
            <a:r>
              <a:rPr lang="en-US" sz="2200" b="1" dirty="0">
                <a:solidFill>
                  <a:srgbClr val="0D1B2A"/>
                </a:solidFill>
              </a:rPr>
              <a:t>↓ 25%</a:t>
            </a:r>
            <a:endParaRPr lang="en-US" sz="2200" dirty="0"/>
          </a:p>
        </p:txBody>
      </p:sp>
      <p:sp>
        <p:nvSpPr>
          <p:cNvPr id="9" name="Text 6"/>
          <p:cNvSpPr/>
          <p:nvPr/>
        </p:nvSpPr>
        <p:spPr>
          <a:xfrm>
            <a:off x="2468880" y="1435608"/>
            <a:ext cx="1920240" cy="329184"/>
          </a:xfrm>
          <a:prstGeom prst="rect">
            <a:avLst/>
          </a:prstGeom>
          <a:noFill/>
          <a:ln/>
        </p:spPr>
        <p:txBody>
          <a:bodyPr wrap="square" lIns="0" tIns="0" rIns="0" bIns="0" rtlCol="0" anchor="ctr"/>
          <a:lstStyle/>
          <a:p>
            <a:pPr indent="0" marL="0">
              <a:buNone/>
            </a:pPr>
            <a:r>
              <a:rPr lang="en-US" sz="1200" b="1" dirty="0">
                <a:solidFill>
                  <a:srgbClr val="556677"/>
                </a:solidFill>
              </a:rPr>
              <a:t>Fuel Cost</a:t>
            </a:r>
            <a:endParaRPr lang="en-US" sz="1200" dirty="0"/>
          </a:p>
        </p:txBody>
      </p:sp>
      <p:sp>
        <p:nvSpPr>
          <p:cNvPr id="10" name="Text 7"/>
          <p:cNvSpPr/>
          <p:nvPr/>
        </p:nvSpPr>
        <p:spPr>
          <a:xfrm>
            <a:off x="530352" y="1984248"/>
            <a:ext cx="3913632" cy="548640"/>
          </a:xfrm>
          <a:prstGeom prst="rect">
            <a:avLst/>
          </a:prstGeom>
          <a:noFill/>
          <a:ln/>
        </p:spPr>
        <p:txBody>
          <a:bodyPr wrap="square" lIns="0" tIns="0" rIns="0" bIns="0" rtlCol="0" anchor="ctr"/>
          <a:lstStyle/>
          <a:p>
            <a:pPr indent="0" marL="0">
              <a:buNone/>
            </a:pPr>
            <a:r>
              <a:rPr lang="en-US" sz="1050" dirty="0">
                <a:solidFill>
                  <a:srgbClr val="445566"/>
                </a:solidFill>
              </a:rPr>
              <a:t>Optimized routes reduce unnecessary mileage and idle time.</a:t>
            </a:r>
            <a:endParaRPr lang="en-US" sz="1050" dirty="0"/>
          </a:p>
        </p:txBody>
      </p:sp>
      <p:sp>
        <p:nvSpPr>
          <p:cNvPr id="11" name="Shape 8"/>
          <p:cNvSpPr/>
          <p:nvPr/>
        </p:nvSpPr>
        <p:spPr>
          <a:xfrm>
            <a:off x="4800600" y="1325880"/>
            <a:ext cx="4206240" cy="132588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2" name="Shape 9"/>
          <p:cNvSpPr/>
          <p:nvPr/>
        </p:nvSpPr>
        <p:spPr>
          <a:xfrm>
            <a:off x="4800600" y="1325880"/>
            <a:ext cx="45720" cy="1325880"/>
          </a:xfrm>
          <a:prstGeom prst="rect">
            <a:avLst/>
          </a:prstGeom>
          <a:solidFill>
            <a:srgbClr val="00BFA5"/>
          </a:solidFill>
          <a:ln w="12700">
            <a:solidFill>
              <a:srgbClr val="00BFA5"/>
            </a:solidFill>
            <a:prstDash val="solid"/>
          </a:ln>
        </p:spPr>
      </p:sp>
      <p:pic>
        <p:nvPicPr>
          <p:cNvPr id="13" name="Image 1" descr="preencoded.png">    </p:cNvPr>
          <p:cNvPicPr>
            <a:picLocks noChangeAspect="1"/>
          </p:cNvPicPr>
          <p:nvPr/>
        </p:nvPicPr>
        <p:blipFill>
          <a:blip r:embed="rId2"/>
          <a:stretch>
            <a:fillRect/>
          </a:stretch>
        </p:blipFill>
        <p:spPr>
          <a:xfrm>
            <a:off x="4965192" y="1417320"/>
            <a:ext cx="384048" cy="384048"/>
          </a:xfrm>
          <a:prstGeom prst="rect">
            <a:avLst/>
          </a:prstGeom>
        </p:spPr>
      </p:pic>
      <p:sp>
        <p:nvSpPr>
          <p:cNvPr id="14" name="Text 10"/>
          <p:cNvSpPr/>
          <p:nvPr/>
        </p:nvSpPr>
        <p:spPr>
          <a:xfrm>
            <a:off x="5486400" y="1380744"/>
            <a:ext cx="1371600" cy="420624"/>
          </a:xfrm>
          <a:prstGeom prst="rect">
            <a:avLst/>
          </a:prstGeom>
          <a:noFill/>
          <a:ln/>
        </p:spPr>
        <p:txBody>
          <a:bodyPr wrap="square" lIns="0" tIns="0" rIns="0" bIns="0" rtlCol="0" anchor="ctr"/>
          <a:lstStyle/>
          <a:p>
            <a:pPr indent="0" marL="0">
              <a:buNone/>
            </a:pPr>
            <a:r>
              <a:rPr lang="en-US" sz="2200" b="1" dirty="0">
                <a:solidFill>
                  <a:srgbClr val="00BFA5"/>
                </a:solidFill>
              </a:rPr>
              <a:t>↑ 3×</a:t>
            </a:r>
            <a:endParaRPr lang="en-US" sz="2200" dirty="0"/>
          </a:p>
        </p:txBody>
      </p:sp>
      <p:sp>
        <p:nvSpPr>
          <p:cNvPr id="15" name="Text 11"/>
          <p:cNvSpPr/>
          <p:nvPr/>
        </p:nvSpPr>
        <p:spPr>
          <a:xfrm>
            <a:off x="6903720" y="1435608"/>
            <a:ext cx="1920240" cy="329184"/>
          </a:xfrm>
          <a:prstGeom prst="rect">
            <a:avLst/>
          </a:prstGeom>
          <a:noFill/>
          <a:ln/>
        </p:spPr>
        <p:txBody>
          <a:bodyPr wrap="square" lIns="0" tIns="0" rIns="0" bIns="0" rtlCol="0" anchor="ctr"/>
          <a:lstStyle/>
          <a:p>
            <a:pPr indent="0" marL="0">
              <a:buNone/>
            </a:pPr>
            <a:r>
              <a:rPr lang="en-US" sz="1200" b="1" dirty="0">
                <a:solidFill>
                  <a:srgbClr val="556677"/>
                </a:solidFill>
              </a:rPr>
              <a:t>Demand Response</a:t>
            </a:r>
            <a:endParaRPr lang="en-US" sz="1200" dirty="0"/>
          </a:p>
        </p:txBody>
      </p:sp>
      <p:sp>
        <p:nvSpPr>
          <p:cNvPr id="16" name="Text 12"/>
          <p:cNvSpPr/>
          <p:nvPr/>
        </p:nvSpPr>
        <p:spPr>
          <a:xfrm>
            <a:off x="4965192" y="1984248"/>
            <a:ext cx="3913632" cy="548640"/>
          </a:xfrm>
          <a:prstGeom prst="rect">
            <a:avLst/>
          </a:prstGeom>
          <a:noFill/>
          <a:ln/>
        </p:spPr>
        <p:txBody>
          <a:bodyPr wrap="square" lIns="0" tIns="0" rIns="0" bIns="0" rtlCol="0" anchor="ctr"/>
          <a:lstStyle/>
          <a:p>
            <a:pPr indent="0" marL="0">
              <a:buNone/>
            </a:pPr>
            <a:r>
              <a:rPr lang="en-US" sz="1050" dirty="0">
                <a:solidFill>
                  <a:srgbClr val="445566"/>
                </a:solidFill>
              </a:rPr>
              <a:t>Urgent requests handled in seconds vs. hours with manual systems.</a:t>
            </a:r>
            <a:endParaRPr lang="en-US" sz="1050" dirty="0"/>
          </a:p>
        </p:txBody>
      </p:sp>
      <p:sp>
        <p:nvSpPr>
          <p:cNvPr id="17" name="Shape 13"/>
          <p:cNvSpPr/>
          <p:nvPr/>
        </p:nvSpPr>
        <p:spPr>
          <a:xfrm>
            <a:off x="365760" y="2834640"/>
            <a:ext cx="4206240" cy="132588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18" name="Shape 14"/>
          <p:cNvSpPr/>
          <p:nvPr/>
        </p:nvSpPr>
        <p:spPr>
          <a:xfrm>
            <a:off x="365760" y="2834640"/>
            <a:ext cx="45720" cy="1325880"/>
          </a:xfrm>
          <a:prstGeom prst="rect">
            <a:avLst/>
          </a:prstGeom>
          <a:solidFill>
            <a:srgbClr val="F9A826"/>
          </a:solidFill>
          <a:ln w="12700">
            <a:solidFill>
              <a:srgbClr val="F9A826"/>
            </a:solidFill>
            <a:prstDash val="solid"/>
          </a:ln>
        </p:spPr>
      </p:sp>
      <p:pic>
        <p:nvPicPr>
          <p:cNvPr id="19" name="Image 2" descr="preencoded.png">    </p:cNvPr>
          <p:cNvPicPr>
            <a:picLocks noChangeAspect="1"/>
          </p:cNvPicPr>
          <p:nvPr/>
        </p:nvPicPr>
        <p:blipFill>
          <a:blip r:embed="rId3"/>
          <a:stretch>
            <a:fillRect/>
          </a:stretch>
        </p:blipFill>
        <p:spPr>
          <a:xfrm>
            <a:off x="530352" y="2926080"/>
            <a:ext cx="384048" cy="384048"/>
          </a:xfrm>
          <a:prstGeom prst="rect">
            <a:avLst/>
          </a:prstGeom>
        </p:spPr>
      </p:pic>
      <p:sp>
        <p:nvSpPr>
          <p:cNvPr id="20" name="Text 15"/>
          <p:cNvSpPr/>
          <p:nvPr/>
        </p:nvSpPr>
        <p:spPr>
          <a:xfrm>
            <a:off x="1051560" y="2889504"/>
            <a:ext cx="1371600" cy="420624"/>
          </a:xfrm>
          <a:prstGeom prst="rect">
            <a:avLst/>
          </a:prstGeom>
          <a:noFill/>
          <a:ln/>
        </p:spPr>
        <p:txBody>
          <a:bodyPr wrap="square" lIns="0" tIns="0" rIns="0" bIns="0" rtlCol="0" anchor="ctr"/>
          <a:lstStyle/>
          <a:p>
            <a:pPr indent="0" marL="0">
              <a:buNone/>
            </a:pPr>
            <a:r>
              <a:rPr lang="en-US" sz="2200" b="1" dirty="0">
                <a:solidFill>
                  <a:srgbClr val="F9A826"/>
                </a:solidFill>
              </a:rPr>
              <a:t>↓ 40%</a:t>
            </a:r>
            <a:endParaRPr lang="en-US" sz="2200" dirty="0"/>
          </a:p>
        </p:txBody>
      </p:sp>
      <p:sp>
        <p:nvSpPr>
          <p:cNvPr id="21" name="Text 16"/>
          <p:cNvSpPr/>
          <p:nvPr/>
        </p:nvSpPr>
        <p:spPr>
          <a:xfrm>
            <a:off x="2468880" y="2944368"/>
            <a:ext cx="1920240" cy="329184"/>
          </a:xfrm>
          <a:prstGeom prst="rect">
            <a:avLst/>
          </a:prstGeom>
          <a:noFill/>
          <a:ln/>
        </p:spPr>
        <p:txBody>
          <a:bodyPr wrap="square" lIns="0" tIns="0" rIns="0" bIns="0" rtlCol="0" anchor="ctr"/>
          <a:lstStyle/>
          <a:p>
            <a:pPr indent="0" marL="0">
              <a:buNone/>
            </a:pPr>
            <a:r>
              <a:rPr lang="en-US" sz="1200" b="1" dirty="0">
                <a:solidFill>
                  <a:srgbClr val="556677"/>
                </a:solidFill>
              </a:rPr>
              <a:t>Stockouts</a:t>
            </a:r>
            <a:endParaRPr lang="en-US" sz="1200" dirty="0"/>
          </a:p>
        </p:txBody>
      </p:sp>
      <p:sp>
        <p:nvSpPr>
          <p:cNvPr id="22" name="Text 17"/>
          <p:cNvSpPr/>
          <p:nvPr/>
        </p:nvSpPr>
        <p:spPr>
          <a:xfrm>
            <a:off x="530352" y="3493008"/>
            <a:ext cx="3913632" cy="548640"/>
          </a:xfrm>
          <a:prstGeom prst="rect">
            <a:avLst/>
          </a:prstGeom>
          <a:noFill/>
          <a:ln/>
        </p:spPr>
        <p:txBody>
          <a:bodyPr wrap="square" lIns="0" tIns="0" rIns="0" bIns="0" rtlCol="0" anchor="ctr"/>
          <a:lstStyle/>
          <a:p>
            <a:pPr indent="0" marL="0">
              <a:buNone/>
            </a:pPr>
            <a:r>
              <a:rPr lang="en-US" sz="1050" dirty="0">
                <a:solidFill>
                  <a:srgbClr val="445566"/>
                </a:solidFill>
              </a:rPr>
              <a:t>Real-time inventory visibility prevents stores from running empty.</a:t>
            </a:r>
            <a:endParaRPr lang="en-US" sz="1050" dirty="0"/>
          </a:p>
        </p:txBody>
      </p:sp>
      <p:sp>
        <p:nvSpPr>
          <p:cNvPr id="23" name="Shape 18"/>
          <p:cNvSpPr/>
          <p:nvPr/>
        </p:nvSpPr>
        <p:spPr>
          <a:xfrm>
            <a:off x="4800600" y="2834640"/>
            <a:ext cx="4206240" cy="1325880"/>
          </a:xfrm>
          <a:prstGeom prst="rect">
            <a:avLst/>
          </a:prstGeom>
          <a:solidFill>
            <a:srgbClr val="FFFFFF"/>
          </a:solidFill>
          <a:ln/>
          <a:effectLst>
            <a:outerShdw sx="100000" sy="100000" kx="0" ky="0" algn="bl" rotWithShape="0" blurRad="101600" dist="25400" dir="8100000">
              <a:srgbClr val="000000">
                <a:alpha val="10000"/>
              </a:srgbClr>
            </a:outerShdw>
          </a:effectLst>
        </p:spPr>
      </p:sp>
      <p:sp>
        <p:nvSpPr>
          <p:cNvPr id="24" name="Shape 19"/>
          <p:cNvSpPr/>
          <p:nvPr/>
        </p:nvSpPr>
        <p:spPr>
          <a:xfrm>
            <a:off x="4800600" y="2834640"/>
            <a:ext cx="45720" cy="1325880"/>
          </a:xfrm>
          <a:prstGeom prst="rect">
            <a:avLst/>
          </a:prstGeom>
          <a:solidFill>
            <a:srgbClr val="7B1FA2"/>
          </a:solidFill>
          <a:ln w="12700">
            <a:solidFill>
              <a:srgbClr val="7B1FA2"/>
            </a:solidFill>
            <a:prstDash val="solid"/>
          </a:ln>
        </p:spPr>
      </p:sp>
      <p:pic>
        <p:nvPicPr>
          <p:cNvPr id="25" name="Image 3" descr="preencoded.png">    </p:cNvPr>
          <p:cNvPicPr>
            <a:picLocks noChangeAspect="1"/>
          </p:cNvPicPr>
          <p:nvPr/>
        </p:nvPicPr>
        <p:blipFill>
          <a:blip r:embed="rId4"/>
          <a:stretch>
            <a:fillRect/>
          </a:stretch>
        </p:blipFill>
        <p:spPr>
          <a:xfrm>
            <a:off x="4965192" y="2926080"/>
            <a:ext cx="384048" cy="384048"/>
          </a:xfrm>
          <a:prstGeom prst="rect">
            <a:avLst/>
          </a:prstGeom>
        </p:spPr>
      </p:pic>
      <p:sp>
        <p:nvSpPr>
          <p:cNvPr id="26" name="Text 20"/>
          <p:cNvSpPr/>
          <p:nvPr/>
        </p:nvSpPr>
        <p:spPr>
          <a:xfrm>
            <a:off x="5486400" y="2889504"/>
            <a:ext cx="1371600" cy="420624"/>
          </a:xfrm>
          <a:prstGeom prst="rect">
            <a:avLst/>
          </a:prstGeom>
          <a:noFill/>
          <a:ln/>
        </p:spPr>
        <p:txBody>
          <a:bodyPr wrap="square" lIns="0" tIns="0" rIns="0" bIns="0" rtlCol="0" anchor="ctr"/>
          <a:lstStyle/>
          <a:p>
            <a:pPr indent="0" marL="0">
              <a:buNone/>
            </a:pPr>
            <a:r>
              <a:rPr lang="en-US" sz="2200" b="1" dirty="0">
                <a:solidFill>
                  <a:srgbClr val="7B1FA2"/>
                </a:solidFill>
              </a:rPr>
              <a:t>1 view</a:t>
            </a:r>
            <a:endParaRPr lang="en-US" sz="2200" dirty="0"/>
          </a:p>
        </p:txBody>
      </p:sp>
      <p:sp>
        <p:nvSpPr>
          <p:cNvPr id="27" name="Text 21"/>
          <p:cNvSpPr/>
          <p:nvPr/>
        </p:nvSpPr>
        <p:spPr>
          <a:xfrm>
            <a:off x="6903720" y="2944368"/>
            <a:ext cx="1920240" cy="329184"/>
          </a:xfrm>
          <a:prstGeom prst="rect">
            <a:avLst/>
          </a:prstGeom>
          <a:noFill/>
          <a:ln/>
        </p:spPr>
        <p:txBody>
          <a:bodyPr wrap="square" lIns="0" tIns="0" rIns="0" bIns="0" rtlCol="0" anchor="ctr"/>
          <a:lstStyle/>
          <a:p>
            <a:pPr indent="0" marL="0">
              <a:buNone/>
            </a:pPr>
            <a:r>
              <a:rPr lang="en-US" sz="1200" b="1" dirty="0">
                <a:solidFill>
                  <a:srgbClr val="556677"/>
                </a:solidFill>
              </a:rPr>
              <a:t>Full Network</a:t>
            </a:r>
            <a:endParaRPr lang="en-US" sz="1200" dirty="0"/>
          </a:p>
        </p:txBody>
      </p:sp>
      <p:sp>
        <p:nvSpPr>
          <p:cNvPr id="28" name="Text 22"/>
          <p:cNvSpPr/>
          <p:nvPr/>
        </p:nvSpPr>
        <p:spPr>
          <a:xfrm>
            <a:off x="4965192" y="3493008"/>
            <a:ext cx="3913632" cy="548640"/>
          </a:xfrm>
          <a:prstGeom prst="rect">
            <a:avLst/>
          </a:prstGeom>
          <a:noFill/>
          <a:ln/>
        </p:spPr>
        <p:txBody>
          <a:bodyPr wrap="square" lIns="0" tIns="0" rIns="0" bIns="0" rtlCol="0" anchor="ctr"/>
          <a:lstStyle/>
          <a:p>
            <a:pPr indent="0" marL="0">
              <a:buNone/>
            </a:pPr>
            <a:r>
              <a:rPr lang="en-US" sz="1050" dirty="0">
                <a:solidFill>
                  <a:srgbClr val="445566"/>
                </a:solidFill>
              </a:rPr>
              <a:t>Dispatchers see the entire supply chain in a single dashboard.</a:t>
            </a:r>
            <a:endParaRPr lang="en-US" sz="1050" dirty="0"/>
          </a:p>
        </p:txBody>
      </p:sp>
      <p:sp>
        <p:nvSpPr>
          <p:cNvPr id="29" name="Shape 23"/>
          <p:cNvSpPr/>
          <p:nvPr/>
        </p:nvSpPr>
        <p:spPr>
          <a:xfrm>
            <a:off x="365760" y="4434840"/>
            <a:ext cx="8412480" cy="457200"/>
          </a:xfrm>
          <a:prstGeom prst="rect">
            <a:avLst/>
          </a:prstGeom>
          <a:solidFill>
            <a:srgbClr val="0D1B2A"/>
          </a:solidFill>
          <a:ln/>
        </p:spPr>
      </p:sp>
      <p:sp>
        <p:nvSpPr>
          <p:cNvPr id="30" name="Text 24"/>
          <p:cNvSpPr/>
          <p:nvPr/>
        </p:nvSpPr>
        <p:spPr>
          <a:xfrm>
            <a:off x="365760" y="4434840"/>
            <a:ext cx="8412480" cy="457200"/>
          </a:xfrm>
          <a:prstGeom prst="rect">
            <a:avLst/>
          </a:prstGeom>
          <a:noFill/>
          <a:ln/>
        </p:spPr>
        <p:txBody>
          <a:bodyPr wrap="square" lIns="0" tIns="0" rIns="0" bIns="0" rtlCol="0" anchor="ctr"/>
          <a:lstStyle/>
          <a:p>
            <a:pPr algn="ctr" indent="0" marL="0">
              <a:buNone/>
            </a:pPr>
            <a:r>
              <a:rPr lang="en-US" sz="1050" dirty="0">
                <a:solidFill>
                  <a:srgbClr val="F0F4F8"/>
                </a:solidFill>
              </a:rPr>
              <a:t>Target sectors:   Retail supply chains  ·  Last-mile delivery  ·  FMCG distribution  ·  Cold chain logistics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0BFA5"/>
          </a:solidFill>
          <a:ln w="12700">
            <a:solidFill>
              <a:srgbClr val="00BFA5"/>
            </a:solidFill>
            <a:prstDash val="solid"/>
          </a:ln>
        </p:spPr>
      </p:sp>
      <p:sp>
        <p:nvSpPr>
          <p:cNvPr id="3" name="Text 1"/>
          <p:cNvSpPr/>
          <p:nvPr/>
        </p:nvSpPr>
        <p:spPr>
          <a:xfrm>
            <a:off x="365760" y="274320"/>
            <a:ext cx="50292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Key Takeaways</a:t>
            </a:r>
            <a:endParaRPr lang="en-US" sz="2600" dirty="0"/>
          </a:p>
        </p:txBody>
      </p:sp>
      <p:pic>
        <p:nvPicPr>
          <p:cNvPr id="4" name="Image 0" descr="preencoded.png">    </p:cNvPr>
          <p:cNvPicPr>
            <a:picLocks noChangeAspect="1"/>
          </p:cNvPicPr>
          <p:nvPr/>
        </p:nvPicPr>
        <p:blipFill>
          <a:blip r:embed="rId1"/>
          <a:stretch>
            <a:fillRect/>
          </a:stretch>
        </p:blipFill>
        <p:spPr>
          <a:xfrm>
            <a:off x="365760" y="1069848"/>
            <a:ext cx="310896" cy="310896"/>
          </a:xfrm>
          <a:prstGeom prst="rect">
            <a:avLst/>
          </a:prstGeom>
        </p:spPr>
      </p:pic>
      <p:sp>
        <p:nvSpPr>
          <p:cNvPr id="5" name="Shape 2"/>
          <p:cNvSpPr/>
          <p:nvPr/>
        </p:nvSpPr>
        <p:spPr>
          <a:xfrm>
            <a:off x="777240" y="1225296"/>
            <a:ext cx="4251960" cy="0"/>
          </a:xfrm>
          <a:prstGeom prst="line">
            <a:avLst/>
          </a:prstGeom>
          <a:noFill/>
          <a:ln w="6350">
            <a:solidFill>
              <a:srgbClr val="1E3550"/>
            </a:solidFill>
            <a:prstDash val="solid"/>
          </a:ln>
        </p:spPr>
      </p:sp>
      <p:sp>
        <p:nvSpPr>
          <p:cNvPr id="6" name="Text 3"/>
          <p:cNvSpPr/>
          <p:nvPr/>
        </p:nvSpPr>
        <p:spPr>
          <a:xfrm>
            <a:off x="841248" y="1033272"/>
            <a:ext cx="4206240" cy="384048"/>
          </a:xfrm>
          <a:prstGeom prst="rect">
            <a:avLst/>
          </a:prstGeom>
          <a:noFill/>
          <a:ln/>
        </p:spPr>
        <p:txBody>
          <a:bodyPr wrap="square" lIns="0" tIns="0" rIns="0" bIns="0" rtlCol="0" anchor="ctr"/>
          <a:lstStyle/>
          <a:p>
            <a:pPr indent="0" marL="0">
              <a:buNone/>
            </a:pPr>
            <a:r>
              <a:rPr lang="en-US" sz="1150" dirty="0">
                <a:solidFill>
                  <a:srgbClr val="F0F4F8"/>
                </a:solidFill>
              </a:rPr>
              <a:t>Production-ready FastAPI backend with 10+ endpoints</a:t>
            </a:r>
            <a:endParaRPr lang="en-US" sz="1150" dirty="0"/>
          </a:p>
        </p:txBody>
      </p:sp>
      <p:pic>
        <p:nvPicPr>
          <p:cNvPr id="7" name="Image 1" descr="preencoded.png">    </p:cNvPr>
          <p:cNvPicPr>
            <a:picLocks noChangeAspect="1"/>
          </p:cNvPicPr>
          <p:nvPr/>
        </p:nvPicPr>
        <p:blipFill>
          <a:blip r:embed="rId2"/>
          <a:stretch>
            <a:fillRect/>
          </a:stretch>
        </p:blipFill>
        <p:spPr>
          <a:xfrm>
            <a:off x="365760" y="1783080"/>
            <a:ext cx="310896" cy="310896"/>
          </a:xfrm>
          <a:prstGeom prst="rect">
            <a:avLst/>
          </a:prstGeom>
        </p:spPr>
      </p:pic>
      <p:sp>
        <p:nvSpPr>
          <p:cNvPr id="8" name="Shape 4"/>
          <p:cNvSpPr/>
          <p:nvPr/>
        </p:nvSpPr>
        <p:spPr>
          <a:xfrm>
            <a:off x="777240" y="1938528"/>
            <a:ext cx="4251960" cy="0"/>
          </a:xfrm>
          <a:prstGeom prst="line">
            <a:avLst/>
          </a:prstGeom>
          <a:noFill/>
          <a:ln w="6350">
            <a:solidFill>
              <a:srgbClr val="1E3550"/>
            </a:solidFill>
            <a:prstDash val="solid"/>
          </a:ln>
        </p:spPr>
      </p:sp>
      <p:sp>
        <p:nvSpPr>
          <p:cNvPr id="9" name="Text 5"/>
          <p:cNvSpPr/>
          <p:nvPr/>
        </p:nvSpPr>
        <p:spPr>
          <a:xfrm>
            <a:off x="841248" y="1746504"/>
            <a:ext cx="4206240" cy="384048"/>
          </a:xfrm>
          <a:prstGeom prst="rect">
            <a:avLst/>
          </a:prstGeom>
          <a:noFill/>
          <a:ln/>
        </p:spPr>
        <p:txBody>
          <a:bodyPr wrap="square" lIns="0" tIns="0" rIns="0" bIns="0" rtlCol="0" anchor="ctr"/>
          <a:lstStyle/>
          <a:p>
            <a:pPr indent="0" marL="0">
              <a:buNone/>
            </a:pPr>
            <a:r>
              <a:rPr lang="en-US" sz="1150" dirty="0">
                <a:solidFill>
                  <a:srgbClr val="F0F4F8"/>
                </a:solidFill>
              </a:rPr>
              <a:t>Full execution state model — not just a prototype</a:t>
            </a:r>
            <a:endParaRPr lang="en-US" sz="1150" dirty="0"/>
          </a:p>
        </p:txBody>
      </p:sp>
      <p:pic>
        <p:nvPicPr>
          <p:cNvPr id="10" name="Image 2" descr="preencoded.png">    </p:cNvPr>
          <p:cNvPicPr>
            <a:picLocks noChangeAspect="1"/>
          </p:cNvPicPr>
          <p:nvPr/>
        </p:nvPicPr>
        <p:blipFill>
          <a:blip r:embed="rId3"/>
          <a:stretch>
            <a:fillRect/>
          </a:stretch>
        </p:blipFill>
        <p:spPr>
          <a:xfrm>
            <a:off x="365760" y="2496312"/>
            <a:ext cx="310896" cy="310896"/>
          </a:xfrm>
          <a:prstGeom prst="rect">
            <a:avLst/>
          </a:prstGeom>
        </p:spPr>
      </p:pic>
      <p:sp>
        <p:nvSpPr>
          <p:cNvPr id="11" name="Shape 6"/>
          <p:cNvSpPr/>
          <p:nvPr/>
        </p:nvSpPr>
        <p:spPr>
          <a:xfrm>
            <a:off x="777240" y="2651760"/>
            <a:ext cx="4251960" cy="0"/>
          </a:xfrm>
          <a:prstGeom prst="line">
            <a:avLst/>
          </a:prstGeom>
          <a:noFill/>
          <a:ln w="6350">
            <a:solidFill>
              <a:srgbClr val="1E3550"/>
            </a:solidFill>
            <a:prstDash val="solid"/>
          </a:ln>
        </p:spPr>
      </p:sp>
      <p:sp>
        <p:nvSpPr>
          <p:cNvPr id="12" name="Text 7"/>
          <p:cNvSpPr/>
          <p:nvPr/>
        </p:nvSpPr>
        <p:spPr>
          <a:xfrm>
            <a:off x="841248" y="2459736"/>
            <a:ext cx="4206240" cy="384048"/>
          </a:xfrm>
          <a:prstGeom prst="rect">
            <a:avLst/>
          </a:prstGeom>
          <a:noFill/>
          <a:ln/>
        </p:spPr>
        <p:txBody>
          <a:bodyPr wrap="square" lIns="0" tIns="0" rIns="0" bIns="0" rtlCol="0" anchor="ctr"/>
          <a:lstStyle/>
          <a:p>
            <a:pPr indent="0" marL="0">
              <a:buNone/>
            </a:pPr>
            <a:r>
              <a:rPr lang="en-US" sz="1150" dirty="0">
                <a:solidFill>
                  <a:srgbClr val="F0F4F8"/>
                </a:solidFill>
              </a:rPr>
              <a:t>Live, animated network visualization in the browser</a:t>
            </a:r>
            <a:endParaRPr lang="en-US" sz="1150" dirty="0"/>
          </a:p>
        </p:txBody>
      </p:sp>
      <p:pic>
        <p:nvPicPr>
          <p:cNvPr id="13" name="Image 3" descr="preencoded.png">    </p:cNvPr>
          <p:cNvPicPr>
            <a:picLocks noChangeAspect="1"/>
          </p:cNvPicPr>
          <p:nvPr/>
        </p:nvPicPr>
        <p:blipFill>
          <a:blip r:embed="rId4"/>
          <a:stretch>
            <a:fillRect/>
          </a:stretch>
        </p:blipFill>
        <p:spPr>
          <a:xfrm>
            <a:off x="365760" y="3209544"/>
            <a:ext cx="310896" cy="310896"/>
          </a:xfrm>
          <a:prstGeom prst="rect">
            <a:avLst/>
          </a:prstGeom>
        </p:spPr>
      </p:pic>
      <p:sp>
        <p:nvSpPr>
          <p:cNvPr id="14" name="Shape 8"/>
          <p:cNvSpPr/>
          <p:nvPr/>
        </p:nvSpPr>
        <p:spPr>
          <a:xfrm>
            <a:off x="777240" y="3364992"/>
            <a:ext cx="4251960" cy="0"/>
          </a:xfrm>
          <a:prstGeom prst="line">
            <a:avLst/>
          </a:prstGeom>
          <a:noFill/>
          <a:ln w="6350">
            <a:solidFill>
              <a:srgbClr val="1E3550"/>
            </a:solidFill>
            <a:prstDash val="solid"/>
          </a:ln>
        </p:spPr>
      </p:sp>
      <p:sp>
        <p:nvSpPr>
          <p:cNvPr id="15" name="Text 9"/>
          <p:cNvSpPr/>
          <p:nvPr/>
        </p:nvSpPr>
        <p:spPr>
          <a:xfrm>
            <a:off x="841248" y="3172968"/>
            <a:ext cx="4206240" cy="384048"/>
          </a:xfrm>
          <a:prstGeom prst="rect">
            <a:avLst/>
          </a:prstGeom>
          <a:noFill/>
          <a:ln/>
        </p:spPr>
        <p:txBody>
          <a:bodyPr wrap="square" lIns="0" tIns="0" rIns="0" bIns="0" rtlCol="0" anchor="ctr"/>
          <a:lstStyle/>
          <a:p>
            <a:pPr indent="0" marL="0">
              <a:buNone/>
            </a:pPr>
            <a:r>
              <a:rPr lang="en-US" sz="1150" dirty="0">
                <a:solidFill>
                  <a:srgbClr val="F0F4F8"/>
                </a:solidFill>
              </a:rPr>
              <a:t>Real-time demand &amp; rerouting logic in place</a:t>
            </a:r>
            <a:endParaRPr lang="en-US" sz="1150" dirty="0"/>
          </a:p>
        </p:txBody>
      </p:sp>
      <p:pic>
        <p:nvPicPr>
          <p:cNvPr id="16" name="Image 4" descr="preencoded.png">    </p:cNvPr>
          <p:cNvPicPr>
            <a:picLocks noChangeAspect="1"/>
          </p:cNvPicPr>
          <p:nvPr/>
        </p:nvPicPr>
        <p:blipFill>
          <a:blip r:embed="rId5"/>
          <a:stretch>
            <a:fillRect/>
          </a:stretch>
        </p:blipFill>
        <p:spPr>
          <a:xfrm>
            <a:off x="365760" y="3922776"/>
            <a:ext cx="310896" cy="310896"/>
          </a:xfrm>
          <a:prstGeom prst="rect">
            <a:avLst/>
          </a:prstGeom>
        </p:spPr>
      </p:pic>
      <p:sp>
        <p:nvSpPr>
          <p:cNvPr id="17" name="Shape 10"/>
          <p:cNvSpPr/>
          <p:nvPr/>
        </p:nvSpPr>
        <p:spPr>
          <a:xfrm>
            <a:off x="777240" y="4078224"/>
            <a:ext cx="4251960" cy="0"/>
          </a:xfrm>
          <a:prstGeom prst="line">
            <a:avLst/>
          </a:prstGeom>
          <a:noFill/>
          <a:ln w="6350">
            <a:solidFill>
              <a:srgbClr val="1E3550"/>
            </a:solidFill>
            <a:prstDash val="solid"/>
          </a:ln>
        </p:spPr>
      </p:sp>
      <p:sp>
        <p:nvSpPr>
          <p:cNvPr id="18" name="Text 11"/>
          <p:cNvSpPr/>
          <p:nvPr/>
        </p:nvSpPr>
        <p:spPr>
          <a:xfrm>
            <a:off x="841248" y="3886200"/>
            <a:ext cx="4206240" cy="384048"/>
          </a:xfrm>
          <a:prstGeom prst="rect">
            <a:avLst/>
          </a:prstGeom>
          <a:noFill/>
          <a:ln/>
        </p:spPr>
        <p:txBody>
          <a:bodyPr wrap="square" lIns="0" tIns="0" rIns="0" bIns="0" rtlCol="0" anchor="ctr"/>
          <a:lstStyle/>
          <a:p>
            <a:pPr indent="0" marL="0">
              <a:buNone/>
            </a:pPr>
            <a:r>
              <a:rPr lang="en-US" sz="1150" dirty="0">
                <a:solidFill>
                  <a:srgbClr val="F0F4F8"/>
                </a:solidFill>
              </a:rPr>
              <a:t>Clear roadmap: GPS, dynamic solver, analytics</a:t>
            </a:r>
            <a:endParaRPr lang="en-US" sz="1150" dirty="0"/>
          </a:p>
        </p:txBody>
      </p:sp>
      <p:sp>
        <p:nvSpPr>
          <p:cNvPr id="19" name="Shape 12"/>
          <p:cNvSpPr/>
          <p:nvPr/>
        </p:nvSpPr>
        <p:spPr>
          <a:xfrm>
            <a:off x="5394960" y="822960"/>
            <a:ext cx="3383280" cy="3931920"/>
          </a:xfrm>
          <a:prstGeom prst="rect">
            <a:avLst/>
          </a:prstGeom>
          <a:solidFill>
            <a:srgbClr val="00BFA5"/>
          </a:solidFill>
          <a:ln/>
        </p:spPr>
      </p:sp>
      <p:pic>
        <p:nvPicPr>
          <p:cNvPr id="20" name="Image 5" descr="preencoded.png">    </p:cNvPr>
          <p:cNvPicPr>
            <a:picLocks noChangeAspect="1"/>
          </p:cNvPicPr>
          <p:nvPr/>
        </p:nvPicPr>
        <p:blipFill>
          <a:blip r:embed="rId6">
            <a:alphaModFix amt="85000"/>
          </a:blip>
          <a:stretch>
            <a:fillRect/>
          </a:stretch>
        </p:blipFill>
        <p:spPr>
          <a:xfrm>
            <a:off x="5943600" y="1005840"/>
            <a:ext cx="1463040" cy="1463040"/>
          </a:xfrm>
          <a:prstGeom prst="rect">
            <a:avLst/>
          </a:prstGeom>
        </p:spPr>
      </p:pic>
      <p:sp>
        <p:nvSpPr>
          <p:cNvPr id="21" name="Text 13"/>
          <p:cNvSpPr/>
          <p:nvPr/>
        </p:nvSpPr>
        <p:spPr>
          <a:xfrm>
            <a:off x="5394960" y="2514600"/>
            <a:ext cx="3383280" cy="594360"/>
          </a:xfrm>
          <a:prstGeom prst="rect">
            <a:avLst/>
          </a:prstGeom>
          <a:noFill/>
          <a:ln/>
        </p:spPr>
        <p:txBody>
          <a:bodyPr wrap="square" lIns="0" tIns="0" rIns="0" bIns="0" rtlCol="0" anchor="ctr"/>
          <a:lstStyle/>
          <a:p>
            <a:pPr algn="ctr" indent="0" marL="0">
              <a:buNone/>
            </a:pPr>
            <a:r>
              <a:rPr lang="en-US" sz="2800" b="1" dirty="0">
                <a:solidFill>
                  <a:srgbClr val="0D1B2A"/>
                </a:solidFill>
              </a:rPr>
              <a:t>LogiSync</a:t>
            </a:r>
            <a:endParaRPr lang="en-US" sz="2800" dirty="0"/>
          </a:p>
        </p:txBody>
      </p:sp>
      <p:sp>
        <p:nvSpPr>
          <p:cNvPr id="22" name="Text 14"/>
          <p:cNvSpPr/>
          <p:nvPr/>
        </p:nvSpPr>
        <p:spPr>
          <a:xfrm>
            <a:off x="5394960" y="3127248"/>
            <a:ext cx="3383280" cy="914400"/>
          </a:xfrm>
          <a:prstGeom prst="rect">
            <a:avLst/>
          </a:prstGeom>
          <a:noFill/>
          <a:ln/>
        </p:spPr>
        <p:txBody>
          <a:bodyPr wrap="square" lIns="0" tIns="0" rIns="0" bIns="0" rtlCol="0" anchor="ctr"/>
          <a:lstStyle/>
          <a:p>
            <a:pPr algn="ctr" indent="0" marL="0">
              <a:buNone/>
            </a:pPr>
            <a:r>
              <a:rPr lang="en-US" sz="1300" i="1" dirty="0">
                <a:solidFill>
                  <a:srgbClr val="0D1B2A"/>
                </a:solidFill>
              </a:rPr>
              <a:t>Smarter routes.</a:t>
            </a:r>
            <a:endParaRPr lang="en-US" sz="1300" dirty="0"/>
          </a:p>
          <a:p>
            <a:pPr algn="ctr" indent="0" marL="0">
              <a:buNone/>
            </a:pPr>
            <a:r>
              <a:rPr lang="en-US" sz="1300" i="1" dirty="0">
                <a:solidFill>
                  <a:srgbClr val="0D1B2A"/>
                </a:solidFill>
              </a:rPr>
              <a:t>Happier stores.</a:t>
            </a:r>
            <a:endParaRPr lang="en-US" sz="1300" dirty="0"/>
          </a:p>
          <a:p>
            <a:pPr algn="ctr" indent="0" marL="0">
              <a:buNone/>
            </a:pPr>
            <a:r>
              <a:rPr lang="en-US" sz="1300" i="1" dirty="0">
                <a:solidFill>
                  <a:srgbClr val="0D1B2A"/>
                </a:solidFill>
              </a:rPr>
              <a:t>Fewer surprises.</a:t>
            </a:r>
            <a:endParaRPr lang="en-US" sz="1300" dirty="0"/>
          </a:p>
        </p:txBody>
      </p:sp>
      <p:sp>
        <p:nvSpPr>
          <p:cNvPr id="23" name="Shape 15"/>
          <p:cNvSpPr/>
          <p:nvPr/>
        </p:nvSpPr>
        <p:spPr>
          <a:xfrm>
            <a:off x="5760720" y="4160520"/>
            <a:ext cx="2651760" cy="411480"/>
          </a:xfrm>
          <a:prstGeom prst="rect">
            <a:avLst/>
          </a:prstGeom>
          <a:solidFill>
            <a:srgbClr val="0D1B2A"/>
          </a:solidFill>
          <a:ln/>
        </p:spPr>
      </p:sp>
      <p:sp>
        <p:nvSpPr>
          <p:cNvPr id="24" name="Text 16"/>
          <p:cNvSpPr/>
          <p:nvPr/>
        </p:nvSpPr>
        <p:spPr>
          <a:xfrm>
            <a:off x="5760720" y="4160520"/>
            <a:ext cx="2651760" cy="411480"/>
          </a:xfrm>
          <a:prstGeom prst="rect">
            <a:avLst/>
          </a:prstGeom>
          <a:noFill/>
          <a:ln/>
        </p:spPr>
        <p:txBody>
          <a:bodyPr wrap="square" lIns="0" tIns="0" rIns="0" bIns="0" rtlCol="0" anchor="ctr"/>
          <a:lstStyle/>
          <a:p>
            <a:pPr algn="ctr" indent="0" marL="0">
              <a:buNone/>
            </a:pPr>
            <a:r>
              <a:rPr lang="en-US" sz="950" dirty="0">
                <a:solidFill>
                  <a:srgbClr val="00BFA5"/>
                </a:solidFill>
              </a:rPr>
              <a:t>github.com/BohatyrovIvanUcu</a:t>
            </a:r>
            <a:endParaRPr lang="en-US" sz="950" dirty="0"/>
          </a:p>
        </p:txBody>
      </p:sp>
      <p:sp>
        <p:nvSpPr>
          <p:cNvPr id="25" name="Shape 17"/>
          <p:cNvSpPr/>
          <p:nvPr/>
        </p:nvSpPr>
        <p:spPr>
          <a:xfrm>
            <a:off x="0" y="5070348"/>
            <a:ext cx="9144000" cy="73152"/>
          </a:xfrm>
          <a:prstGeom prst="rect">
            <a:avLst/>
          </a:prstGeom>
          <a:solidFill>
            <a:srgbClr val="00897B"/>
          </a:solidFill>
          <a:ln w="12700">
            <a:solidFill>
              <a:srgbClr val="00897B"/>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LogiSync — Logistics Optimization System</dc:title>
  <dc:subject>PptxGenJS Presentation</dc:subject>
  <dc:creator>PptxGenJS</dc:creator>
  <cp:lastModifiedBy>PptxGenJS</cp:lastModifiedBy>
  <cp:revision>1</cp:revision>
  <dcterms:created xsi:type="dcterms:W3CDTF">2026-04-05T20:00:49Z</dcterms:created>
  <dcterms:modified xsi:type="dcterms:W3CDTF">2026-04-05T20:00:49Z</dcterms:modified>
</cp:coreProperties>
</file>